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[morning/afternoon], respected faculty. I am Eram Rahman, and I will be presenting my summer internship project titled "Understanding Examination Preparation Challenges," carried out under the Under The Tree initiative of Pedon Ki Chhanv Mein Foundation, under the supervision of Mr. Anup Sinha, as part of my B.Tech CSE program at IILM University.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introduces the organization I interned with. Pedon Ki Chhanv Mein Foundation runs the Under The Tree program, which supports underserved children and youth through education and mentorship. The internship was six weeks long, involved two volunteer researchers including myself, and was supervised by Mr. Anup Sinha in coordination with IILM University. The overall purpose was to generate evidence that could directly feed into the Foundation's support programs.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explains what the project is about. It is a six-week mixed-methods research study looking at examination preparation challenges among students from K-8 through postgraduate level, with special attention to underserved communities. The flow you see here — from students, to identifying their challenges, collecting data, analysing it, drawing insights, and finally forming recommendations — is the overall journey this project follows.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summarizes the seven categories of examination-preparation challenges identified through the Foundation's field experience: language barriers, home study environment, digital distraction, weak exam strategies, lack of mentorship, financial stress, and mental health concerns. These seven themes are not final findings — they are the research domains that structured the questionnaires, interviews and focus group discussions.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primary objective of this project is to systematically document and analyse examination-preparation challenges among students, with special focus on underserved communities. Building on this, there are seven secondary objectives — ranging from identifying the most common challenges, to understanding language barriers, home environment, digital distraction, mentorship gaps, capturing student voices, and ultimately generating evidence-based recommendations for the Foundation.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defines the scope of the research. Data is planned to be collected from community education centres, government schools, local colleges, and secondary online sources across four student groups: K-8, grades 9-12, undergraduate and postgraduate. Using purposive sampling, the study targets 180 student participants, with at least 60% drawn from underserved communities. I want to emphasize these are target numbers for the research design, not completed results.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shows the tools used to collect and analyse data. Structured questionnaires collect the quantitative responses, which are organized and cleaned in Excel, then analysed and visualized in Power BI. Alongside this, one-to-one interviews and Focus Group Discussions provide qualitative insight, supported by secondary data from student forums and social media. Together, these tools form a connected workflow from raw data to combined insight.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full research workflow. It begins with the target students across four education levels. Data is then collected through questionnaires, interviews, FGDs and observation. That data is processed and stored securely in Excel, then analysed in Power BI using frequency, severity and thematic analysis. The next step is triangulation — cross-checking findings across quantitative, qualitative and secondary sources — leading to consolidated findings and, finally, evidence-based recommendations.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project follows a mixed-methods research design. Quantitative data comes from structured questionnaires, organized in Excel and analysed in Power BI. Qualitative data comes from interviews, FGDs and field observation, analysed thematically. Secondary data comes from student forums and social media. Sampling is purposive, targeting 180 students with at least 60% from underserved communities. Throughout, ethical considerations are followed strictly — informed consent, voluntary participation, anonymisation, and parental consent for minors.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impact framework moves from research to insights, to recommendations, to direct student support, and ultimately to better academic and personal outcomes. Based on the overall research design, nine expected outcomes are anticipated — from a comprehensive understanding of student needs to stronger, continuous student-support systems. I want to be clear that these are anticipated outcomes of the research design, not results that have already been achieved.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conclude, this internship gave me practical exposure to real research methodology — from questionnaire design and data collection to Power BI-based analysis and ethical data handling. It deepened my understanding of the challenges students face during exam preparation. Ultimately, this project aims to support the Under The Tree initiative by generating evidence-based understanding that can translate into practical, community-rooted recommendations. Thank you — I am happy to take any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MASTER">
    <p:bg>
      <p:bgPr>
        <a:solidFill>
          <a:srgbClr val="FFFFFF"/>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2.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image" Target="../media/image-3-7.png"/><Relationship Id="rId8" Type="http://schemas.openxmlformats.org/officeDocument/2006/relationships/image" Target="../media/image-3-8.png"/><Relationship Id="rId9" Type="http://schemas.openxmlformats.org/officeDocument/2006/relationships/image" Target="../media/image-3-9.png"/><Relationship Id="rId10" Type="http://schemas.openxmlformats.org/officeDocument/2006/relationships/image" Target="../media/image-3-10.png"/><Relationship Id="rId11" Type="http://schemas.openxmlformats.org/officeDocument/2006/relationships/image" Target="../media/image-3-11.png"/><Relationship Id="rId12" Type="http://schemas.openxmlformats.org/officeDocument/2006/relationships/slideLayout" Target="../slideLayouts/slideLayout2.xml"/><Relationship Id="rId1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image" Target="../media/image-4-7.png"/><Relationship Id="rId8" Type="http://schemas.openxmlformats.org/officeDocument/2006/relationships/slideLayout" Target="../slideLayouts/slideLayout2.xml"/><Relationship Id="rId9"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image" Target="../media/image-5-7.png"/><Relationship Id="rId8" Type="http://schemas.openxmlformats.org/officeDocument/2006/relationships/image" Target="../media/image-5-8.png"/><Relationship Id="rId9" Type="http://schemas.openxmlformats.org/officeDocument/2006/relationships/slideLayout" Target="../slideLayouts/slideLayout2.xml"/><Relationship Id="rId10"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slideLayout" Target="../slideLayouts/slideLayout2.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image" Target="../media/image-7-7.png"/><Relationship Id="rId8" Type="http://schemas.openxmlformats.org/officeDocument/2006/relationships/image" Target="../media/image-7-8.png"/><Relationship Id="rId9" Type="http://schemas.openxmlformats.org/officeDocument/2006/relationships/slideLayout" Target="../slideLayouts/slideLayout2.xml"/><Relationship Id="rId10"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image" Target="../media/image-8-6.png"/><Relationship Id="rId7" Type="http://schemas.openxmlformats.org/officeDocument/2006/relationships/image" Target="../media/image-8-7.png"/><Relationship Id="rId8" Type="http://schemas.openxmlformats.org/officeDocument/2006/relationships/slideLayout" Target="../slideLayouts/slideLayout2.xml"/><Relationship Id="rId9"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slideLayout" Target="../slideLayouts/slideLayout2.xml"/><Relationship Id="rId7"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image" Target="../media/image-10-6.png"/><Relationship Id="rId7" Type="http://schemas.openxmlformats.org/officeDocument/2006/relationships/image" Target="../media/image-10-7.png"/><Relationship Id="rId8" Type="http://schemas.openxmlformats.org/officeDocument/2006/relationships/image" Target="../media/image-10-8.png"/><Relationship Id="rId9" Type="http://schemas.openxmlformats.org/officeDocument/2006/relationships/image" Target="../media/image-10-9.png"/><Relationship Id="rId10" Type="http://schemas.openxmlformats.org/officeDocument/2006/relationships/slideLayout" Target="../slideLayouts/slideLayout2.xml"/><Relationship Id="rId11"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image" Target="../media/image-11-6.png"/><Relationship Id="rId7" Type="http://schemas.openxmlformats.org/officeDocument/2006/relationships/image" Target="../media/image-11-7.png"/><Relationship Id="rId8" Type="http://schemas.openxmlformats.org/officeDocument/2006/relationships/slideLayout" Target="../slideLayouts/slideLayout2.xml"/><Relationship Id="rId9"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3A5C"/>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1B3A5C"/>
          </a:solidFill>
          <a:ln/>
        </p:spPr>
      </p:sp>
      <p:sp>
        <p:nvSpPr>
          <p:cNvPr id="3" name="Shape 1"/>
          <p:cNvSpPr/>
          <p:nvPr/>
        </p:nvSpPr>
        <p:spPr>
          <a:xfrm>
            <a:off x="8778240" y="-2011680"/>
            <a:ext cx="5486400" cy="5486400"/>
          </a:xfrm>
          <a:prstGeom prst="ellipse">
            <a:avLst/>
          </a:prstGeom>
          <a:solidFill>
            <a:srgbClr val="122A44"/>
          </a:solidFill>
          <a:ln/>
        </p:spPr>
      </p:sp>
      <p:sp>
        <p:nvSpPr>
          <p:cNvPr id="4" name="Shape 2"/>
          <p:cNvSpPr/>
          <p:nvPr/>
        </p:nvSpPr>
        <p:spPr>
          <a:xfrm>
            <a:off x="10332720" y="4206240"/>
            <a:ext cx="3657600" cy="3657600"/>
          </a:xfrm>
          <a:prstGeom prst="ellipse">
            <a:avLst/>
          </a:prstGeom>
          <a:solidFill>
            <a:srgbClr val="1C7F82"/>
          </a:solidFill>
          <a:ln/>
        </p:spPr>
      </p:sp>
      <p:sp>
        <p:nvSpPr>
          <p:cNvPr id="5" name="Shape 3"/>
          <p:cNvSpPr/>
          <p:nvPr/>
        </p:nvSpPr>
        <p:spPr>
          <a:xfrm>
            <a:off x="10561320" y="4434840"/>
            <a:ext cx="3200400" cy="3200400"/>
          </a:xfrm>
          <a:prstGeom prst="ellipse">
            <a:avLst/>
          </a:prstGeom>
          <a:solidFill>
            <a:srgbClr val="1B3A5C"/>
          </a:solidFill>
          <a:ln/>
        </p:spPr>
      </p:sp>
      <p:sp>
        <p:nvSpPr>
          <p:cNvPr id="6" name="Text 4"/>
          <p:cNvSpPr/>
          <p:nvPr/>
        </p:nvSpPr>
        <p:spPr>
          <a:xfrm>
            <a:off x="685800" y="640080"/>
            <a:ext cx="8229600" cy="365760"/>
          </a:xfrm>
          <a:prstGeom prst="rect">
            <a:avLst/>
          </a:prstGeom>
          <a:noFill/>
          <a:ln/>
        </p:spPr>
        <p:txBody>
          <a:bodyPr wrap="square" rtlCol="0" anchor="ctr"/>
          <a:lstStyle/>
          <a:p>
            <a:pPr indent="0" marL="0">
              <a:buNone/>
            </a:pPr>
            <a:r>
              <a:rPr lang="en-US" sz="1400" b="1" spc="300" kern="0" dirty="0">
                <a:solidFill>
                  <a:srgbClr val="D98E2B"/>
                </a:solidFill>
                <a:latin typeface="Calibri" pitchFamily="34" charset="0"/>
                <a:ea typeface="Calibri" pitchFamily="34" charset="-122"/>
                <a:cs typeface="Calibri" pitchFamily="34" charset="-120"/>
              </a:rPr>
              <a:t>INTERNSHIP PROJECT PRESENTATION</a:t>
            </a:r>
            <a:endParaRPr lang="en-US" sz="1400" dirty="0"/>
          </a:p>
        </p:txBody>
      </p:sp>
      <p:sp>
        <p:nvSpPr>
          <p:cNvPr id="7" name="Text 5"/>
          <p:cNvSpPr/>
          <p:nvPr/>
        </p:nvSpPr>
        <p:spPr>
          <a:xfrm>
            <a:off x="685800" y="1143000"/>
            <a:ext cx="8778240" cy="1554480"/>
          </a:xfrm>
          <a:prstGeom prst="rect">
            <a:avLst/>
          </a:prstGeom>
          <a:noFill/>
          <a:ln/>
        </p:spPr>
        <p:txBody>
          <a:bodyPr wrap="square" rtlCol="0" anchor="ctr"/>
          <a:lstStyle/>
          <a:p>
            <a:pPr indent="0" marL="0">
              <a:lnSpc>
                <a:spcPct val="105000"/>
              </a:lnSpc>
              <a:buNone/>
            </a:pPr>
            <a:r>
              <a:rPr lang="en-US" sz="3800" b="1" dirty="0">
                <a:solidFill>
                  <a:srgbClr val="FFFFFF"/>
                </a:solidFill>
                <a:latin typeface="Cambria" pitchFamily="34" charset="0"/>
                <a:ea typeface="Cambria" pitchFamily="34" charset="-122"/>
                <a:cs typeface="Cambria" pitchFamily="34" charset="-120"/>
              </a:rPr>
              <a:t>Understanding Examination</a:t>
            </a:r>
            <a:endParaRPr lang="en-US" sz="3800" dirty="0"/>
          </a:p>
          <a:p>
            <a:pPr indent="0" marL="0">
              <a:lnSpc>
                <a:spcPct val="105000"/>
              </a:lnSpc>
              <a:buNone/>
            </a:pPr>
            <a:r>
              <a:rPr lang="en-US" sz="3800" b="1" dirty="0">
                <a:solidFill>
                  <a:srgbClr val="FFFFFF"/>
                </a:solidFill>
                <a:latin typeface="Cambria" pitchFamily="34" charset="0"/>
                <a:ea typeface="Cambria" pitchFamily="34" charset="-122"/>
                <a:cs typeface="Cambria" pitchFamily="34" charset="-120"/>
              </a:rPr>
              <a:t>Preparation Challenges</a:t>
            </a:r>
            <a:endParaRPr lang="en-US" sz="3800" dirty="0"/>
          </a:p>
        </p:txBody>
      </p:sp>
      <p:sp>
        <p:nvSpPr>
          <p:cNvPr id="8" name="Text 6"/>
          <p:cNvSpPr/>
          <p:nvPr/>
        </p:nvSpPr>
        <p:spPr>
          <a:xfrm>
            <a:off x="685800" y="2697480"/>
            <a:ext cx="7772400" cy="502920"/>
          </a:xfrm>
          <a:prstGeom prst="rect">
            <a:avLst/>
          </a:prstGeom>
          <a:noFill/>
          <a:ln/>
        </p:spPr>
        <p:txBody>
          <a:bodyPr wrap="square" rtlCol="0" anchor="ctr"/>
          <a:lstStyle/>
          <a:p>
            <a:pPr indent="0" marL="0">
              <a:buNone/>
            </a:pPr>
            <a:r>
              <a:rPr lang="en-US" sz="2000" i="1" dirty="0">
                <a:solidFill>
                  <a:srgbClr val="CADCE8"/>
                </a:solidFill>
                <a:latin typeface="Cambria" pitchFamily="34" charset="0"/>
                <a:ea typeface="Cambria" pitchFamily="34" charset="-122"/>
                <a:cs typeface="Cambria" pitchFamily="34" charset="-120"/>
              </a:rPr>
              <a:t>Under The Tree Initiative</a:t>
            </a:r>
            <a:endParaRPr lang="en-US" sz="2000" dirty="0"/>
          </a:p>
        </p:txBody>
      </p:sp>
      <p:sp>
        <p:nvSpPr>
          <p:cNvPr id="9" name="Shape 7"/>
          <p:cNvSpPr/>
          <p:nvPr/>
        </p:nvSpPr>
        <p:spPr>
          <a:xfrm>
            <a:off x="713232" y="3383280"/>
            <a:ext cx="2377440" cy="27432"/>
          </a:xfrm>
          <a:prstGeom prst="rect">
            <a:avLst/>
          </a:prstGeom>
          <a:solidFill>
            <a:srgbClr val="D98E2B"/>
          </a:solidFill>
          <a:ln/>
        </p:spPr>
      </p:sp>
      <p:sp>
        <p:nvSpPr>
          <p:cNvPr id="10" name="Text 8"/>
          <p:cNvSpPr/>
          <p:nvPr/>
        </p:nvSpPr>
        <p:spPr>
          <a:xfrm>
            <a:off x="713232" y="3703320"/>
            <a:ext cx="1828800" cy="329184"/>
          </a:xfrm>
          <a:prstGeom prst="rect">
            <a:avLst/>
          </a:prstGeom>
          <a:noFill/>
          <a:ln/>
        </p:spPr>
        <p:txBody>
          <a:bodyPr wrap="square" rtlCol="0" anchor="ctr"/>
          <a:lstStyle/>
          <a:p>
            <a:pPr indent="0" marL="0">
              <a:buNone/>
            </a:pPr>
            <a:r>
              <a:rPr lang="en-US" sz="1100" b="1" dirty="0">
                <a:solidFill>
                  <a:srgbClr val="8FAAC0"/>
                </a:solidFill>
                <a:latin typeface="Calibri" pitchFamily="34" charset="0"/>
                <a:ea typeface="Calibri" pitchFamily="34" charset="-122"/>
                <a:cs typeface="Calibri" pitchFamily="34" charset="-120"/>
              </a:rPr>
              <a:t>STUDENT</a:t>
            </a:r>
            <a:endParaRPr lang="en-US" sz="1100" dirty="0"/>
          </a:p>
        </p:txBody>
      </p:sp>
      <p:sp>
        <p:nvSpPr>
          <p:cNvPr id="11" name="Text 9"/>
          <p:cNvSpPr/>
          <p:nvPr/>
        </p:nvSpPr>
        <p:spPr>
          <a:xfrm>
            <a:off x="2606040" y="3703320"/>
            <a:ext cx="6035040" cy="329184"/>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Eram Rahman</a:t>
            </a:r>
            <a:endParaRPr lang="en-US" sz="1300" dirty="0"/>
          </a:p>
        </p:txBody>
      </p:sp>
      <p:sp>
        <p:nvSpPr>
          <p:cNvPr id="12" name="Text 10"/>
          <p:cNvSpPr/>
          <p:nvPr/>
        </p:nvSpPr>
        <p:spPr>
          <a:xfrm>
            <a:off x="713232" y="4105656"/>
            <a:ext cx="1828800" cy="329184"/>
          </a:xfrm>
          <a:prstGeom prst="rect">
            <a:avLst/>
          </a:prstGeom>
          <a:noFill/>
          <a:ln/>
        </p:spPr>
        <p:txBody>
          <a:bodyPr wrap="square" rtlCol="0" anchor="ctr"/>
          <a:lstStyle/>
          <a:p>
            <a:pPr indent="0" marL="0">
              <a:buNone/>
            </a:pPr>
            <a:r>
              <a:rPr lang="en-US" sz="1100" b="1" dirty="0">
                <a:solidFill>
                  <a:srgbClr val="8FAAC0"/>
                </a:solidFill>
                <a:latin typeface="Calibri" pitchFamily="34" charset="0"/>
                <a:ea typeface="Calibri" pitchFamily="34" charset="-122"/>
                <a:cs typeface="Calibri" pitchFamily="34" charset="-120"/>
              </a:rPr>
              <a:t>ROLL NUMBER</a:t>
            </a:r>
            <a:endParaRPr lang="en-US" sz="1100" dirty="0"/>
          </a:p>
        </p:txBody>
      </p:sp>
      <p:sp>
        <p:nvSpPr>
          <p:cNvPr id="13" name="Text 11"/>
          <p:cNvSpPr/>
          <p:nvPr/>
        </p:nvSpPr>
        <p:spPr>
          <a:xfrm>
            <a:off x="2606040" y="4105656"/>
            <a:ext cx="6035040" cy="329184"/>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25SCS1003000729</a:t>
            </a:r>
            <a:endParaRPr lang="en-US" sz="1300" dirty="0"/>
          </a:p>
        </p:txBody>
      </p:sp>
      <p:sp>
        <p:nvSpPr>
          <p:cNvPr id="14" name="Text 12"/>
          <p:cNvSpPr/>
          <p:nvPr/>
        </p:nvSpPr>
        <p:spPr>
          <a:xfrm>
            <a:off x="713232" y="4507992"/>
            <a:ext cx="1828800" cy="329184"/>
          </a:xfrm>
          <a:prstGeom prst="rect">
            <a:avLst/>
          </a:prstGeom>
          <a:noFill/>
          <a:ln/>
        </p:spPr>
        <p:txBody>
          <a:bodyPr wrap="square" rtlCol="0" anchor="ctr"/>
          <a:lstStyle/>
          <a:p>
            <a:pPr indent="0" marL="0">
              <a:buNone/>
            </a:pPr>
            <a:r>
              <a:rPr lang="en-US" sz="1100" b="1" dirty="0">
                <a:solidFill>
                  <a:srgbClr val="8FAAC0"/>
                </a:solidFill>
                <a:latin typeface="Calibri" pitchFamily="34" charset="0"/>
                <a:ea typeface="Calibri" pitchFamily="34" charset="-122"/>
                <a:cs typeface="Calibri" pitchFamily="34" charset="-120"/>
              </a:rPr>
              <a:t>PROGRAM</a:t>
            </a:r>
            <a:endParaRPr lang="en-US" sz="1100" dirty="0"/>
          </a:p>
        </p:txBody>
      </p:sp>
      <p:sp>
        <p:nvSpPr>
          <p:cNvPr id="15" name="Text 13"/>
          <p:cNvSpPr/>
          <p:nvPr/>
        </p:nvSpPr>
        <p:spPr>
          <a:xfrm>
            <a:off x="2606040" y="4507992"/>
            <a:ext cx="6035040" cy="329184"/>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B.Tech Computer Science &amp; Engineering</a:t>
            </a:r>
            <a:endParaRPr lang="en-US" sz="1300" dirty="0"/>
          </a:p>
        </p:txBody>
      </p:sp>
      <p:sp>
        <p:nvSpPr>
          <p:cNvPr id="16" name="Text 14"/>
          <p:cNvSpPr/>
          <p:nvPr/>
        </p:nvSpPr>
        <p:spPr>
          <a:xfrm>
            <a:off x="713232" y="4910328"/>
            <a:ext cx="1828800" cy="329184"/>
          </a:xfrm>
          <a:prstGeom prst="rect">
            <a:avLst/>
          </a:prstGeom>
          <a:noFill/>
          <a:ln/>
        </p:spPr>
        <p:txBody>
          <a:bodyPr wrap="square" rtlCol="0" anchor="ctr"/>
          <a:lstStyle/>
          <a:p>
            <a:pPr indent="0" marL="0">
              <a:buNone/>
            </a:pPr>
            <a:r>
              <a:rPr lang="en-US" sz="1100" b="1" dirty="0">
                <a:solidFill>
                  <a:srgbClr val="8FAAC0"/>
                </a:solidFill>
                <a:latin typeface="Calibri" pitchFamily="34" charset="0"/>
                <a:ea typeface="Calibri" pitchFamily="34" charset="-122"/>
                <a:cs typeface="Calibri" pitchFamily="34" charset="-120"/>
              </a:rPr>
              <a:t>UNIVERSITY</a:t>
            </a:r>
            <a:endParaRPr lang="en-US" sz="1100" dirty="0"/>
          </a:p>
        </p:txBody>
      </p:sp>
      <p:sp>
        <p:nvSpPr>
          <p:cNvPr id="17" name="Text 15"/>
          <p:cNvSpPr/>
          <p:nvPr/>
        </p:nvSpPr>
        <p:spPr>
          <a:xfrm>
            <a:off x="2606040" y="4910328"/>
            <a:ext cx="6035040" cy="329184"/>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IILM University, Greater Noida, U.P.</a:t>
            </a:r>
            <a:endParaRPr lang="en-US" sz="1300" dirty="0"/>
          </a:p>
        </p:txBody>
      </p:sp>
      <p:sp>
        <p:nvSpPr>
          <p:cNvPr id="18" name="Text 16"/>
          <p:cNvSpPr/>
          <p:nvPr/>
        </p:nvSpPr>
        <p:spPr>
          <a:xfrm>
            <a:off x="713232" y="5312664"/>
            <a:ext cx="1828800" cy="329184"/>
          </a:xfrm>
          <a:prstGeom prst="rect">
            <a:avLst/>
          </a:prstGeom>
          <a:noFill/>
          <a:ln/>
        </p:spPr>
        <p:txBody>
          <a:bodyPr wrap="square" rtlCol="0" anchor="ctr"/>
          <a:lstStyle/>
          <a:p>
            <a:pPr indent="0" marL="0">
              <a:buNone/>
            </a:pPr>
            <a:r>
              <a:rPr lang="en-US" sz="1100" b="1" dirty="0">
                <a:solidFill>
                  <a:srgbClr val="8FAAC0"/>
                </a:solidFill>
                <a:latin typeface="Calibri" pitchFamily="34" charset="0"/>
                <a:ea typeface="Calibri" pitchFamily="34" charset="-122"/>
                <a:cs typeface="Calibri" pitchFamily="34" charset="-120"/>
              </a:rPr>
              <a:t>ORGANIZATION</a:t>
            </a:r>
            <a:endParaRPr lang="en-US" sz="1100" dirty="0"/>
          </a:p>
        </p:txBody>
      </p:sp>
      <p:sp>
        <p:nvSpPr>
          <p:cNvPr id="19" name="Text 17"/>
          <p:cNvSpPr/>
          <p:nvPr/>
        </p:nvSpPr>
        <p:spPr>
          <a:xfrm>
            <a:off x="2606040" y="5312664"/>
            <a:ext cx="6035040" cy="329184"/>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Under The Tree — Pedon Ki Chhanv Mein Foundation</a:t>
            </a:r>
            <a:endParaRPr lang="en-US" sz="1300" dirty="0"/>
          </a:p>
        </p:txBody>
      </p:sp>
      <p:sp>
        <p:nvSpPr>
          <p:cNvPr id="20" name="Text 18"/>
          <p:cNvSpPr/>
          <p:nvPr/>
        </p:nvSpPr>
        <p:spPr>
          <a:xfrm>
            <a:off x="713232" y="5715000"/>
            <a:ext cx="1828800" cy="329184"/>
          </a:xfrm>
          <a:prstGeom prst="rect">
            <a:avLst/>
          </a:prstGeom>
          <a:noFill/>
          <a:ln/>
        </p:spPr>
        <p:txBody>
          <a:bodyPr wrap="square" rtlCol="0" anchor="ctr"/>
          <a:lstStyle/>
          <a:p>
            <a:pPr indent="0" marL="0">
              <a:buNone/>
            </a:pPr>
            <a:r>
              <a:rPr lang="en-US" sz="1100" b="1" dirty="0">
                <a:solidFill>
                  <a:srgbClr val="8FAAC0"/>
                </a:solidFill>
                <a:latin typeface="Calibri" pitchFamily="34" charset="0"/>
                <a:ea typeface="Calibri" pitchFamily="34" charset="-122"/>
                <a:cs typeface="Calibri" pitchFamily="34" charset="-120"/>
              </a:rPr>
              <a:t>SUPERVISOR</a:t>
            </a:r>
            <a:endParaRPr lang="en-US" sz="1100" dirty="0"/>
          </a:p>
        </p:txBody>
      </p:sp>
      <p:sp>
        <p:nvSpPr>
          <p:cNvPr id="21" name="Text 19"/>
          <p:cNvSpPr/>
          <p:nvPr/>
        </p:nvSpPr>
        <p:spPr>
          <a:xfrm>
            <a:off x="2606040" y="5715000"/>
            <a:ext cx="6035040" cy="329184"/>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Anup Sinha</a:t>
            </a:r>
            <a:endParaRPr lang="en-US" sz="1300" dirty="0"/>
          </a:p>
        </p:txBody>
      </p:sp>
      <p:sp>
        <p:nvSpPr>
          <p:cNvPr id="22" name="Shape 20"/>
          <p:cNvSpPr/>
          <p:nvPr/>
        </p:nvSpPr>
        <p:spPr>
          <a:xfrm>
            <a:off x="9646920" y="2331720"/>
            <a:ext cx="1920240" cy="1920240"/>
          </a:xfrm>
          <a:prstGeom prst="ellipse">
            <a:avLst/>
          </a:prstGeom>
          <a:solidFill>
            <a:srgbClr val="1C7F82"/>
          </a:solidFill>
          <a:ln/>
        </p:spPr>
      </p:sp>
      <p:pic>
        <p:nvPicPr>
          <p:cNvPr id="23" name="Image 0" descr="preencoded.png">    </p:cNvPr>
          <p:cNvPicPr>
            <a:picLocks noChangeAspect="1"/>
          </p:cNvPicPr>
          <p:nvPr/>
        </p:nvPicPr>
        <p:blipFill>
          <a:blip r:embed="rId1"/>
          <a:stretch>
            <a:fillRect/>
          </a:stretch>
        </p:blipFill>
        <p:spPr>
          <a:xfrm>
            <a:off x="10104120" y="2788920"/>
            <a:ext cx="1005840" cy="100584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12191695" cy="960120"/>
          </a:xfrm>
          <a:prstGeom prst="rect">
            <a:avLst/>
          </a:prstGeom>
          <a:solidFill>
            <a:srgbClr val="F1F4F6"/>
          </a:solidFill>
          <a:ln/>
        </p:spPr>
      </p:sp>
      <p:sp>
        <p:nvSpPr>
          <p:cNvPr id="3" name="Text 1"/>
          <p:cNvSpPr/>
          <p:nvPr/>
        </p:nvSpPr>
        <p:spPr>
          <a:xfrm>
            <a:off x="640080" y="256032"/>
            <a:ext cx="9144000" cy="502920"/>
          </a:xfrm>
          <a:prstGeom prst="rect">
            <a:avLst/>
          </a:prstGeom>
          <a:noFill/>
          <a:ln/>
        </p:spPr>
        <p:txBody>
          <a:bodyPr wrap="square" rtlCol="0" anchor="ctr"/>
          <a:lstStyle/>
          <a:p>
            <a:pPr indent="0" marL="0">
              <a:buNone/>
            </a:pPr>
            <a:r>
              <a:rPr lang="en-US" sz="2800" b="1" dirty="0">
                <a:solidFill>
                  <a:srgbClr val="1B3A5C"/>
                </a:solidFill>
                <a:latin typeface="Cambria" pitchFamily="34" charset="0"/>
                <a:ea typeface="Cambria" pitchFamily="34" charset="-122"/>
                <a:cs typeface="Cambria" pitchFamily="34" charset="-120"/>
              </a:rPr>
              <a:t>Internship &amp; Organization Overview</a:t>
            </a:r>
            <a:endParaRPr lang="en-US" sz="2800" dirty="0"/>
          </a:p>
        </p:txBody>
      </p:sp>
      <p:sp>
        <p:nvSpPr>
          <p:cNvPr id="4" name="Text 2"/>
          <p:cNvSpPr/>
          <p:nvPr/>
        </p:nvSpPr>
        <p:spPr>
          <a:xfrm>
            <a:off x="640080" y="1234440"/>
            <a:ext cx="5760720" cy="365760"/>
          </a:xfrm>
          <a:prstGeom prst="rect">
            <a:avLst/>
          </a:prstGeom>
          <a:noFill/>
          <a:ln/>
        </p:spPr>
        <p:txBody>
          <a:bodyPr wrap="square" rtlCol="0" anchor="ctr"/>
          <a:lstStyle/>
          <a:p>
            <a:pPr indent="0" marL="0">
              <a:buNone/>
            </a:pPr>
            <a:r>
              <a:rPr lang="en-US" sz="1700" b="1" dirty="0">
                <a:solidFill>
                  <a:srgbClr val="1C7F82"/>
                </a:solidFill>
                <a:latin typeface="Cambria" pitchFamily="34" charset="0"/>
                <a:ea typeface="Cambria" pitchFamily="34" charset="-122"/>
                <a:cs typeface="Cambria" pitchFamily="34" charset="-120"/>
              </a:rPr>
              <a:t>About the Organization</a:t>
            </a:r>
            <a:endParaRPr lang="en-US" sz="1700" dirty="0"/>
          </a:p>
        </p:txBody>
      </p:sp>
      <p:sp>
        <p:nvSpPr>
          <p:cNvPr id="5" name="Shape 3"/>
          <p:cNvSpPr/>
          <p:nvPr/>
        </p:nvSpPr>
        <p:spPr>
          <a:xfrm>
            <a:off x="658368" y="1746504"/>
            <a:ext cx="82296" cy="82296"/>
          </a:xfrm>
          <a:prstGeom prst="ellipse">
            <a:avLst/>
          </a:prstGeom>
          <a:solidFill>
            <a:srgbClr val="D98E2B"/>
          </a:solidFill>
          <a:ln/>
        </p:spPr>
      </p:sp>
      <p:sp>
        <p:nvSpPr>
          <p:cNvPr id="6" name="Text 4"/>
          <p:cNvSpPr/>
          <p:nvPr/>
        </p:nvSpPr>
        <p:spPr>
          <a:xfrm>
            <a:off x="896112" y="1636776"/>
            <a:ext cx="5486400" cy="1005840"/>
          </a:xfrm>
          <a:prstGeom prst="rect">
            <a:avLst/>
          </a:prstGeom>
          <a:noFill/>
          <a:ln/>
        </p:spPr>
        <p:txBody>
          <a:bodyPr wrap="square" rtlCol="0" anchor="t"/>
          <a:lstStyle/>
          <a:p>
            <a:pPr indent="0" marL="0">
              <a:lnSpc>
                <a:spcPct val="115000"/>
              </a:lnSpc>
              <a:buNone/>
            </a:pPr>
            <a:r>
              <a:rPr lang="en-US" sz="1250" dirty="0">
                <a:solidFill>
                  <a:srgbClr val="243746"/>
                </a:solidFill>
                <a:latin typeface="Calibri" pitchFamily="34" charset="0"/>
                <a:ea typeface="Calibri" pitchFamily="34" charset="-122"/>
                <a:cs typeface="Calibri" pitchFamily="34" charset="-120"/>
              </a:rPr>
              <a:t>Pedon Ki Chhanv Mein Foundation ("In the Shade of Trees Foundation") is a non-profit dedicated to nurturing underserved children and youth through education, mentorship and community engagement.</a:t>
            </a:r>
            <a:endParaRPr lang="en-US" sz="1250" dirty="0"/>
          </a:p>
        </p:txBody>
      </p:sp>
      <p:sp>
        <p:nvSpPr>
          <p:cNvPr id="7" name="Shape 5"/>
          <p:cNvSpPr/>
          <p:nvPr/>
        </p:nvSpPr>
        <p:spPr>
          <a:xfrm>
            <a:off x="658368" y="2953512"/>
            <a:ext cx="82296" cy="82296"/>
          </a:xfrm>
          <a:prstGeom prst="ellipse">
            <a:avLst/>
          </a:prstGeom>
          <a:solidFill>
            <a:srgbClr val="D98E2B"/>
          </a:solidFill>
          <a:ln/>
        </p:spPr>
      </p:sp>
      <p:sp>
        <p:nvSpPr>
          <p:cNvPr id="8" name="Text 6"/>
          <p:cNvSpPr/>
          <p:nvPr/>
        </p:nvSpPr>
        <p:spPr>
          <a:xfrm>
            <a:off x="896112" y="2843784"/>
            <a:ext cx="5486400" cy="1005840"/>
          </a:xfrm>
          <a:prstGeom prst="rect">
            <a:avLst/>
          </a:prstGeom>
          <a:noFill/>
          <a:ln/>
        </p:spPr>
        <p:txBody>
          <a:bodyPr wrap="square" rtlCol="0" anchor="t"/>
          <a:lstStyle/>
          <a:p>
            <a:pPr indent="0" marL="0">
              <a:lnSpc>
                <a:spcPct val="115000"/>
              </a:lnSpc>
              <a:buNone/>
            </a:pPr>
            <a:r>
              <a:rPr lang="en-US" sz="1250" dirty="0">
                <a:solidFill>
                  <a:srgbClr val="243746"/>
                </a:solidFill>
                <a:latin typeface="Calibri" pitchFamily="34" charset="0"/>
                <a:ea typeface="Calibri" pitchFamily="34" charset="-122"/>
                <a:cs typeface="Calibri" pitchFamily="34" charset="-120"/>
              </a:rPr>
              <a:t>Its flagship initiative, Under The Tree, brings educational support directly into low-income neighbourhoods, rural pockets and semi-urban areas where institutional support is thin.</a:t>
            </a:r>
            <a:endParaRPr lang="en-US" sz="1250" dirty="0"/>
          </a:p>
        </p:txBody>
      </p:sp>
      <p:sp>
        <p:nvSpPr>
          <p:cNvPr id="9" name="Shape 7"/>
          <p:cNvSpPr/>
          <p:nvPr/>
        </p:nvSpPr>
        <p:spPr>
          <a:xfrm>
            <a:off x="658368" y="4160520"/>
            <a:ext cx="82296" cy="82296"/>
          </a:xfrm>
          <a:prstGeom prst="ellipse">
            <a:avLst/>
          </a:prstGeom>
          <a:solidFill>
            <a:srgbClr val="D98E2B"/>
          </a:solidFill>
          <a:ln/>
        </p:spPr>
      </p:sp>
      <p:sp>
        <p:nvSpPr>
          <p:cNvPr id="10" name="Text 8"/>
          <p:cNvSpPr/>
          <p:nvPr/>
        </p:nvSpPr>
        <p:spPr>
          <a:xfrm>
            <a:off x="896112" y="4050792"/>
            <a:ext cx="5486400" cy="1005840"/>
          </a:xfrm>
          <a:prstGeom prst="rect">
            <a:avLst/>
          </a:prstGeom>
          <a:noFill/>
          <a:ln/>
        </p:spPr>
        <p:txBody>
          <a:bodyPr wrap="square" rtlCol="0" anchor="t"/>
          <a:lstStyle/>
          <a:p>
            <a:pPr indent="0" marL="0">
              <a:lnSpc>
                <a:spcPct val="115000"/>
              </a:lnSpc>
              <a:buNone/>
            </a:pPr>
            <a:r>
              <a:rPr lang="en-US" sz="1250" dirty="0">
                <a:solidFill>
                  <a:srgbClr val="243746"/>
                </a:solidFill>
                <a:latin typeface="Calibri" pitchFamily="34" charset="0"/>
                <a:ea typeface="Calibri" pitchFamily="34" charset="-122"/>
                <a:cs typeface="Calibri" pitchFamily="34" charset="-120"/>
              </a:rPr>
              <a:t>The internship was carried out under the supervision of Mr. Anup Sinha, in coordination with IILM University, as part of the B.Tech CSE academic requirement.</a:t>
            </a:r>
            <a:endParaRPr lang="en-US" sz="1250" dirty="0"/>
          </a:p>
        </p:txBody>
      </p:sp>
      <p:sp>
        <p:nvSpPr>
          <p:cNvPr id="11" name="Shape 9"/>
          <p:cNvSpPr/>
          <p:nvPr/>
        </p:nvSpPr>
        <p:spPr>
          <a:xfrm>
            <a:off x="6720840" y="1234440"/>
            <a:ext cx="4800600" cy="5029200"/>
          </a:xfrm>
          <a:prstGeom prst="roundRect">
            <a:avLst>
              <a:gd name="adj" fmla="val 1524"/>
            </a:avLst>
          </a:prstGeom>
          <a:solidFill>
            <a:srgbClr val="1B3A5C"/>
          </a:solidFill>
          <a:ln/>
        </p:spPr>
      </p:sp>
      <p:sp>
        <p:nvSpPr>
          <p:cNvPr id="12" name="Text 10"/>
          <p:cNvSpPr/>
          <p:nvPr/>
        </p:nvSpPr>
        <p:spPr>
          <a:xfrm>
            <a:off x="7086600" y="1554480"/>
            <a:ext cx="4069080" cy="365760"/>
          </a:xfrm>
          <a:prstGeom prst="rect">
            <a:avLst/>
          </a:prstGeom>
          <a:noFill/>
          <a:ln/>
        </p:spPr>
        <p:txBody>
          <a:bodyPr wrap="square" rtlCol="0" anchor="ctr"/>
          <a:lstStyle/>
          <a:p>
            <a:pPr indent="0" marL="0">
              <a:buNone/>
            </a:pPr>
            <a:r>
              <a:rPr lang="en-US" sz="1300" b="1" spc="200" kern="0" dirty="0">
                <a:solidFill>
                  <a:srgbClr val="D98E2B"/>
                </a:solidFill>
                <a:latin typeface="Calibri" pitchFamily="34" charset="0"/>
                <a:ea typeface="Calibri" pitchFamily="34" charset="-122"/>
                <a:cs typeface="Calibri" pitchFamily="34" charset="-120"/>
              </a:rPr>
              <a:t>INTERNSHIP AT A GLANCE</a:t>
            </a:r>
            <a:endParaRPr lang="en-US" sz="1300" dirty="0"/>
          </a:p>
        </p:txBody>
      </p:sp>
      <p:sp>
        <p:nvSpPr>
          <p:cNvPr id="13" name="Shape 11"/>
          <p:cNvSpPr/>
          <p:nvPr/>
        </p:nvSpPr>
        <p:spPr>
          <a:xfrm>
            <a:off x="7086600" y="2103120"/>
            <a:ext cx="548640" cy="548640"/>
          </a:xfrm>
          <a:prstGeom prst="ellipse">
            <a:avLst/>
          </a:prstGeom>
          <a:solidFill>
            <a:srgbClr val="1C7F82"/>
          </a:solidFill>
          <a:ln/>
        </p:spPr>
      </p:sp>
      <p:pic>
        <p:nvPicPr>
          <p:cNvPr id="14" name="Image 0" descr="preencoded.png">    </p:cNvPr>
          <p:cNvPicPr>
            <a:picLocks noChangeAspect="1"/>
          </p:cNvPicPr>
          <p:nvPr/>
        </p:nvPicPr>
        <p:blipFill>
          <a:blip r:embed="rId1"/>
          <a:stretch>
            <a:fillRect/>
          </a:stretch>
        </p:blipFill>
        <p:spPr>
          <a:xfrm>
            <a:off x="7214616" y="2231136"/>
            <a:ext cx="292608" cy="292608"/>
          </a:xfrm>
          <a:prstGeom prst="rect">
            <a:avLst/>
          </a:prstGeom>
        </p:spPr>
      </p:pic>
      <p:sp>
        <p:nvSpPr>
          <p:cNvPr id="15" name="Text 12"/>
          <p:cNvSpPr/>
          <p:nvPr/>
        </p:nvSpPr>
        <p:spPr>
          <a:xfrm>
            <a:off x="7799832" y="2084832"/>
            <a:ext cx="3355848" cy="292608"/>
          </a:xfrm>
          <a:prstGeom prst="rect">
            <a:avLst/>
          </a:prstGeom>
          <a:noFill/>
          <a:ln/>
        </p:spPr>
        <p:txBody>
          <a:bodyPr wrap="square" rtlCol="0" anchor="t"/>
          <a:lstStyle/>
          <a:p>
            <a:pPr indent="0" marL="0">
              <a:buNone/>
            </a:pPr>
            <a:r>
              <a:rPr lang="en-US" sz="1450" b="1" dirty="0">
                <a:solidFill>
                  <a:srgbClr val="FFFFFF"/>
                </a:solidFill>
                <a:latin typeface="Calibri" pitchFamily="34" charset="0"/>
                <a:ea typeface="Calibri" pitchFamily="34" charset="-122"/>
                <a:cs typeface="Calibri" pitchFamily="34" charset="-120"/>
              </a:rPr>
              <a:t>6 Weeks</a:t>
            </a:r>
            <a:endParaRPr lang="en-US" sz="1450" dirty="0"/>
          </a:p>
        </p:txBody>
      </p:sp>
      <p:sp>
        <p:nvSpPr>
          <p:cNvPr id="16" name="Text 13"/>
          <p:cNvSpPr/>
          <p:nvPr/>
        </p:nvSpPr>
        <p:spPr>
          <a:xfrm>
            <a:off x="7799832" y="2359152"/>
            <a:ext cx="3355848" cy="292608"/>
          </a:xfrm>
          <a:prstGeom prst="rect">
            <a:avLst/>
          </a:prstGeom>
          <a:noFill/>
          <a:ln/>
        </p:spPr>
        <p:txBody>
          <a:bodyPr wrap="square" rtlCol="0" anchor="t"/>
          <a:lstStyle/>
          <a:p>
            <a:pPr indent="0" marL="0">
              <a:lnSpc>
                <a:spcPct val="102000"/>
              </a:lnSpc>
              <a:buNone/>
            </a:pPr>
            <a:r>
              <a:rPr lang="en-US" sz="1000" dirty="0">
                <a:solidFill>
                  <a:srgbClr val="B9C9D6"/>
                </a:solidFill>
                <a:latin typeface="Calibri" pitchFamily="34" charset="0"/>
                <a:ea typeface="Calibri" pitchFamily="34" charset="-122"/>
                <a:cs typeface="Calibri" pitchFamily="34" charset="-120"/>
              </a:rPr>
              <a:t>Structured internship duration</a:t>
            </a:r>
            <a:endParaRPr lang="en-US" sz="1000" dirty="0"/>
          </a:p>
        </p:txBody>
      </p:sp>
      <p:sp>
        <p:nvSpPr>
          <p:cNvPr id="17" name="Shape 14"/>
          <p:cNvSpPr/>
          <p:nvPr/>
        </p:nvSpPr>
        <p:spPr>
          <a:xfrm>
            <a:off x="7086600" y="2999232"/>
            <a:ext cx="548640" cy="548640"/>
          </a:xfrm>
          <a:prstGeom prst="ellipse">
            <a:avLst/>
          </a:prstGeom>
          <a:solidFill>
            <a:srgbClr val="1C7F82"/>
          </a:solidFill>
          <a:ln/>
        </p:spPr>
      </p:sp>
      <p:pic>
        <p:nvPicPr>
          <p:cNvPr id="18" name="Image 1" descr="preencoded.png">    </p:cNvPr>
          <p:cNvPicPr>
            <a:picLocks noChangeAspect="1"/>
          </p:cNvPicPr>
          <p:nvPr/>
        </p:nvPicPr>
        <p:blipFill>
          <a:blip r:embed="rId2"/>
          <a:stretch>
            <a:fillRect/>
          </a:stretch>
        </p:blipFill>
        <p:spPr>
          <a:xfrm>
            <a:off x="7214616" y="3127248"/>
            <a:ext cx="292608" cy="292608"/>
          </a:xfrm>
          <a:prstGeom prst="rect">
            <a:avLst/>
          </a:prstGeom>
        </p:spPr>
      </p:pic>
      <p:sp>
        <p:nvSpPr>
          <p:cNvPr id="19" name="Text 15"/>
          <p:cNvSpPr/>
          <p:nvPr/>
        </p:nvSpPr>
        <p:spPr>
          <a:xfrm>
            <a:off x="7799832" y="2980944"/>
            <a:ext cx="3355848" cy="292608"/>
          </a:xfrm>
          <a:prstGeom prst="rect">
            <a:avLst/>
          </a:prstGeom>
          <a:noFill/>
          <a:ln/>
        </p:spPr>
        <p:txBody>
          <a:bodyPr wrap="square" rtlCol="0" anchor="t"/>
          <a:lstStyle/>
          <a:p>
            <a:pPr indent="0" marL="0">
              <a:buNone/>
            </a:pPr>
            <a:r>
              <a:rPr lang="en-US" sz="1450" b="1" dirty="0">
                <a:solidFill>
                  <a:srgbClr val="FFFFFF"/>
                </a:solidFill>
                <a:latin typeface="Calibri" pitchFamily="34" charset="0"/>
                <a:ea typeface="Calibri" pitchFamily="34" charset="-122"/>
                <a:cs typeface="Calibri" pitchFamily="34" charset="-120"/>
              </a:rPr>
              <a:t>2 Researchers</a:t>
            </a:r>
            <a:endParaRPr lang="en-US" sz="1450" dirty="0"/>
          </a:p>
        </p:txBody>
      </p:sp>
      <p:sp>
        <p:nvSpPr>
          <p:cNvPr id="20" name="Text 16"/>
          <p:cNvSpPr/>
          <p:nvPr/>
        </p:nvSpPr>
        <p:spPr>
          <a:xfrm>
            <a:off x="7799832" y="3255264"/>
            <a:ext cx="3355848" cy="292608"/>
          </a:xfrm>
          <a:prstGeom prst="rect">
            <a:avLst/>
          </a:prstGeom>
          <a:noFill/>
          <a:ln/>
        </p:spPr>
        <p:txBody>
          <a:bodyPr wrap="square" rtlCol="0" anchor="t"/>
          <a:lstStyle/>
          <a:p>
            <a:pPr indent="0" marL="0">
              <a:lnSpc>
                <a:spcPct val="102000"/>
              </a:lnSpc>
              <a:buNone/>
            </a:pPr>
            <a:r>
              <a:rPr lang="en-US" sz="1000" dirty="0">
                <a:solidFill>
                  <a:srgbClr val="B9C9D6"/>
                </a:solidFill>
                <a:latin typeface="Calibri" pitchFamily="34" charset="0"/>
                <a:ea typeface="Calibri" pitchFamily="34" charset="-122"/>
                <a:cs typeface="Calibri" pitchFamily="34" charset="-120"/>
              </a:rPr>
              <a:t>Trained volunteer researchers</a:t>
            </a:r>
            <a:endParaRPr lang="en-US" sz="1000" dirty="0"/>
          </a:p>
        </p:txBody>
      </p:sp>
      <p:sp>
        <p:nvSpPr>
          <p:cNvPr id="21" name="Shape 17"/>
          <p:cNvSpPr/>
          <p:nvPr/>
        </p:nvSpPr>
        <p:spPr>
          <a:xfrm>
            <a:off x="7086600" y="3895344"/>
            <a:ext cx="548640" cy="548640"/>
          </a:xfrm>
          <a:prstGeom prst="ellipse">
            <a:avLst/>
          </a:prstGeom>
          <a:solidFill>
            <a:srgbClr val="1C7F82"/>
          </a:solidFill>
          <a:ln/>
        </p:spPr>
      </p:sp>
      <p:pic>
        <p:nvPicPr>
          <p:cNvPr id="22" name="Image 2" descr="preencoded.png">    </p:cNvPr>
          <p:cNvPicPr>
            <a:picLocks noChangeAspect="1"/>
          </p:cNvPicPr>
          <p:nvPr/>
        </p:nvPicPr>
        <p:blipFill>
          <a:blip r:embed="rId3"/>
          <a:stretch>
            <a:fillRect/>
          </a:stretch>
        </p:blipFill>
        <p:spPr>
          <a:xfrm>
            <a:off x="7214616" y="4023360"/>
            <a:ext cx="292608" cy="292608"/>
          </a:xfrm>
          <a:prstGeom prst="rect">
            <a:avLst/>
          </a:prstGeom>
        </p:spPr>
      </p:pic>
      <p:sp>
        <p:nvSpPr>
          <p:cNvPr id="23" name="Text 18"/>
          <p:cNvSpPr/>
          <p:nvPr/>
        </p:nvSpPr>
        <p:spPr>
          <a:xfrm>
            <a:off x="7799832" y="3877056"/>
            <a:ext cx="3355848" cy="292608"/>
          </a:xfrm>
          <a:prstGeom prst="rect">
            <a:avLst/>
          </a:prstGeom>
          <a:noFill/>
          <a:ln/>
        </p:spPr>
        <p:txBody>
          <a:bodyPr wrap="square" rtlCol="0" anchor="t"/>
          <a:lstStyle/>
          <a:p>
            <a:pPr indent="0" marL="0">
              <a:buNone/>
            </a:pPr>
            <a:r>
              <a:rPr lang="en-US" sz="1450" b="1" dirty="0">
                <a:solidFill>
                  <a:srgbClr val="FFFFFF"/>
                </a:solidFill>
                <a:latin typeface="Calibri" pitchFamily="34" charset="0"/>
                <a:ea typeface="Calibri" pitchFamily="34" charset="-122"/>
                <a:cs typeface="Calibri" pitchFamily="34" charset="-120"/>
              </a:rPr>
              <a:t>K-12 to Higher Ed</a:t>
            </a:r>
            <a:endParaRPr lang="en-US" sz="1450" dirty="0"/>
          </a:p>
        </p:txBody>
      </p:sp>
      <p:sp>
        <p:nvSpPr>
          <p:cNvPr id="24" name="Text 19"/>
          <p:cNvSpPr/>
          <p:nvPr/>
        </p:nvSpPr>
        <p:spPr>
          <a:xfrm>
            <a:off x="7799832" y="4151376"/>
            <a:ext cx="3355848" cy="292608"/>
          </a:xfrm>
          <a:prstGeom prst="rect">
            <a:avLst/>
          </a:prstGeom>
          <a:noFill/>
          <a:ln/>
        </p:spPr>
        <p:txBody>
          <a:bodyPr wrap="square" rtlCol="0" anchor="t"/>
          <a:lstStyle/>
          <a:p>
            <a:pPr indent="0" marL="0">
              <a:lnSpc>
                <a:spcPct val="102000"/>
              </a:lnSpc>
              <a:buNone/>
            </a:pPr>
            <a:r>
              <a:rPr lang="en-US" sz="1000" dirty="0">
                <a:solidFill>
                  <a:srgbClr val="B9C9D6"/>
                </a:solidFill>
                <a:latin typeface="Calibri" pitchFamily="34" charset="0"/>
                <a:ea typeface="Calibri" pitchFamily="34" charset="-122"/>
                <a:cs typeface="Calibri" pitchFamily="34" charset="-120"/>
              </a:rPr>
              <a:t>Focus across all education levels</a:t>
            </a:r>
            <a:endParaRPr lang="en-US" sz="1000" dirty="0"/>
          </a:p>
        </p:txBody>
      </p:sp>
      <p:sp>
        <p:nvSpPr>
          <p:cNvPr id="25" name="Shape 20"/>
          <p:cNvSpPr/>
          <p:nvPr/>
        </p:nvSpPr>
        <p:spPr>
          <a:xfrm>
            <a:off x="7086600" y="4791456"/>
            <a:ext cx="548640" cy="548640"/>
          </a:xfrm>
          <a:prstGeom prst="ellipse">
            <a:avLst/>
          </a:prstGeom>
          <a:solidFill>
            <a:srgbClr val="1C7F82"/>
          </a:solidFill>
          <a:ln/>
        </p:spPr>
      </p:sp>
      <p:pic>
        <p:nvPicPr>
          <p:cNvPr id="26" name="Image 3" descr="preencoded.png">    </p:cNvPr>
          <p:cNvPicPr>
            <a:picLocks noChangeAspect="1"/>
          </p:cNvPicPr>
          <p:nvPr/>
        </p:nvPicPr>
        <p:blipFill>
          <a:blip r:embed="rId4"/>
          <a:stretch>
            <a:fillRect/>
          </a:stretch>
        </p:blipFill>
        <p:spPr>
          <a:xfrm>
            <a:off x="7214616" y="4919472"/>
            <a:ext cx="292608" cy="292608"/>
          </a:xfrm>
          <a:prstGeom prst="rect">
            <a:avLst/>
          </a:prstGeom>
        </p:spPr>
      </p:pic>
      <p:sp>
        <p:nvSpPr>
          <p:cNvPr id="27" name="Text 21"/>
          <p:cNvSpPr/>
          <p:nvPr/>
        </p:nvSpPr>
        <p:spPr>
          <a:xfrm>
            <a:off x="7799832" y="4773168"/>
            <a:ext cx="3355848" cy="292608"/>
          </a:xfrm>
          <a:prstGeom prst="rect">
            <a:avLst/>
          </a:prstGeom>
          <a:noFill/>
          <a:ln/>
        </p:spPr>
        <p:txBody>
          <a:bodyPr wrap="square" rtlCol="0" anchor="t"/>
          <a:lstStyle/>
          <a:p>
            <a:pPr indent="0" marL="0">
              <a:buNone/>
            </a:pPr>
            <a:r>
              <a:rPr lang="en-US" sz="1450" b="1" dirty="0">
                <a:solidFill>
                  <a:srgbClr val="FFFFFF"/>
                </a:solidFill>
                <a:latin typeface="Calibri" pitchFamily="34" charset="0"/>
                <a:ea typeface="Calibri" pitchFamily="34" charset="-122"/>
                <a:cs typeface="Calibri" pitchFamily="34" charset="-120"/>
              </a:rPr>
              <a:t>Underserved Focus</a:t>
            </a:r>
            <a:endParaRPr lang="en-US" sz="1450" dirty="0"/>
          </a:p>
        </p:txBody>
      </p:sp>
      <p:sp>
        <p:nvSpPr>
          <p:cNvPr id="28" name="Text 22"/>
          <p:cNvSpPr/>
          <p:nvPr/>
        </p:nvSpPr>
        <p:spPr>
          <a:xfrm>
            <a:off x="7799832" y="5047488"/>
            <a:ext cx="3355848" cy="292608"/>
          </a:xfrm>
          <a:prstGeom prst="rect">
            <a:avLst/>
          </a:prstGeom>
          <a:noFill/>
          <a:ln/>
        </p:spPr>
        <p:txBody>
          <a:bodyPr wrap="square" rtlCol="0" anchor="t"/>
          <a:lstStyle/>
          <a:p>
            <a:pPr indent="0" marL="0">
              <a:lnSpc>
                <a:spcPct val="102000"/>
              </a:lnSpc>
              <a:buNone/>
            </a:pPr>
            <a:r>
              <a:rPr lang="en-US" sz="1000" dirty="0">
                <a:solidFill>
                  <a:srgbClr val="B9C9D6"/>
                </a:solidFill>
                <a:latin typeface="Calibri" pitchFamily="34" charset="0"/>
                <a:ea typeface="Calibri" pitchFamily="34" charset="-122"/>
                <a:cs typeface="Calibri" pitchFamily="34" charset="-120"/>
              </a:rPr>
              <a:t>Particular emphasis on underserved communities</a:t>
            </a:r>
            <a:endParaRPr lang="en-US" sz="1000" dirty="0"/>
          </a:p>
        </p:txBody>
      </p:sp>
      <p:sp>
        <p:nvSpPr>
          <p:cNvPr id="29" name="Text 23"/>
          <p:cNvSpPr/>
          <p:nvPr/>
        </p:nvSpPr>
        <p:spPr>
          <a:xfrm>
            <a:off x="7086600" y="5550408"/>
            <a:ext cx="4069080" cy="566928"/>
          </a:xfrm>
          <a:prstGeom prst="rect">
            <a:avLst/>
          </a:prstGeom>
          <a:noFill/>
          <a:ln/>
        </p:spPr>
        <p:txBody>
          <a:bodyPr wrap="square" rtlCol="0" anchor="t"/>
          <a:lstStyle/>
          <a:p>
            <a:pPr indent="0" marL="0">
              <a:lnSpc>
                <a:spcPct val="108000"/>
              </a:lnSpc>
              <a:buNone/>
            </a:pPr>
            <a:r>
              <a:rPr lang="en-US" sz="1000" i="1" dirty="0">
                <a:solidFill>
                  <a:srgbClr val="CADCE8"/>
                </a:solidFill>
                <a:latin typeface="Calibri" pitchFamily="34" charset="0"/>
                <a:ea typeface="Calibri" pitchFamily="34" charset="-122"/>
                <a:cs typeface="Calibri" pitchFamily="34" charset="-120"/>
              </a:rPr>
              <a:t>Purpose: to feed evidence-based understanding into Under The Tree's mission of accessible, community-rooted academic support.</a:t>
            </a:r>
            <a:endParaRPr lang="en-US" sz="1000" dirty="0"/>
          </a:p>
        </p:txBody>
      </p:sp>
      <p:sp>
        <p:nvSpPr>
          <p:cNvPr id="30" name="Text 24"/>
          <p:cNvSpPr/>
          <p:nvPr/>
        </p:nvSpPr>
        <p:spPr>
          <a:xfrm>
            <a:off x="457200" y="6519672"/>
            <a:ext cx="7315200" cy="274320"/>
          </a:xfrm>
          <a:prstGeom prst="rect">
            <a:avLst/>
          </a:prstGeom>
          <a:noFill/>
          <a:ln/>
        </p:spPr>
        <p:txBody>
          <a:bodyPr wrap="square" rtlCol="0" anchor="ctr"/>
          <a:lstStyle/>
          <a:p>
            <a:pPr algn="l" indent="0" marL="0">
              <a:buNone/>
            </a:pPr>
            <a:r>
              <a:rPr lang="en-US" sz="900" dirty="0">
                <a:solidFill>
                  <a:srgbClr val="5B6B78"/>
                </a:solidFill>
                <a:latin typeface="Calibri" pitchFamily="34" charset="0"/>
                <a:ea typeface="Calibri" pitchFamily="34" charset="-122"/>
                <a:cs typeface="Calibri" pitchFamily="34" charset="-120"/>
              </a:rPr>
              <a:t>Understanding Examination Preparation Challenges</a:t>
            </a:r>
            <a:endParaRPr lang="en-US" sz="900" dirty="0"/>
          </a:p>
        </p:txBody>
      </p:sp>
      <p:sp>
        <p:nvSpPr>
          <p:cNvPr id="31" name="Text 25"/>
          <p:cNvSpPr/>
          <p:nvPr/>
        </p:nvSpPr>
        <p:spPr>
          <a:xfrm>
            <a:off x="11277295" y="6519672"/>
            <a:ext cx="457200" cy="274320"/>
          </a:xfrm>
          <a:prstGeom prst="rect">
            <a:avLst/>
          </a:prstGeom>
          <a:noFill/>
          <a:ln/>
        </p:spPr>
        <p:txBody>
          <a:bodyPr wrap="square" rtlCol="0" anchor="ctr"/>
          <a:lstStyle/>
          <a:p>
            <a:pPr algn="r" indent="0" marL="0">
              <a:buNone/>
            </a:pPr>
            <a:r>
              <a:rPr lang="en-US" sz="900" dirty="0">
                <a:solidFill>
                  <a:srgbClr val="5B6B78"/>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12191695" cy="960120"/>
          </a:xfrm>
          <a:prstGeom prst="rect">
            <a:avLst/>
          </a:prstGeom>
          <a:solidFill>
            <a:srgbClr val="F1F4F6"/>
          </a:solidFill>
          <a:ln/>
        </p:spPr>
      </p:sp>
      <p:sp>
        <p:nvSpPr>
          <p:cNvPr id="3" name="Text 1"/>
          <p:cNvSpPr/>
          <p:nvPr/>
        </p:nvSpPr>
        <p:spPr>
          <a:xfrm>
            <a:off x="640080" y="256032"/>
            <a:ext cx="9144000" cy="502920"/>
          </a:xfrm>
          <a:prstGeom prst="rect">
            <a:avLst/>
          </a:prstGeom>
          <a:noFill/>
          <a:ln/>
        </p:spPr>
        <p:txBody>
          <a:bodyPr wrap="square" rtlCol="0" anchor="ctr"/>
          <a:lstStyle/>
          <a:p>
            <a:pPr indent="0" marL="0">
              <a:buNone/>
            </a:pPr>
            <a:r>
              <a:rPr lang="en-US" sz="2800" b="1" dirty="0">
                <a:solidFill>
                  <a:srgbClr val="1B3A5C"/>
                </a:solidFill>
                <a:latin typeface="Cambria" pitchFamily="34" charset="0"/>
                <a:ea typeface="Cambria" pitchFamily="34" charset="-122"/>
                <a:cs typeface="Cambria" pitchFamily="34" charset="-120"/>
              </a:rPr>
              <a:t>Project Introduction</a:t>
            </a:r>
            <a:endParaRPr lang="en-US" sz="2800" dirty="0"/>
          </a:p>
        </p:txBody>
      </p:sp>
      <p:sp>
        <p:nvSpPr>
          <p:cNvPr id="4" name="Text 2"/>
          <p:cNvSpPr/>
          <p:nvPr/>
        </p:nvSpPr>
        <p:spPr>
          <a:xfrm>
            <a:off x="640080" y="1188720"/>
            <a:ext cx="10881360" cy="914400"/>
          </a:xfrm>
          <a:prstGeom prst="rect">
            <a:avLst/>
          </a:prstGeom>
          <a:noFill/>
          <a:ln/>
        </p:spPr>
        <p:txBody>
          <a:bodyPr wrap="square" rtlCol="0" anchor="ctr"/>
          <a:lstStyle/>
          <a:p>
            <a:pPr indent="0" marL="0">
              <a:lnSpc>
                <a:spcPct val="120000"/>
              </a:lnSpc>
              <a:buNone/>
            </a:pPr>
            <a:r>
              <a:rPr lang="en-US" sz="1350" dirty="0">
                <a:solidFill>
                  <a:srgbClr val="243746"/>
                </a:solidFill>
                <a:latin typeface="Calibri" pitchFamily="34" charset="0"/>
                <a:ea typeface="Calibri" pitchFamily="34" charset="-122"/>
                <a:cs typeface="Calibri" pitchFamily="34" charset="-120"/>
              </a:rPr>
              <a:t>A six-week mixed-methods research initiative under the "Under The Tree" programme, designed to systematically identify, document and analyse the multidimensional barriers K-12 and higher education students face in examination preparation — with particular focus on underserved communities across India.</a:t>
            </a:r>
            <a:endParaRPr lang="en-US" sz="1350" dirty="0"/>
          </a:p>
        </p:txBody>
      </p:sp>
      <p:sp>
        <p:nvSpPr>
          <p:cNvPr id="5" name="Shape 3"/>
          <p:cNvSpPr/>
          <p:nvPr/>
        </p:nvSpPr>
        <p:spPr>
          <a:xfrm>
            <a:off x="731520" y="2880360"/>
            <a:ext cx="1051560" cy="1051560"/>
          </a:xfrm>
          <a:prstGeom prst="ellipse">
            <a:avLst/>
          </a:prstGeom>
          <a:solidFill>
            <a:srgbClr val="1B3A5C"/>
          </a:solidFill>
          <a:ln/>
        </p:spPr>
      </p:sp>
      <p:pic>
        <p:nvPicPr>
          <p:cNvPr id="6" name="Image 0" descr="preencoded.png">    </p:cNvPr>
          <p:cNvPicPr>
            <a:picLocks noChangeAspect="1"/>
          </p:cNvPicPr>
          <p:nvPr/>
        </p:nvPicPr>
        <p:blipFill>
          <a:blip r:embed="rId1"/>
          <a:stretch>
            <a:fillRect/>
          </a:stretch>
        </p:blipFill>
        <p:spPr>
          <a:xfrm>
            <a:off x="987552" y="3136392"/>
            <a:ext cx="539496" cy="539496"/>
          </a:xfrm>
          <a:prstGeom prst="rect">
            <a:avLst/>
          </a:prstGeom>
        </p:spPr>
      </p:pic>
      <p:sp>
        <p:nvSpPr>
          <p:cNvPr id="7" name="Text 4"/>
          <p:cNvSpPr/>
          <p:nvPr/>
        </p:nvSpPr>
        <p:spPr>
          <a:xfrm>
            <a:off x="320040" y="4069080"/>
            <a:ext cx="1874520" cy="640080"/>
          </a:xfrm>
          <a:prstGeom prst="rect">
            <a:avLst/>
          </a:prstGeom>
          <a:noFill/>
          <a:ln/>
        </p:spPr>
        <p:txBody>
          <a:bodyPr wrap="square" rtlCol="0" anchor="ctr"/>
          <a:lstStyle/>
          <a:p>
            <a:pPr algn="ctr" indent="0" marL="0">
              <a:lnSpc>
                <a:spcPct val="100000"/>
              </a:lnSpc>
              <a:buNone/>
            </a:pPr>
            <a:r>
              <a:rPr lang="en-US" sz="1250" b="1" dirty="0">
                <a:solidFill>
                  <a:srgbClr val="243746"/>
                </a:solidFill>
                <a:latin typeface="Calibri" pitchFamily="34" charset="0"/>
                <a:ea typeface="Calibri" pitchFamily="34" charset="-122"/>
                <a:cs typeface="Calibri" pitchFamily="34" charset="-120"/>
              </a:rPr>
              <a:t>Students</a:t>
            </a:r>
            <a:endParaRPr lang="en-US" sz="1250" dirty="0"/>
          </a:p>
        </p:txBody>
      </p:sp>
      <p:pic>
        <p:nvPicPr>
          <p:cNvPr id="8" name="Image 1" descr="preencoded.png">    </p:cNvPr>
          <p:cNvPicPr>
            <a:picLocks noChangeAspect="1"/>
          </p:cNvPicPr>
          <p:nvPr/>
        </p:nvPicPr>
        <p:blipFill>
          <a:blip r:embed="rId2"/>
          <a:stretch>
            <a:fillRect/>
          </a:stretch>
        </p:blipFill>
        <p:spPr>
          <a:xfrm>
            <a:off x="2060418" y="3246120"/>
            <a:ext cx="329184" cy="329184"/>
          </a:xfrm>
          <a:prstGeom prst="rect">
            <a:avLst/>
          </a:prstGeom>
        </p:spPr>
      </p:pic>
      <p:sp>
        <p:nvSpPr>
          <p:cNvPr id="9" name="Shape 5"/>
          <p:cNvSpPr/>
          <p:nvPr/>
        </p:nvSpPr>
        <p:spPr>
          <a:xfrm>
            <a:off x="2666939" y="2880360"/>
            <a:ext cx="1051560" cy="1051560"/>
          </a:xfrm>
          <a:prstGeom prst="ellipse">
            <a:avLst/>
          </a:prstGeom>
          <a:solidFill>
            <a:srgbClr val="1C7F82"/>
          </a:solidFill>
          <a:ln/>
        </p:spPr>
      </p:sp>
      <p:pic>
        <p:nvPicPr>
          <p:cNvPr id="10" name="Image 2" descr="preencoded.png">    </p:cNvPr>
          <p:cNvPicPr>
            <a:picLocks noChangeAspect="1"/>
          </p:cNvPicPr>
          <p:nvPr/>
        </p:nvPicPr>
        <p:blipFill>
          <a:blip r:embed="rId3"/>
          <a:stretch>
            <a:fillRect/>
          </a:stretch>
        </p:blipFill>
        <p:spPr>
          <a:xfrm>
            <a:off x="2922971" y="3136392"/>
            <a:ext cx="539496" cy="539496"/>
          </a:xfrm>
          <a:prstGeom prst="rect">
            <a:avLst/>
          </a:prstGeom>
        </p:spPr>
      </p:pic>
      <p:sp>
        <p:nvSpPr>
          <p:cNvPr id="11" name="Text 6"/>
          <p:cNvSpPr/>
          <p:nvPr/>
        </p:nvSpPr>
        <p:spPr>
          <a:xfrm>
            <a:off x="2255459" y="4069080"/>
            <a:ext cx="1874520" cy="640080"/>
          </a:xfrm>
          <a:prstGeom prst="rect">
            <a:avLst/>
          </a:prstGeom>
          <a:noFill/>
          <a:ln/>
        </p:spPr>
        <p:txBody>
          <a:bodyPr wrap="square" rtlCol="0" anchor="ctr"/>
          <a:lstStyle/>
          <a:p>
            <a:pPr algn="ctr" indent="0" marL="0">
              <a:lnSpc>
                <a:spcPct val="100000"/>
              </a:lnSpc>
              <a:buNone/>
            </a:pPr>
            <a:r>
              <a:rPr lang="en-US" sz="1250" b="1" dirty="0">
                <a:solidFill>
                  <a:srgbClr val="243746"/>
                </a:solidFill>
                <a:latin typeface="Calibri" pitchFamily="34" charset="0"/>
                <a:ea typeface="Calibri" pitchFamily="34" charset="-122"/>
                <a:cs typeface="Calibri" pitchFamily="34" charset="-120"/>
              </a:rPr>
              <a:t>Challenges</a:t>
            </a:r>
            <a:endParaRPr lang="en-US" sz="1250" dirty="0"/>
          </a:p>
        </p:txBody>
      </p:sp>
      <p:pic>
        <p:nvPicPr>
          <p:cNvPr id="12" name="Image 3" descr="preencoded.png">    </p:cNvPr>
          <p:cNvPicPr>
            <a:picLocks noChangeAspect="1"/>
          </p:cNvPicPr>
          <p:nvPr/>
        </p:nvPicPr>
        <p:blipFill>
          <a:blip r:embed="rId4"/>
          <a:stretch>
            <a:fillRect/>
          </a:stretch>
        </p:blipFill>
        <p:spPr>
          <a:xfrm>
            <a:off x="3995837" y="3246120"/>
            <a:ext cx="329184" cy="329184"/>
          </a:xfrm>
          <a:prstGeom prst="rect">
            <a:avLst/>
          </a:prstGeom>
        </p:spPr>
      </p:pic>
      <p:sp>
        <p:nvSpPr>
          <p:cNvPr id="13" name="Shape 7"/>
          <p:cNvSpPr/>
          <p:nvPr/>
        </p:nvSpPr>
        <p:spPr>
          <a:xfrm>
            <a:off x="4602358" y="2880360"/>
            <a:ext cx="1051560" cy="1051560"/>
          </a:xfrm>
          <a:prstGeom prst="ellipse">
            <a:avLst/>
          </a:prstGeom>
          <a:solidFill>
            <a:srgbClr val="1B3A5C"/>
          </a:solidFill>
          <a:ln/>
        </p:spPr>
      </p:sp>
      <p:pic>
        <p:nvPicPr>
          <p:cNvPr id="14" name="Image 4" descr="preencoded.png">    </p:cNvPr>
          <p:cNvPicPr>
            <a:picLocks noChangeAspect="1"/>
          </p:cNvPicPr>
          <p:nvPr/>
        </p:nvPicPr>
        <p:blipFill>
          <a:blip r:embed="rId5"/>
          <a:stretch>
            <a:fillRect/>
          </a:stretch>
        </p:blipFill>
        <p:spPr>
          <a:xfrm>
            <a:off x="4858390" y="3136392"/>
            <a:ext cx="539496" cy="539496"/>
          </a:xfrm>
          <a:prstGeom prst="rect">
            <a:avLst/>
          </a:prstGeom>
        </p:spPr>
      </p:pic>
      <p:sp>
        <p:nvSpPr>
          <p:cNvPr id="15" name="Text 8"/>
          <p:cNvSpPr/>
          <p:nvPr/>
        </p:nvSpPr>
        <p:spPr>
          <a:xfrm>
            <a:off x="4190878" y="4069080"/>
            <a:ext cx="1874520" cy="640080"/>
          </a:xfrm>
          <a:prstGeom prst="rect">
            <a:avLst/>
          </a:prstGeom>
          <a:noFill/>
          <a:ln/>
        </p:spPr>
        <p:txBody>
          <a:bodyPr wrap="square" rtlCol="0" anchor="ctr"/>
          <a:lstStyle/>
          <a:p>
            <a:pPr algn="ctr" indent="0" marL="0">
              <a:lnSpc>
                <a:spcPct val="100000"/>
              </a:lnSpc>
              <a:buNone/>
            </a:pPr>
            <a:r>
              <a:rPr lang="en-US" sz="1250" b="1" dirty="0">
                <a:solidFill>
                  <a:srgbClr val="243746"/>
                </a:solidFill>
                <a:latin typeface="Calibri" pitchFamily="34" charset="0"/>
                <a:ea typeface="Calibri" pitchFamily="34" charset="-122"/>
                <a:cs typeface="Calibri" pitchFamily="34" charset="-120"/>
              </a:rPr>
              <a:t>Data</a:t>
            </a:r>
            <a:endParaRPr lang="en-US" sz="1250" dirty="0"/>
          </a:p>
          <a:p>
            <a:pPr algn="ctr" indent="0" marL="0">
              <a:lnSpc>
                <a:spcPct val="100000"/>
              </a:lnSpc>
              <a:buNone/>
            </a:pPr>
            <a:r>
              <a:rPr lang="en-US" sz="1250" b="1" dirty="0">
                <a:solidFill>
                  <a:srgbClr val="243746"/>
                </a:solidFill>
                <a:latin typeface="Calibri" pitchFamily="34" charset="0"/>
                <a:ea typeface="Calibri" pitchFamily="34" charset="-122"/>
                <a:cs typeface="Calibri" pitchFamily="34" charset="-120"/>
              </a:rPr>
              <a:t>Collection</a:t>
            </a:r>
            <a:endParaRPr lang="en-US" sz="1250" dirty="0"/>
          </a:p>
        </p:txBody>
      </p:sp>
      <p:pic>
        <p:nvPicPr>
          <p:cNvPr id="16" name="Image 5" descr="preencoded.png">    </p:cNvPr>
          <p:cNvPicPr>
            <a:picLocks noChangeAspect="1"/>
          </p:cNvPicPr>
          <p:nvPr/>
        </p:nvPicPr>
        <p:blipFill>
          <a:blip r:embed="rId6"/>
          <a:stretch>
            <a:fillRect/>
          </a:stretch>
        </p:blipFill>
        <p:spPr>
          <a:xfrm>
            <a:off x="5931256" y="3246120"/>
            <a:ext cx="329184" cy="329184"/>
          </a:xfrm>
          <a:prstGeom prst="rect">
            <a:avLst/>
          </a:prstGeom>
        </p:spPr>
      </p:pic>
      <p:sp>
        <p:nvSpPr>
          <p:cNvPr id="17" name="Shape 9"/>
          <p:cNvSpPr/>
          <p:nvPr/>
        </p:nvSpPr>
        <p:spPr>
          <a:xfrm>
            <a:off x="6537777" y="2880360"/>
            <a:ext cx="1051560" cy="1051560"/>
          </a:xfrm>
          <a:prstGeom prst="ellipse">
            <a:avLst/>
          </a:prstGeom>
          <a:solidFill>
            <a:srgbClr val="1C7F82"/>
          </a:solidFill>
          <a:ln/>
        </p:spPr>
      </p:sp>
      <p:pic>
        <p:nvPicPr>
          <p:cNvPr id="18" name="Image 6" descr="preencoded.png">    </p:cNvPr>
          <p:cNvPicPr>
            <a:picLocks noChangeAspect="1"/>
          </p:cNvPicPr>
          <p:nvPr/>
        </p:nvPicPr>
        <p:blipFill>
          <a:blip r:embed="rId7"/>
          <a:stretch>
            <a:fillRect/>
          </a:stretch>
        </p:blipFill>
        <p:spPr>
          <a:xfrm>
            <a:off x="6793809" y="3136392"/>
            <a:ext cx="539496" cy="539496"/>
          </a:xfrm>
          <a:prstGeom prst="rect">
            <a:avLst/>
          </a:prstGeom>
        </p:spPr>
      </p:pic>
      <p:sp>
        <p:nvSpPr>
          <p:cNvPr id="19" name="Text 10"/>
          <p:cNvSpPr/>
          <p:nvPr/>
        </p:nvSpPr>
        <p:spPr>
          <a:xfrm>
            <a:off x="6126297" y="4069080"/>
            <a:ext cx="1874520" cy="640080"/>
          </a:xfrm>
          <a:prstGeom prst="rect">
            <a:avLst/>
          </a:prstGeom>
          <a:noFill/>
          <a:ln/>
        </p:spPr>
        <p:txBody>
          <a:bodyPr wrap="square" rtlCol="0" anchor="ctr"/>
          <a:lstStyle/>
          <a:p>
            <a:pPr algn="ctr" indent="0" marL="0">
              <a:lnSpc>
                <a:spcPct val="100000"/>
              </a:lnSpc>
              <a:buNone/>
            </a:pPr>
            <a:r>
              <a:rPr lang="en-US" sz="1250" b="1" dirty="0">
                <a:solidFill>
                  <a:srgbClr val="243746"/>
                </a:solidFill>
                <a:latin typeface="Calibri" pitchFamily="34" charset="0"/>
                <a:ea typeface="Calibri" pitchFamily="34" charset="-122"/>
                <a:cs typeface="Calibri" pitchFamily="34" charset="-120"/>
              </a:rPr>
              <a:t>Analysis</a:t>
            </a:r>
            <a:endParaRPr lang="en-US" sz="1250" dirty="0"/>
          </a:p>
        </p:txBody>
      </p:sp>
      <p:pic>
        <p:nvPicPr>
          <p:cNvPr id="20" name="Image 7" descr="preencoded.png">    </p:cNvPr>
          <p:cNvPicPr>
            <a:picLocks noChangeAspect="1"/>
          </p:cNvPicPr>
          <p:nvPr/>
        </p:nvPicPr>
        <p:blipFill>
          <a:blip r:embed="rId8"/>
          <a:stretch>
            <a:fillRect/>
          </a:stretch>
        </p:blipFill>
        <p:spPr>
          <a:xfrm>
            <a:off x="7866675" y="3246120"/>
            <a:ext cx="329184" cy="329184"/>
          </a:xfrm>
          <a:prstGeom prst="rect">
            <a:avLst/>
          </a:prstGeom>
        </p:spPr>
      </p:pic>
      <p:sp>
        <p:nvSpPr>
          <p:cNvPr id="21" name="Shape 11"/>
          <p:cNvSpPr/>
          <p:nvPr/>
        </p:nvSpPr>
        <p:spPr>
          <a:xfrm>
            <a:off x="8473196" y="2880360"/>
            <a:ext cx="1051560" cy="1051560"/>
          </a:xfrm>
          <a:prstGeom prst="ellipse">
            <a:avLst/>
          </a:prstGeom>
          <a:solidFill>
            <a:srgbClr val="1B3A5C"/>
          </a:solidFill>
          <a:ln/>
        </p:spPr>
      </p:sp>
      <p:pic>
        <p:nvPicPr>
          <p:cNvPr id="22" name="Image 8" descr="preencoded.png">    </p:cNvPr>
          <p:cNvPicPr>
            <a:picLocks noChangeAspect="1"/>
          </p:cNvPicPr>
          <p:nvPr/>
        </p:nvPicPr>
        <p:blipFill>
          <a:blip r:embed="rId9"/>
          <a:stretch>
            <a:fillRect/>
          </a:stretch>
        </p:blipFill>
        <p:spPr>
          <a:xfrm>
            <a:off x="8729228" y="3136392"/>
            <a:ext cx="539496" cy="539496"/>
          </a:xfrm>
          <a:prstGeom prst="rect">
            <a:avLst/>
          </a:prstGeom>
        </p:spPr>
      </p:pic>
      <p:sp>
        <p:nvSpPr>
          <p:cNvPr id="23" name="Text 12"/>
          <p:cNvSpPr/>
          <p:nvPr/>
        </p:nvSpPr>
        <p:spPr>
          <a:xfrm>
            <a:off x="8061716" y="4069080"/>
            <a:ext cx="1874520" cy="640080"/>
          </a:xfrm>
          <a:prstGeom prst="rect">
            <a:avLst/>
          </a:prstGeom>
          <a:noFill/>
          <a:ln/>
        </p:spPr>
        <p:txBody>
          <a:bodyPr wrap="square" rtlCol="0" anchor="ctr"/>
          <a:lstStyle/>
          <a:p>
            <a:pPr algn="ctr" indent="0" marL="0">
              <a:lnSpc>
                <a:spcPct val="100000"/>
              </a:lnSpc>
              <a:buNone/>
            </a:pPr>
            <a:r>
              <a:rPr lang="en-US" sz="1250" b="1" dirty="0">
                <a:solidFill>
                  <a:srgbClr val="243746"/>
                </a:solidFill>
                <a:latin typeface="Calibri" pitchFamily="34" charset="0"/>
                <a:ea typeface="Calibri" pitchFamily="34" charset="-122"/>
                <a:cs typeface="Calibri" pitchFamily="34" charset="-120"/>
              </a:rPr>
              <a:t>Insights</a:t>
            </a:r>
            <a:endParaRPr lang="en-US" sz="1250" dirty="0"/>
          </a:p>
        </p:txBody>
      </p:sp>
      <p:pic>
        <p:nvPicPr>
          <p:cNvPr id="24" name="Image 9" descr="preencoded.png">    </p:cNvPr>
          <p:cNvPicPr>
            <a:picLocks noChangeAspect="1"/>
          </p:cNvPicPr>
          <p:nvPr/>
        </p:nvPicPr>
        <p:blipFill>
          <a:blip r:embed="rId10"/>
          <a:stretch>
            <a:fillRect/>
          </a:stretch>
        </p:blipFill>
        <p:spPr>
          <a:xfrm>
            <a:off x="9802094" y="3246120"/>
            <a:ext cx="329184" cy="329184"/>
          </a:xfrm>
          <a:prstGeom prst="rect">
            <a:avLst/>
          </a:prstGeom>
        </p:spPr>
      </p:pic>
      <p:sp>
        <p:nvSpPr>
          <p:cNvPr id="25" name="Shape 13"/>
          <p:cNvSpPr/>
          <p:nvPr/>
        </p:nvSpPr>
        <p:spPr>
          <a:xfrm>
            <a:off x="10408615" y="2880360"/>
            <a:ext cx="1051560" cy="1051560"/>
          </a:xfrm>
          <a:prstGeom prst="ellipse">
            <a:avLst/>
          </a:prstGeom>
          <a:solidFill>
            <a:srgbClr val="1C7F82"/>
          </a:solidFill>
          <a:ln/>
        </p:spPr>
      </p:sp>
      <p:pic>
        <p:nvPicPr>
          <p:cNvPr id="26" name="Image 10" descr="preencoded.png">    </p:cNvPr>
          <p:cNvPicPr>
            <a:picLocks noChangeAspect="1"/>
          </p:cNvPicPr>
          <p:nvPr/>
        </p:nvPicPr>
        <p:blipFill>
          <a:blip r:embed="rId11"/>
          <a:stretch>
            <a:fillRect/>
          </a:stretch>
        </p:blipFill>
        <p:spPr>
          <a:xfrm>
            <a:off x="10664647" y="3136392"/>
            <a:ext cx="539496" cy="539496"/>
          </a:xfrm>
          <a:prstGeom prst="rect">
            <a:avLst/>
          </a:prstGeom>
        </p:spPr>
      </p:pic>
      <p:sp>
        <p:nvSpPr>
          <p:cNvPr id="27" name="Text 14"/>
          <p:cNvSpPr/>
          <p:nvPr/>
        </p:nvSpPr>
        <p:spPr>
          <a:xfrm>
            <a:off x="9997135" y="4069080"/>
            <a:ext cx="1874520" cy="640080"/>
          </a:xfrm>
          <a:prstGeom prst="rect">
            <a:avLst/>
          </a:prstGeom>
          <a:noFill/>
          <a:ln/>
        </p:spPr>
        <p:txBody>
          <a:bodyPr wrap="square" rtlCol="0" anchor="ctr"/>
          <a:lstStyle/>
          <a:p>
            <a:pPr algn="ctr" indent="0" marL="0">
              <a:lnSpc>
                <a:spcPct val="100000"/>
              </a:lnSpc>
              <a:buNone/>
            </a:pPr>
            <a:r>
              <a:rPr lang="en-US" sz="1250" b="1" dirty="0">
                <a:solidFill>
                  <a:srgbClr val="243746"/>
                </a:solidFill>
                <a:latin typeface="Calibri" pitchFamily="34" charset="0"/>
                <a:ea typeface="Calibri" pitchFamily="34" charset="-122"/>
                <a:cs typeface="Calibri" pitchFamily="34" charset="-120"/>
              </a:rPr>
              <a:t>Recommen-</a:t>
            </a:r>
            <a:endParaRPr lang="en-US" sz="1250" dirty="0"/>
          </a:p>
          <a:p>
            <a:pPr algn="ctr" indent="0" marL="0">
              <a:lnSpc>
                <a:spcPct val="100000"/>
              </a:lnSpc>
              <a:buNone/>
            </a:pPr>
            <a:r>
              <a:rPr lang="en-US" sz="1250" b="1" dirty="0">
                <a:solidFill>
                  <a:srgbClr val="243746"/>
                </a:solidFill>
                <a:latin typeface="Calibri" pitchFamily="34" charset="0"/>
                <a:ea typeface="Calibri" pitchFamily="34" charset="-122"/>
                <a:cs typeface="Calibri" pitchFamily="34" charset="-120"/>
              </a:rPr>
              <a:t>dations</a:t>
            </a:r>
            <a:endParaRPr lang="en-US" sz="1250" dirty="0"/>
          </a:p>
        </p:txBody>
      </p:sp>
      <p:sp>
        <p:nvSpPr>
          <p:cNvPr id="28" name="Shape 15"/>
          <p:cNvSpPr/>
          <p:nvPr/>
        </p:nvSpPr>
        <p:spPr>
          <a:xfrm>
            <a:off x="640080" y="4892040"/>
            <a:ext cx="10881360" cy="1234440"/>
          </a:xfrm>
          <a:prstGeom prst="roundRect">
            <a:avLst>
              <a:gd name="adj" fmla="val 4444"/>
            </a:avLst>
          </a:prstGeom>
          <a:solidFill>
            <a:srgbClr val="E3E8EB"/>
          </a:solidFill>
          <a:ln/>
        </p:spPr>
      </p:sp>
      <p:sp>
        <p:nvSpPr>
          <p:cNvPr id="29" name="Text 16"/>
          <p:cNvSpPr/>
          <p:nvPr/>
        </p:nvSpPr>
        <p:spPr>
          <a:xfrm>
            <a:off x="914400" y="5029200"/>
            <a:ext cx="10332720" cy="457200"/>
          </a:xfrm>
          <a:prstGeom prst="rect">
            <a:avLst/>
          </a:prstGeom>
          <a:noFill/>
          <a:ln/>
        </p:spPr>
        <p:txBody>
          <a:bodyPr wrap="square" rtlCol="0" anchor="ctr"/>
          <a:lstStyle/>
          <a:p>
            <a:pPr indent="0" marL="0">
              <a:buNone/>
            </a:pPr>
            <a:r>
              <a:rPr lang="en-US" sz="1250" b="1" dirty="0">
                <a:solidFill>
                  <a:srgbClr val="1B3A5C"/>
                </a:solidFill>
                <a:latin typeface="Calibri" pitchFamily="34" charset="0"/>
                <a:ea typeface="Calibri" pitchFamily="34" charset="-122"/>
                <a:cs typeface="Calibri" pitchFamily="34" charset="-120"/>
              </a:rPr>
              <a:t>Target students: K-8 · Grades 9–12 · Undergraduate · Postgraduate/Professional — with a special focus on students from underserved communities.</a:t>
            </a:r>
            <a:endParaRPr lang="en-US" sz="1250" dirty="0"/>
          </a:p>
        </p:txBody>
      </p:sp>
      <p:sp>
        <p:nvSpPr>
          <p:cNvPr id="30" name="Text 17"/>
          <p:cNvSpPr/>
          <p:nvPr/>
        </p:nvSpPr>
        <p:spPr>
          <a:xfrm>
            <a:off x="914400" y="5468112"/>
            <a:ext cx="10332720" cy="548640"/>
          </a:xfrm>
          <a:prstGeom prst="rect">
            <a:avLst/>
          </a:prstGeom>
          <a:noFill/>
          <a:ln/>
        </p:spPr>
        <p:txBody>
          <a:bodyPr wrap="square" rtlCol="0" anchor="ctr"/>
          <a:lstStyle/>
          <a:p>
            <a:pPr indent="0" marL="0">
              <a:buNone/>
            </a:pPr>
            <a:r>
              <a:rPr lang="en-US" sz="1150" i="1" dirty="0">
                <a:solidFill>
                  <a:srgbClr val="5B6B78"/>
                </a:solidFill>
                <a:latin typeface="Calibri" pitchFamily="34" charset="0"/>
                <a:ea typeface="Calibri" pitchFamily="34" charset="-122"/>
                <a:cs typeface="Calibri" pitchFamily="34" charset="-120"/>
              </a:rPr>
              <a:t>Overall purpose: to identify and analyse the barriers that impede effective exam preparation, and translate them into an evidence-based, community-rooted understanding.</a:t>
            </a:r>
            <a:endParaRPr lang="en-US" sz="1150" dirty="0"/>
          </a:p>
        </p:txBody>
      </p:sp>
      <p:sp>
        <p:nvSpPr>
          <p:cNvPr id="31" name="Text 18"/>
          <p:cNvSpPr/>
          <p:nvPr/>
        </p:nvSpPr>
        <p:spPr>
          <a:xfrm>
            <a:off x="457200" y="6519672"/>
            <a:ext cx="7315200" cy="274320"/>
          </a:xfrm>
          <a:prstGeom prst="rect">
            <a:avLst/>
          </a:prstGeom>
          <a:noFill/>
          <a:ln/>
        </p:spPr>
        <p:txBody>
          <a:bodyPr wrap="square" rtlCol="0" anchor="ctr"/>
          <a:lstStyle/>
          <a:p>
            <a:pPr algn="l" indent="0" marL="0">
              <a:buNone/>
            </a:pPr>
            <a:r>
              <a:rPr lang="en-US" sz="900" dirty="0">
                <a:solidFill>
                  <a:srgbClr val="5B6B78"/>
                </a:solidFill>
                <a:latin typeface="Calibri" pitchFamily="34" charset="0"/>
                <a:ea typeface="Calibri" pitchFamily="34" charset="-122"/>
                <a:cs typeface="Calibri" pitchFamily="34" charset="-120"/>
              </a:rPr>
              <a:t>Understanding Examination Preparation Challenges</a:t>
            </a:r>
            <a:endParaRPr lang="en-US" sz="900" dirty="0"/>
          </a:p>
        </p:txBody>
      </p:sp>
      <p:sp>
        <p:nvSpPr>
          <p:cNvPr id="32" name="Text 19"/>
          <p:cNvSpPr/>
          <p:nvPr/>
        </p:nvSpPr>
        <p:spPr>
          <a:xfrm>
            <a:off x="11277295" y="6519672"/>
            <a:ext cx="457200" cy="274320"/>
          </a:xfrm>
          <a:prstGeom prst="rect">
            <a:avLst/>
          </a:prstGeom>
          <a:noFill/>
          <a:ln/>
        </p:spPr>
        <p:txBody>
          <a:bodyPr wrap="square" rtlCol="0" anchor="ctr"/>
          <a:lstStyle/>
          <a:p>
            <a:pPr algn="r" indent="0" marL="0">
              <a:buNone/>
            </a:pPr>
            <a:r>
              <a:rPr lang="en-US" sz="900" dirty="0">
                <a:solidFill>
                  <a:srgbClr val="5B6B78"/>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12191695" cy="960120"/>
          </a:xfrm>
          <a:prstGeom prst="rect">
            <a:avLst/>
          </a:prstGeom>
          <a:solidFill>
            <a:srgbClr val="F1F4F6"/>
          </a:solidFill>
          <a:ln/>
        </p:spPr>
      </p:sp>
      <p:sp>
        <p:nvSpPr>
          <p:cNvPr id="3" name="Text 1"/>
          <p:cNvSpPr/>
          <p:nvPr/>
        </p:nvSpPr>
        <p:spPr>
          <a:xfrm>
            <a:off x="640080" y="256032"/>
            <a:ext cx="7315200" cy="502920"/>
          </a:xfrm>
          <a:prstGeom prst="rect">
            <a:avLst/>
          </a:prstGeom>
          <a:noFill/>
          <a:ln/>
        </p:spPr>
        <p:txBody>
          <a:bodyPr wrap="square" rtlCol="0" anchor="ctr"/>
          <a:lstStyle/>
          <a:p>
            <a:pPr indent="0" marL="0">
              <a:buNone/>
            </a:pPr>
            <a:r>
              <a:rPr lang="en-US" sz="2800" b="1" dirty="0">
                <a:solidFill>
                  <a:srgbClr val="1B3A5C"/>
                </a:solidFill>
                <a:latin typeface="Cambria" pitchFamily="34" charset="0"/>
                <a:ea typeface="Cambria" pitchFamily="34" charset="-122"/>
                <a:cs typeface="Cambria" pitchFamily="34" charset="-120"/>
              </a:rPr>
              <a:t>Problem Statement</a:t>
            </a:r>
            <a:endParaRPr lang="en-US" sz="2800" dirty="0"/>
          </a:p>
        </p:txBody>
      </p:sp>
      <p:sp>
        <p:nvSpPr>
          <p:cNvPr id="4" name="Text 2"/>
          <p:cNvSpPr/>
          <p:nvPr/>
        </p:nvSpPr>
        <p:spPr>
          <a:xfrm>
            <a:off x="640080" y="658368"/>
            <a:ext cx="9601200" cy="274320"/>
          </a:xfrm>
          <a:prstGeom prst="rect">
            <a:avLst/>
          </a:prstGeom>
          <a:noFill/>
          <a:ln/>
        </p:spPr>
        <p:txBody>
          <a:bodyPr wrap="square" rtlCol="0" anchor="ctr"/>
          <a:lstStyle/>
          <a:p>
            <a:pPr indent="0" marL="0">
              <a:buNone/>
            </a:pPr>
            <a:r>
              <a:rPr lang="en-US" sz="1150" i="1" dirty="0">
                <a:solidFill>
                  <a:srgbClr val="5B6B78"/>
                </a:solidFill>
                <a:latin typeface="Calibri" pitchFamily="34" charset="0"/>
                <a:ea typeface="Calibri" pitchFamily="34" charset="-122"/>
                <a:cs typeface="Calibri" pitchFamily="34" charset="-120"/>
              </a:rPr>
              <a:t>Seven challenge categories identified through field experience &amp; preliminary community consultation</a:t>
            </a:r>
            <a:endParaRPr lang="en-US" sz="1150" dirty="0"/>
          </a:p>
        </p:txBody>
      </p:sp>
      <p:sp>
        <p:nvSpPr>
          <p:cNvPr id="5" name="Shape 3"/>
          <p:cNvSpPr/>
          <p:nvPr/>
        </p:nvSpPr>
        <p:spPr>
          <a:xfrm>
            <a:off x="640080" y="1234440"/>
            <a:ext cx="2615184" cy="2331720"/>
          </a:xfrm>
          <a:prstGeom prst="roundRect">
            <a:avLst>
              <a:gd name="adj" fmla="val 2745"/>
            </a:avLst>
          </a:prstGeom>
          <a:solidFill>
            <a:srgbClr val="FFFFFF"/>
          </a:solidFill>
          <a:ln w="12700">
            <a:solidFill>
              <a:srgbClr val="E3E8EB"/>
            </a:solidFill>
            <a:prstDash val="solid"/>
          </a:ln>
          <a:effectLst>
            <a:outerShdw sx="100000" sy="100000" kx="0" ky="0" algn="bl" rotWithShape="0" blurRad="76200" dist="25400" dir="5400000">
              <a:srgbClr val="9AA9B4">
                <a:alpha val="25000"/>
              </a:srgbClr>
            </a:outerShdw>
          </a:effectLst>
        </p:spPr>
      </p:sp>
      <p:sp>
        <p:nvSpPr>
          <p:cNvPr id="6" name="Shape 4"/>
          <p:cNvSpPr/>
          <p:nvPr/>
        </p:nvSpPr>
        <p:spPr>
          <a:xfrm>
            <a:off x="1618488" y="1463040"/>
            <a:ext cx="658368" cy="658368"/>
          </a:xfrm>
          <a:prstGeom prst="ellipse">
            <a:avLst/>
          </a:prstGeom>
          <a:solidFill>
            <a:srgbClr val="1B3A5C"/>
          </a:solidFill>
          <a:ln/>
        </p:spPr>
      </p:sp>
      <p:pic>
        <p:nvPicPr>
          <p:cNvPr id="7" name="Image 0" descr="preencoded.png">    </p:cNvPr>
          <p:cNvPicPr>
            <a:picLocks noChangeAspect="1"/>
          </p:cNvPicPr>
          <p:nvPr/>
        </p:nvPicPr>
        <p:blipFill>
          <a:blip r:embed="rId1"/>
          <a:stretch>
            <a:fillRect/>
          </a:stretch>
        </p:blipFill>
        <p:spPr>
          <a:xfrm>
            <a:off x="1773936" y="1618488"/>
            <a:ext cx="347472" cy="347472"/>
          </a:xfrm>
          <a:prstGeom prst="rect">
            <a:avLst/>
          </a:prstGeom>
        </p:spPr>
      </p:pic>
      <p:sp>
        <p:nvSpPr>
          <p:cNvPr id="8" name="Text 5"/>
          <p:cNvSpPr/>
          <p:nvPr/>
        </p:nvSpPr>
        <p:spPr>
          <a:xfrm>
            <a:off x="777240" y="2258568"/>
            <a:ext cx="2340864" cy="457200"/>
          </a:xfrm>
          <a:prstGeom prst="rect">
            <a:avLst/>
          </a:prstGeom>
          <a:noFill/>
          <a:ln/>
        </p:spPr>
        <p:txBody>
          <a:bodyPr wrap="square" rtlCol="0" anchor="ctr"/>
          <a:lstStyle/>
          <a:p>
            <a:pPr algn="ctr" indent="0" marL="0">
              <a:lnSpc>
                <a:spcPct val="100000"/>
              </a:lnSpc>
              <a:buNone/>
            </a:pPr>
            <a:r>
              <a:rPr lang="en-US" sz="1200" b="1" dirty="0">
                <a:solidFill>
                  <a:srgbClr val="1B3A5C"/>
                </a:solidFill>
                <a:latin typeface="Calibri" pitchFamily="34" charset="0"/>
                <a:ea typeface="Calibri" pitchFamily="34" charset="-122"/>
                <a:cs typeface="Calibri" pitchFamily="34" charset="-120"/>
              </a:rPr>
              <a:t>Language Barrier</a:t>
            </a:r>
            <a:endParaRPr lang="en-US" sz="1200" dirty="0"/>
          </a:p>
        </p:txBody>
      </p:sp>
      <p:sp>
        <p:nvSpPr>
          <p:cNvPr id="9" name="Text 6"/>
          <p:cNvSpPr/>
          <p:nvPr/>
        </p:nvSpPr>
        <p:spPr>
          <a:xfrm>
            <a:off x="804672" y="2697480"/>
            <a:ext cx="2286000" cy="822960"/>
          </a:xfrm>
          <a:prstGeom prst="rect">
            <a:avLst/>
          </a:prstGeom>
          <a:noFill/>
          <a:ln/>
        </p:spPr>
        <p:txBody>
          <a:bodyPr wrap="square" rtlCol="0" anchor="ctr"/>
          <a:lstStyle/>
          <a:p>
            <a:pPr algn="ctr" indent="0" marL="0">
              <a:lnSpc>
                <a:spcPct val="108000"/>
              </a:lnSpc>
              <a:buNone/>
            </a:pPr>
            <a:r>
              <a:rPr lang="en-US" sz="950" dirty="0">
                <a:solidFill>
                  <a:srgbClr val="5B6B78"/>
                </a:solidFill>
                <a:latin typeface="Calibri" pitchFamily="34" charset="0"/>
                <a:ea typeface="Calibri" pitchFamily="34" charset="-122"/>
                <a:cs typeface="Calibri" pitchFamily="34" charset="-120"/>
              </a:rPr>
              <a:t>English-medium instruction is a double burden for mother-tongue speakers of regional languages.</a:t>
            </a:r>
            <a:endParaRPr lang="en-US" sz="950" dirty="0"/>
          </a:p>
        </p:txBody>
      </p:sp>
      <p:sp>
        <p:nvSpPr>
          <p:cNvPr id="10" name="Shape 7"/>
          <p:cNvSpPr/>
          <p:nvPr/>
        </p:nvSpPr>
        <p:spPr>
          <a:xfrm>
            <a:off x="3383280" y="1234440"/>
            <a:ext cx="2615184" cy="2331720"/>
          </a:xfrm>
          <a:prstGeom prst="roundRect">
            <a:avLst>
              <a:gd name="adj" fmla="val 2745"/>
            </a:avLst>
          </a:prstGeom>
          <a:solidFill>
            <a:srgbClr val="FFFFFF"/>
          </a:solidFill>
          <a:ln w="12700">
            <a:solidFill>
              <a:srgbClr val="E3E8EB"/>
            </a:solidFill>
            <a:prstDash val="solid"/>
          </a:ln>
          <a:effectLst>
            <a:outerShdw sx="100000" sy="100000" kx="0" ky="0" algn="bl" rotWithShape="0" blurRad="76200" dist="25400" dir="5400000">
              <a:srgbClr val="9AA9B4">
                <a:alpha val="25000"/>
              </a:srgbClr>
            </a:outerShdw>
          </a:effectLst>
        </p:spPr>
      </p:sp>
      <p:sp>
        <p:nvSpPr>
          <p:cNvPr id="11" name="Shape 8"/>
          <p:cNvSpPr/>
          <p:nvPr/>
        </p:nvSpPr>
        <p:spPr>
          <a:xfrm>
            <a:off x="4361688" y="1463040"/>
            <a:ext cx="658368" cy="658368"/>
          </a:xfrm>
          <a:prstGeom prst="ellipse">
            <a:avLst/>
          </a:prstGeom>
          <a:solidFill>
            <a:srgbClr val="1B3A5C"/>
          </a:solidFill>
          <a:ln/>
        </p:spPr>
      </p:sp>
      <p:pic>
        <p:nvPicPr>
          <p:cNvPr id="12" name="Image 1" descr="preencoded.png">    </p:cNvPr>
          <p:cNvPicPr>
            <a:picLocks noChangeAspect="1"/>
          </p:cNvPicPr>
          <p:nvPr/>
        </p:nvPicPr>
        <p:blipFill>
          <a:blip r:embed="rId2"/>
          <a:stretch>
            <a:fillRect/>
          </a:stretch>
        </p:blipFill>
        <p:spPr>
          <a:xfrm>
            <a:off x="4517136" y="1618488"/>
            <a:ext cx="347472" cy="347472"/>
          </a:xfrm>
          <a:prstGeom prst="rect">
            <a:avLst/>
          </a:prstGeom>
        </p:spPr>
      </p:pic>
      <p:sp>
        <p:nvSpPr>
          <p:cNvPr id="13" name="Text 9"/>
          <p:cNvSpPr/>
          <p:nvPr/>
        </p:nvSpPr>
        <p:spPr>
          <a:xfrm>
            <a:off x="3520440" y="2258568"/>
            <a:ext cx="2340864" cy="457200"/>
          </a:xfrm>
          <a:prstGeom prst="rect">
            <a:avLst/>
          </a:prstGeom>
          <a:noFill/>
          <a:ln/>
        </p:spPr>
        <p:txBody>
          <a:bodyPr wrap="square" rtlCol="0" anchor="ctr"/>
          <a:lstStyle/>
          <a:p>
            <a:pPr algn="ctr" indent="0" marL="0">
              <a:lnSpc>
                <a:spcPct val="100000"/>
              </a:lnSpc>
              <a:buNone/>
            </a:pPr>
            <a:r>
              <a:rPr lang="en-US" sz="1200" b="1" dirty="0">
                <a:solidFill>
                  <a:srgbClr val="1B3A5C"/>
                </a:solidFill>
                <a:latin typeface="Calibri" pitchFamily="34" charset="0"/>
                <a:ea typeface="Calibri" pitchFamily="34" charset="-122"/>
                <a:cs typeface="Calibri" pitchFamily="34" charset="-120"/>
              </a:rPr>
              <a:t>Home Study Environment</a:t>
            </a:r>
            <a:endParaRPr lang="en-US" sz="1200" dirty="0"/>
          </a:p>
        </p:txBody>
      </p:sp>
      <p:sp>
        <p:nvSpPr>
          <p:cNvPr id="14" name="Text 10"/>
          <p:cNvSpPr/>
          <p:nvPr/>
        </p:nvSpPr>
        <p:spPr>
          <a:xfrm>
            <a:off x="3547872" y="2697480"/>
            <a:ext cx="2286000" cy="822960"/>
          </a:xfrm>
          <a:prstGeom prst="rect">
            <a:avLst/>
          </a:prstGeom>
          <a:noFill/>
          <a:ln/>
        </p:spPr>
        <p:txBody>
          <a:bodyPr wrap="square" rtlCol="0" anchor="ctr"/>
          <a:lstStyle/>
          <a:p>
            <a:pPr algn="ctr" indent="0" marL="0">
              <a:lnSpc>
                <a:spcPct val="108000"/>
              </a:lnSpc>
              <a:buNone/>
            </a:pPr>
            <a:r>
              <a:rPr lang="en-US" sz="950" dirty="0">
                <a:solidFill>
                  <a:srgbClr val="5B6B78"/>
                </a:solidFill>
                <a:latin typeface="Calibri" pitchFamily="34" charset="0"/>
                <a:ea typeface="Calibri" pitchFamily="34" charset="-122"/>
                <a:cs typeface="Calibri" pitchFamily="34" charset="-120"/>
              </a:rPr>
              <a:t>Low-income &amp; joint-family households often lack a dedicated, distraction-free study space.</a:t>
            </a:r>
            <a:endParaRPr lang="en-US" sz="950" dirty="0"/>
          </a:p>
        </p:txBody>
      </p:sp>
      <p:sp>
        <p:nvSpPr>
          <p:cNvPr id="15" name="Shape 11"/>
          <p:cNvSpPr/>
          <p:nvPr/>
        </p:nvSpPr>
        <p:spPr>
          <a:xfrm>
            <a:off x="6126480" y="1234440"/>
            <a:ext cx="2615184" cy="2331720"/>
          </a:xfrm>
          <a:prstGeom prst="roundRect">
            <a:avLst>
              <a:gd name="adj" fmla="val 2745"/>
            </a:avLst>
          </a:prstGeom>
          <a:solidFill>
            <a:srgbClr val="FFFFFF"/>
          </a:solidFill>
          <a:ln w="12700">
            <a:solidFill>
              <a:srgbClr val="E3E8EB"/>
            </a:solidFill>
            <a:prstDash val="solid"/>
          </a:ln>
          <a:effectLst>
            <a:outerShdw sx="100000" sy="100000" kx="0" ky="0" algn="bl" rotWithShape="0" blurRad="76200" dist="25400" dir="5400000">
              <a:srgbClr val="9AA9B4">
                <a:alpha val="25000"/>
              </a:srgbClr>
            </a:outerShdw>
          </a:effectLst>
        </p:spPr>
      </p:sp>
      <p:sp>
        <p:nvSpPr>
          <p:cNvPr id="16" name="Shape 12"/>
          <p:cNvSpPr/>
          <p:nvPr/>
        </p:nvSpPr>
        <p:spPr>
          <a:xfrm>
            <a:off x="7104888" y="1463040"/>
            <a:ext cx="658368" cy="658368"/>
          </a:xfrm>
          <a:prstGeom prst="ellipse">
            <a:avLst/>
          </a:prstGeom>
          <a:solidFill>
            <a:srgbClr val="1B3A5C"/>
          </a:solidFill>
          <a:ln/>
        </p:spPr>
      </p:sp>
      <p:pic>
        <p:nvPicPr>
          <p:cNvPr id="17" name="Image 2" descr="preencoded.png">    </p:cNvPr>
          <p:cNvPicPr>
            <a:picLocks noChangeAspect="1"/>
          </p:cNvPicPr>
          <p:nvPr/>
        </p:nvPicPr>
        <p:blipFill>
          <a:blip r:embed="rId3"/>
          <a:stretch>
            <a:fillRect/>
          </a:stretch>
        </p:blipFill>
        <p:spPr>
          <a:xfrm>
            <a:off x="7260336" y="1618488"/>
            <a:ext cx="347472" cy="347472"/>
          </a:xfrm>
          <a:prstGeom prst="rect">
            <a:avLst/>
          </a:prstGeom>
        </p:spPr>
      </p:pic>
      <p:sp>
        <p:nvSpPr>
          <p:cNvPr id="18" name="Text 13"/>
          <p:cNvSpPr/>
          <p:nvPr/>
        </p:nvSpPr>
        <p:spPr>
          <a:xfrm>
            <a:off x="6263640" y="2258568"/>
            <a:ext cx="2340864" cy="457200"/>
          </a:xfrm>
          <a:prstGeom prst="rect">
            <a:avLst/>
          </a:prstGeom>
          <a:noFill/>
          <a:ln/>
        </p:spPr>
        <p:txBody>
          <a:bodyPr wrap="square" rtlCol="0" anchor="ctr"/>
          <a:lstStyle/>
          <a:p>
            <a:pPr algn="ctr" indent="0" marL="0">
              <a:lnSpc>
                <a:spcPct val="100000"/>
              </a:lnSpc>
              <a:buNone/>
            </a:pPr>
            <a:r>
              <a:rPr lang="en-US" sz="1200" b="1" dirty="0">
                <a:solidFill>
                  <a:srgbClr val="1B3A5C"/>
                </a:solidFill>
                <a:latin typeface="Calibri" pitchFamily="34" charset="0"/>
                <a:ea typeface="Calibri" pitchFamily="34" charset="-122"/>
                <a:cs typeface="Calibri" pitchFamily="34" charset="-120"/>
              </a:rPr>
              <a:t>Digital Distraction</a:t>
            </a:r>
            <a:endParaRPr lang="en-US" sz="1200" dirty="0"/>
          </a:p>
        </p:txBody>
      </p:sp>
      <p:sp>
        <p:nvSpPr>
          <p:cNvPr id="19" name="Text 14"/>
          <p:cNvSpPr/>
          <p:nvPr/>
        </p:nvSpPr>
        <p:spPr>
          <a:xfrm>
            <a:off x="6291072" y="2697480"/>
            <a:ext cx="2286000" cy="822960"/>
          </a:xfrm>
          <a:prstGeom prst="rect">
            <a:avLst/>
          </a:prstGeom>
          <a:noFill/>
          <a:ln/>
        </p:spPr>
        <p:txBody>
          <a:bodyPr wrap="square" rtlCol="0" anchor="ctr"/>
          <a:lstStyle/>
          <a:p>
            <a:pPr algn="ctr" indent="0" marL="0">
              <a:lnSpc>
                <a:spcPct val="108000"/>
              </a:lnSpc>
              <a:buNone/>
            </a:pPr>
            <a:r>
              <a:rPr lang="en-US" sz="950" dirty="0">
                <a:solidFill>
                  <a:srgbClr val="5B6B78"/>
                </a:solidFill>
                <a:latin typeface="Calibri" pitchFamily="34" charset="0"/>
                <a:ea typeface="Calibri" pitchFamily="34" charset="-122"/>
                <a:cs typeface="Calibri" pitchFamily="34" charset="-120"/>
              </a:rPr>
              <a:t>Instagram, YouTube and WhatsApp compete strongly for students’ limited study time.</a:t>
            </a:r>
            <a:endParaRPr lang="en-US" sz="950" dirty="0"/>
          </a:p>
        </p:txBody>
      </p:sp>
      <p:sp>
        <p:nvSpPr>
          <p:cNvPr id="20" name="Shape 15"/>
          <p:cNvSpPr/>
          <p:nvPr/>
        </p:nvSpPr>
        <p:spPr>
          <a:xfrm>
            <a:off x="8869680" y="1234440"/>
            <a:ext cx="2615184" cy="2331720"/>
          </a:xfrm>
          <a:prstGeom prst="roundRect">
            <a:avLst>
              <a:gd name="adj" fmla="val 2745"/>
            </a:avLst>
          </a:prstGeom>
          <a:solidFill>
            <a:srgbClr val="FFFFFF"/>
          </a:solidFill>
          <a:ln w="12700">
            <a:solidFill>
              <a:srgbClr val="E3E8EB"/>
            </a:solidFill>
            <a:prstDash val="solid"/>
          </a:ln>
          <a:effectLst>
            <a:outerShdw sx="100000" sy="100000" kx="0" ky="0" algn="bl" rotWithShape="0" blurRad="76200" dist="25400" dir="5400000">
              <a:srgbClr val="9AA9B4">
                <a:alpha val="25000"/>
              </a:srgbClr>
            </a:outerShdw>
          </a:effectLst>
        </p:spPr>
      </p:sp>
      <p:sp>
        <p:nvSpPr>
          <p:cNvPr id="21" name="Shape 16"/>
          <p:cNvSpPr/>
          <p:nvPr/>
        </p:nvSpPr>
        <p:spPr>
          <a:xfrm>
            <a:off x="9848088" y="1463040"/>
            <a:ext cx="658368" cy="658368"/>
          </a:xfrm>
          <a:prstGeom prst="ellipse">
            <a:avLst/>
          </a:prstGeom>
          <a:solidFill>
            <a:srgbClr val="1B3A5C"/>
          </a:solidFill>
          <a:ln/>
        </p:spPr>
      </p:sp>
      <p:pic>
        <p:nvPicPr>
          <p:cNvPr id="22" name="Image 3" descr="preencoded.png">    </p:cNvPr>
          <p:cNvPicPr>
            <a:picLocks noChangeAspect="1"/>
          </p:cNvPicPr>
          <p:nvPr/>
        </p:nvPicPr>
        <p:blipFill>
          <a:blip r:embed="rId4"/>
          <a:stretch>
            <a:fillRect/>
          </a:stretch>
        </p:blipFill>
        <p:spPr>
          <a:xfrm>
            <a:off x="10003536" y="1618488"/>
            <a:ext cx="347472" cy="347472"/>
          </a:xfrm>
          <a:prstGeom prst="rect">
            <a:avLst/>
          </a:prstGeom>
        </p:spPr>
      </p:pic>
      <p:sp>
        <p:nvSpPr>
          <p:cNvPr id="23" name="Text 17"/>
          <p:cNvSpPr/>
          <p:nvPr/>
        </p:nvSpPr>
        <p:spPr>
          <a:xfrm>
            <a:off x="9006840" y="2258568"/>
            <a:ext cx="2340864" cy="457200"/>
          </a:xfrm>
          <a:prstGeom prst="rect">
            <a:avLst/>
          </a:prstGeom>
          <a:noFill/>
          <a:ln/>
        </p:spPr>
        <p:txBody>
          <a:bodyPr wrap="square" rtlCol="0" anchor="ctr"/>
          <a:lstStyle/>
          <a:p>
            <a:pPr algn="ctr" indent="0" marL="0">
              <a:lnSpc>
                <a:spcPct val="100000"/>
              </a:lnSpc>
              <a:buNone/>
            </a:pPr>
            <a:r>
              <a:rPr lang="en-US" sz="1200" b="1" dirty="0">
                <a:solidFill>
                  <a:srgbClr val="1B3A5C"/>
                </a:solidFill>
                <a:latin typeface="Calibri" pitchFamily="34" charset="0"/>
                <a:ea typeface="Calibri" pitchFamily="34" charset="-122"/>
                <a:cs typeface="Calibri" pitchFamily="34" charset="-120"/>
              </a:rPr>
              <a:t>Exam Preparation Strategies</a:t>
            </a:r>
            <a:endParaRPr lang="en-US" sz="1200" dirty="0"/>
          </a:p>
        </p:txBody>
      </p:sp>
      <p:sp>
        <p:nvSpPr>
          <p:cNvPr id="24" name="Text 18"/>
          <p:cNvSpPr/>
          <p:nvPr/>
        </p:nvSpPr>
        <p:spPr>
          <a:xfrm>
            <a:off x="9034272" y="2697480"/>
            <a:ext cx="2286000" cy="822960"/>
          </a:xfrm>
          <a:prstGeom prst="rect">
            <a:avLst/>
          </a:prstGeom>
          <a:noFill/>
          <a:ln/>
        </p:spPr>
        <p:txBody>
          <a:bodyPr wrap="square" rtlCol="0" anchor="ctr"/>
          <a:lstStyle/>
          <a:p>
            <a:pPr algn="ctr" indent="0" marL="0">
              <a:lnSpc>
                <a:spcPct val="108000"/>
              </a:lnSpc>
              <a:buNone/>
            </a:pPr>
            <a:r>
              <a:rPr lang="en-US" sz="950" dirty="0">
                <a:solidFill>
                  <a:srgbClr val="5B6B78"/>
                </a:solidFill>
                <a:latin typeface="Calibri" pitchFamily="34" charset="0"/>
                <a:ea typeface="Calibri" pitchFamily="34" charset="-122"/>
                <a:cs typeface="Calibri" pitchFamily="34" charset="-120"/>
              </a:rPr>
              <a:t>Many first-generation learners are unaware of techniques like spaced repetition or active recall.</a:t>
            </a:r>
            <a:endParaRPr lang="en-US" sz="950" dirty="0"/>
          </a:p>
        </p:txBody>
      </p:sp>
      <p:sp>
        <p:nvSpPr>
          <p:cNvPr id="25" name="Shape 19"/>
          <p:cNvSpPr/>
          <p:nvPr/>
        </p:nvSpPr>
        <p:spPr>
          <a:xfrm>
            <a:off x="640080" y="3794760"/>
            <a:ext cx="2615184" cy="2331720"/>
          </a:xfrm>
          <a:prstGeom prst="roundRect">
            <a:avLst>
              <a:gd name="adj" fmla="val 2745"/>
            </a:avLst>
          </a:prstGeom>
          <a:solidFill>
            <a:srgbClr val="FFFFFF"/>
          </a:solidFill>
          <a:ln w="12700">
            <a:solidFill>
              <a:srgbClr val="E3E8EB"/>
            </a:solidFill>
            <a:prstDash val="solid"/>
          </a:ln>
          <a:effectLst>
            <a:outerShdw sx="100000" sy="100000" kx="0" ky="0" algn="bl" rotWithShape="0" blurRad="76200" dist="25400" dir="5400000">
              <a:srgbClr val="9AA9B4">
                <a:alpha val="25000"/>
              </a:srgbClr>
            </a:outerShdw>
          </a:effectLst>
        </p:spPr>
      </p:sp>
      <p:sp>
        <p:nvSpPr>
          <p:cNvPr id="26" name="Shape 20"/>
          <p:cNvSpPr/>
          <p:nvPr/>
        </p:nvSpPr>
        <p:spPr>
          <a:xfrm>
            <a:off x="1618488" y="4023360"/>
            <a:ext cx="658368" cy="658368"/>
          </a:xfrm>
          <a:prstGeom prst="ellipse">
            <a:avLst/>
          </a:prstGeom>
          <a:solidFill>
            <a:srgbClr val="1B3A5C"/>
          </a:solidFill>
          <a:ln/>
        </p:spPr>
      </p:sp>
      <p:pic>
        <p:nvPicPr>
          <p:cNvPr id="27" name="Image 4" descr="preencoded.png">    </p:cNvPr>
          <p:cNvPicPr>
            <a:picLocks noChangeAspect="1"/>
          </p:cNvPicPr>
          <p:nvPr/>
        </p:nvPicPr>
        <p:blipFill>
          <a:blip r:embed="rId5"/>
          <a:stretch>
            <a:fillRect/>
          </a:stretch>
        </p:blipFill>
        <p:spPr>
          <a:xfrm>
            <a:off x="1773936" y="4178808"/>
            <a:ext cx="347472" cy="347472"/>
          </a:xfrm>
          <a:prstGeom prst="rect">
            <a:avLst/>
          </a:prstGeom>
        </p:spPr>
      </p:pic>
      <p:sp>
        <p:nvSpPr>
          <p:cNvPr id="28" name="Text 21"/>
          <p:cNvSpPr/>
          <p:nvPr/>
        </p:nvSpPr>
        <p:spPr>
          <a:xfrm>
            <a:off x="777240" y="4818888"/>
            <a:ext cx="2340864" cy="457200"/>
          </a:xfrm>
          <a:prstGeom prst="rect">
            <a:avLst/>
          </a:prstGeom>
          <a:noFill/>
          <a:ln/>
        </p:spPr>
        <p:txBody>
          <a:bodyPr wrap="square" rtlCol="0" anchor="ctr"/>
          <a:lstStyle/>
          <a:p>
            <a:pPr algn="ctr" indent="0" marL="0">
              <a:lnSpc>
                <a:spcPct val="100000"/>
              </a:lnSpc>
              <a:buNone/>
            </a:pPr>
            <a:r>
              <a:rPr lang="en-US" sz="1200" b="1" dirty="0">
                <a:solidFill>
                  <a:srgbClr val="1B3A5C"/>
                </a:solidFill>
                <a:latin typeface="Calibri" pitchFamily="34" charset="0"/>
                <a:ea typeface="Calibri" pitchFamily="34" charset="-122"/>
                <a:cs typeface="Calibri" pitchFamily="34" charset="-120"/>
              </a:rPr>
              <a:t>Guidance &amp; Mentorship</a:t>
            </a:r>
            <a:endParaRPr lang="en-US" sz="1200" dirty="0"/>
          </a:p>
        </p:txBody>
      </p:sp>
      <p:sp>
        <p:nvSpPr>
          <p:cNvPr id="29" name="Text 22"/>
          <p:cNvSpPr/>
          <p:nvPr/>
        </p:nvSpPr>
        <p:spPr>
          <a:xfrm>
            <a:off x="804672" y="5257800"/>
            <a:ext cx="2286000" cy="822960"/>
          </a:xfrm>
          <a:prstGeom prst="rect">
            <a:avLst/>
          </a:prstGeom>
          <a:noFill/>
          <a:ln/>
        </p:spPr>
        <p:txBody>
          <a:bodyPr wrap="square" rtlCol="0" anchor="ctr"/>
          <a:lstStyle/>
          <a:p>
            <a:pPr algn="ctr" indent="0" marL="0">
              <a:lnSpc>
                <a:spcPct val="108000"/>
              </a:lnSpc>
              <a:buNone/>
            </a:pPr>
            <a:r>
              <a:rPr lang="en-US" sz="950" dirty="0">
                <a:solidFill>
                  <a:srgbClr val="5B6B78"/>
                </a:solidFill>
                <a:latin typeface="Calibri" pitchFamily="34" charset="0"/>
                <a:ea typeface="Calibri" pitchFamily="34" charset="-122"/>
                <a:cs typeface="Calibri" pitchFamily="34" charset="-120"/>
              </a:rPr>
              <a:t>Families without secondary-education experience lack cultural capital to navigate academics.</a:t>
            </a:r>
            <a:endParaRPr lang="en-US" sz="950" dirty="0"/>
          </a:p>
        </p:txBody>
      </p:sp>
      <p:sp>
        <p:nvSpPr>
          <p:cNvPr id="30" name="Shape 23"/>
          <p:cNvSpPr/>
          <p:nvPr/>
        </p:nvSpPr>
        <p:spPr>
          <a:xfrm>
            <a:off x="3383280" y="3794760"/>
            <a:ext cx="2615184" cy="2331720"/>
          </a:xfrm>
          <a:prstGeom prst="roundRect">
            <a:avLst>
              <a:gd name="adj" fmla="val 2745"/>
            </a:avLst>
          </a:prstGeom>
          <a:solidFill>
            <a:srgbClr val="FFFFFF"/>
          </a:solidFill>
          <a:ln w="12700">
            <a:solidFill>
              <a:srgbClr val="E3E8EB"/>
            </a:solidFill>
            <a:prstDash val="solid"/>
          </a:ln>
          <a:effectLst>
            <a:outerShdw sx="100000" sy="100000" kx="0" ky="0" algn="bl" rotWithShape="0" blurRad="76200" dist="25400" dir="5400000">
              <a:srgbClr val="9AA9B4">
                <a:alpha val="25000"/>
              </a:srgbClr>
            </a:outerShdw>
          </a:effectLst>
        </p:spPr>
      </p:sp>
      <p:sp>
        <p:nvSpPr>
          <p:cNvPr id="31" name="Shape 24"/>
          <p:cNvSpPr/>
          <p:nvPr/>
        </p:nvSpPr>
        <p:spPr>
          <a:xfrm>
            <a:off x="4361688" y="4023360"/>
            <a:ext cx="658368" cy="658368"/>
          </a:xfrm>
          <a:prstGeom prst="ellipse">
            <a:avLst/>
          </a:prstGeom>
          <a:solidFill>
            <a:srgbClr val="1B3A5C"/>
          </a:solidFill>
          <a:ln/>
        </p:spPr>
      </p:sp>
      <p:pic>
        <p:nvPicPr>
          <p:cNvPr id="32" name="Image 5" descr="preencoded.png">    </p:cNvPr>
          <p:cNvPicPr>
            <a:picLocks noChangeAspect="1"/>
          </p:cNvPicPr>
          <p:nvPr/>
        </p:nvPicPr>
        <p:blipFill>
          <a:blip r:embed="rId6"/>
          <a:stretch>
            <a:fillRect/>
          </a:stretch>
        </p:blipFill>
        <p:spPr>
          <a:xfrm>
            <a:off x="4517136" y="4178808"/>
            <a:ext cx="347472" cy="347472"/>
          </a:xfrm>
          <a:prstGeom prst="rect">
            <a:avLst/>
          </a:prstGeom>
        </p:spPr>
      </p:pic>
      <p:sp>
        <p:nvSpPr>
          <p:cNvPr id="33" name="Text 25"/>
          <p:cNvSpPr/>
          <p:nvPr/>
        </p:nvSpPr>
        <p:spPr>
          <a:xfrm>
            <a:off x="3520440" y="4818888"/>
            <a:ext cx="2340864" cy="457200"/>
          </a:xfrm>
          <a:prstGeom prst="rect">
            <a:avLst/>
          </a:prstGeom>
          <a:noFill/>
          <a:ln/>
        </p:spPr>
        <p:txBody>
          <a:bodyPr wrap="square" rtlCol="0" anchor="ctr"/>
          <a:lstStyle/>
          <a:p>
            <a:pPr algn="ctr" indent="0" marL="0">
              <a:lnSpc>
                <a:spcPct val="100000"/>
              </a:lnSpc>
              <a:buNone/>
            </a:pPr>
            <a:r>
              <a:rPr lang="en-US" sz="1200" b="1" dirty="0">
                <a:solidFill>
                  <a:srgbClr val="1B3A5C"/>
                </a:solidFill>
                <a:latin typeface="Calibri" pitchFamily="34" charset="0"/>
                <a:ea typeface="Calibri" pitchFamily="34" charset="-122"/>
                <a:cs typeface="Calibri" pitchFamily="34" charset="-120"/>
              </a:rPr>
              <a:t>Financial Stress</a:t>
            </a:r>
            <a:endParaRPr lang="en-US" sz="1200" dirty="0"/>
          </a:p>
        </p:txBody>
      </p:sp>
      <p:sp>
        <p:nvSpPr>
          <p:cNvPr id="34" name="Text 26"/>
          <p:cNvSpPr/>
          <p:nvPr/>
        </p:nvSpPr>
        <p:spPr>
          <a:xfrm>
            <a:off x="3547872" y="5257800"/>
            <a:ext cx="2286000" cy="822960"/>
          </a:xfrm>
          <a:prstGeom prst="rect">
            <a:avLst/>
          </a:prstGeom>
          <a:noFill/>
          <a:ln/>
        </p:spPr>
        <p:txBody>
          <a:bodyPr wrap="square" rtlCol="0" anchor="ctr"/>
          <a:lstStyle/>
          <a:p>
            <a:pPr algn="ctr" indent="0" marL="0">
              <a:lnSpc>
                <a:spcPct val="108000"/>
              </a:lnSpc>
              <a:buNone/>
            </a:pPr>
            <a:r>
              <a:rPr lang="en-US" sz="950" dirty="0">
                <a:solidFill>
                  <a:srgbClr val="5B6B78"/>
                </a:solidFill>
                <a:latin typeface="Calibri" pitchFamily="34" charset="0"/>
                <a:ea typeface="Calibri" pitchFamily="34" charset="-122"/>
                <a:cs typeface="Calibri" pitchFamily="34" charset="-120"/>
              </a:rPr>
              <a:t>Economic pressure at home directly and indirectly affects student performance.</a:t>
            </a:r>
            <a:endParaRPr lang="en-US" sz="950" dirty="0"/>
          </a:p>
        </p:txBody>
      </p:sp>
      <p:sp>
        <p:nvSpPr>
          <p:cNvPr id="35" name="Shape 27"/>
          <p:cNvSpPr/>
          <p:nvPr/>
        </p:nvSpPr>
        <p:spPr>
          <a:xfrm>
            <a:off x="6126480" y="3794760"/>
            <a:ext cx="2615184" cy="2331720"/>
          </a:xfrm>
          <a:prstGeom prst="roundRect">
            <a:avLst>
              <a:gd name="adj" fmla="val 2745"/>
            </a:avLst>
          </a:prstGeom>
          <a:solidFill>
            <a:srgbClr val="FFFFFF"/>
          </a:solidFill>
          <a:ln w="12700">
            <a:solidFill>
              <a:srgbClr val="E3E8EB"/>
            </a:solidFill>
            <a:prstDash val="solid"/>
          </a:ln>
          <a:effectLst>
            <a:outerShdw sx="100000" sy="100000" kx="0" ky="0" algn="bl" rotWithShape="0" blurRad="76200" dist="25400" dir="5400000">
              <a:srgbClr val="9AA9B4">
                <a:alpha val="25000"/>
              </a:srgbClr>
            </a:outerShdw>
          </a:effectLst>
        </p:spPr>
      </p:sp>
      <p:sp>
        <p:nvSpPr>
          <p:cNvPr id="36" name="Shape 28"/>
          <p:cNvSpPr/>
          <p:nvPr/>
        </p:nvSpPr>
        <p:spPr>
          <a:xfrm>
            <a:off x="7104888" y="4023360"/>
            <a:ext cx="658368" cy="658368"/>
          </a:xfrm>
          <a:prstGeom prst="ellipse">
            <a:avLst/>
          </a:prstGeom>
          <a:solidFill>
            <a:srgbClr val="1B3A5C"/>
          </a:solidFill>
          <a:ln/>
        </p:spPr>
      </p:sp>
      <p:pic>
        <p:nvPicPr>
          <p:cNvPr id="37" name="Image 6" descr="preencoded.png">    </p:cNvPr>
          <p:cNvPicPr>
            <a:picLocks noChangeAspect="1"/>
          </p:cNvPicPr>
          <p:nvPr/>
        </p:nvPicPr>
        <p:blipFill>
          <a:blip r:embed="rId7"/>
          <a:stretch>
            <a:fillRect/>
          </a:stretch>
        </p:blipFill>
        <p:spPr>
          <a:xfrm>
            <a:off x="7260336" y="4178808"/>
            <a:ext cx="347472" cy="347472"/>
          </a:xfrm>
          <a:prstGeom prst="rect">
            <a:avLst/>
          </a:prstGeom>
        </p:spPr>
      </p:pic>
      <p:sp>
        <p:nvSpPr>
          <p:cNvPr id="38" name="Text 29"/>
          <p:cNvSpPr/>
          <p:nvPr/>
        </p:nvSpPr>
        <p:spPr>
          <a:xfrm>
            <a:off x="6263640" y="4818888"/>
            <a:ext cx="2340864" cy="457200"/>
          </a:xfrm>
          <a:prstGeom prst="rect">
            <a:avLst/>
          </a:prstGeom>
          <a:noFill/>
          <a:ln/>
        </p:spPr>
        <p:txBody>
          <a:bodyPr wrap="square" rtlCol="0" anchor="ctr"/>
          <a:lstStyle/>
          <a:p>
            <a:pPr algn="ctr" indent="0" marL="0">
              <a:lnSpc>
                <a:spcPct val="100000"/>
              </a:lnSpc>
              <a:buNone/>
            </a:pPr>
            <a:r>
              <a:rPr lang="en-US" sz="1200" b="1" dirty="0">
                <a:solidFill>
                  <a:srgbClr val="1B3A5C"/>
                </a:solidFill>
                <a:latin typeface="Calibri" pitchFamily="34" charset="0"/>
                <a:ea typeface="Calibri" pitchFamily="34" charset="-122"/>
                <a:cs typeface="Calibri" pitchFamily="34" charset="-120"/>
              </a:rPr>
              <a:t>Mental Health &amp; Exam Anxiety</a:t>
            </a:r>
            <a:endParaRPr lang="en-US" sz="1200" dirty="0"/>
          </a:p>
        </p:txBody>
      </p:sp>
      <p:sp>
        <p:nvSpPr>
          <p:cNvPr id="39" name="Text 30"/>
          <p:cNvSpPr/>
          <p:nvPr/>
        </p:nvSpPr>
        <p:spPr>
          <a:xfrm>
            <a:off x="6291072" y="5257800"/>
            <a:ext cx="2286000" cy="822960"/>
          </a:xfrm>
          <a:prstGeom prst="rect">
            <a:avLst/>
          </a:prstGeom>
          <a:noFill/>
          <a:ln/>
        </p:spPr>
        <p:txBody>
          <a:bodyPr wrap="square" rtlCol="0" anchor="ctr"/>
          <a:lstStyle/>
          <a:p>
            <a:pPr algn="ctr" indent="0" marL="0">
              <a:lnSpc>
                <a:spcPct val="108000"/>
              </a:lnSpc>
              <a:buNone/>
            </a:pPr>
            <a:r>
              <a:rPr lang="en-US" sz="950" dirty="0">
                <a:solidFill>
                  <a:srgbClr val="5B6B78"/>
                </a:solidFill>
                <a:latin typeface="Calibri" pitchFamily="34" charset="0"/>
                <a:ea typeface="Calibri" pitchFamily="34" charset="-122"/>
                <a:cs typeface="Calibri" pitchFamily="34" charset="-120"/>
              </a:rPr>
              <a:t>Competitive exams — Boards to JEE/NEET — generate intense societal and personal pressure.</a:t>
            </a:r>
            <a:endParaRPr lang="en-US" sz="950" dirty="0"/>
          </a:p>
        </p:txBody>
      </p:sp>
      <p:sp>
        <p:nvSpPr>
          <p:cNvPr id="40" name="Shape 31"/>
          <p:cNvSpPr/>
          <p:nvPr/>
        </p:nvSpPr>
        <p:spPr>
          <a:xfrm>
            <a:off x="8869680" y="3794760"/>
            <a:ext cx="2615184" cy="2331720"/>
          </a:xfrm>
          <a:prstGeom prst="roundRect">
            <a:avLst>
              <a:gd name="adj" fmla="val 2745"/>
            </a:avLst>
          </a:prstGeom>
          <a:solidFill>
            <a:srgbClr val="1C7F82"/>
          </a:solidFill>
          <a:ln/>
        </p:spPr>
      </p:sp>
      <p:sp>
        <p:nvSpPr>
          <p:cNvPr id="41" name="Text 32"/>
          <p:cNvSpPr/>
          <p:nvPr/>
        </p:nvSpPr>
        <p:spPr>
          <a:xfrm>
            <a:off x="8869680" y="4114800"/>
            <a:ext cx="2615184" cy="822960"/>
          </a:xfrm>
          <a:prstGeom prst="rect">
            <a:avLst/>
          </a:prstGeom>
          <a:noFill/>
          <a:ln/>
        </p:spPr>
        <p:txBody>
          <a:bodyPr wrap="square" rtlCol="0" anchor="ctr"/>
          <a:lstStyle/>
          <a:p>
            <a:pPr algn="ctr" indent="0" marL="0">
              <a:buNone/>
            </a:pPr>
            <a:r>
              <a:rPr lang="en-US" sz="4800" b="1" dirty="0">
                <a:solidFill>
                  <a:srgbClr val="FFFFFF"/>
                </a:solidFill>
                <a:latin typeface="Cambria" pitchFamily="34" charset="0"/>
                <a:ea typeface="Cambria" pitchFamily="34" charset="-122"/>
                <a:cs typeface="Cambria" pitchFamily="34" charset="-120"/>
              </a:rPr>
              <a:t>7</a:t>
            </a:r>
            <a:endParaRPr lang="en-US" sz="4800" dirty="0"/>
          </a:p>
        </p:txBody>
      </p:sp>
      <p:sp>
        <p:nvSpPr>
          <p:cNvPr id="42" name="Text 33"/>
          <p:cNvSpPr/>
          <p:nvPr/>
        </p:nvSpPr>
        <p:spPr>
          <a:xfrm>
            <a:off x="9052560" y="5029200"/>
            <a:ext cx="2249424" cy="1005840"/>
          </a:xfrm>
          <a:prstGeom prst="rect">
            <a:avLst/>
          </a:prstGeom>
          <a:noFill/>
          <a:ln/>
        </p:spPr>
        <p:txBody>
          <a:bodyPr wrap="square" rtlCol="0" anchor="ctr"/>
          <a:lstStyle/>
          <a:p>
            <a:pPr algn="ctr" indent="0" marL="0">
              <a:lnSpc>
                <a:spcPct val="110000"/>
              </a:lnSpc>
              <a:buNone/>
            </a:pPr>
            <a:r>
              <a:rPr lang="en-US" sz="1050" dirty="0">
                <a:solidFill>
                  <a:srgbClr val="DDEEEE"/>
                </a:solidFill>
                <a:latin typeface="Calibri" pitchFamily="34" charset="0"/>
                <a:ea typeface="Calibri" pitchFamily="34" charset="-122"/>
                <a:cs typeface="Calibri" pitchFamily="34" charset="-120"/>
              </a:rPr>
              <a:t>Core research</a:t>
            </a:r>
            <a:endParaRPr lang="en-US" sz="1050" dirty="0"/>
          </a:p>
          <a:p>
            <a:pPr algn="ctr" indent="0" marL="0">
              <a:lnSpc>
                <a:spcPct val="110000"/>
              </a:lnSpc>
              <a:buNone/>
            </a:pPr>
            <a:r>
              <a:rPr lang="en-US" sz="1050" dirty="0">
                <a:solidFill>
                  <a:srgbClr val="DDEEEE"/>
                </a:solidFill>
                <a:latin typeface="Calibri" pitchFamily="34" charset="0"/>
                <a:ea typeface="Calibri" pitchFamily="34" charset="-122"/>
                <a:cs typeface="Calibri" pitchFamily="34" charset="-120"/>
              </a:rPr>
              <a:t>themes guiding the</a:t>
            </a:r>
            <a:endParaRPr lang="en-US" sz="1050" dirty="0"/>
          </a:p>
          <a:p>
            <a:pPr algn="ctr" indent="0" marL="0">
              <a:lnSpc>
                <a:spcPct val="110000"/>
              </a:lnSpc>
              <a:buNone/>
            </a:pPr>
            <a:r>
              <a:rPr lang="en-US" sz="1050" dirty="0">
                <a:solidFill>
                  <a:srgbClr val="DDEEEE"/>
                </a:solidFill>
                <a:latin typeface="Calibri" pitchFamily="34" charset="0"/>
                <a:ea typeface="Calibri" pitchFamily="34" charset="-122"/>
                <a:cs typeface="Calibri" pitchFamily="34" charset="-120"/>
              </a:rPr>
              <a:t>questionnaire, interview</a:t>
            </a:r>
            <a:endParaRPr lang="en-US" sz="1050" dirty="0"/>
          </a:p>
          <a:p>
            <a:pPr algn="ctr" indent="0" marL="0">
              <a:lnSpc>
                <a:spcPct val="110000"/>
              </a:lnSpc>
              <a:buNone/>
            </a:pPr>
            <a:r>
              <a:rPr lang="en-US" sz="1050" dirty="0">
                <a:solidFill>
                  <a:srgbClr val="DDEEEE"/>
                </a:solidFill>
                <a:latin typeface="Calibri" pitchFamily="34" charset="0"/>
                <a:ea typeface="Calibri" pitchFamily="34" charset="-122"/>
                <a:cs typeface="Calibri" pitchFamily="34" charset="-120"/>
              </a:rPr>
              <a:t>and FGD design</a:t>
            </a:r>
            <a:endParaRPr lang="en-US" sz="1050" dirty="0"/>
          </a:p>
        </p:txBody>
      </p:sp>
      <p:sp>
        <p:nvSpPr>
          <p:cNvPr id="43" name="Text 34"/>
          <p:cNvSpPr/>
          <p:nvPr/>
        </p:nvSpPr>
        <p:spPr>
          <a:xfrm>
            <a:off x="457200" y="6519672"/>
            <a:ext cx="7315200" cy="274320"/>
          </a:xfrm>
          <a:prstGeom prst="rect">
            <a:avLst/>
          </a:prstGeom>
          <a:noFill/>
          <a:ln/>
        </p:spPr>
        <p:txBody>
          <a:bodyPr wrap="square" rtlCol="0" anchor="ctr"/>
          <a:lstStyle/>
          <a:p>
            <a:pPr algn="l" indent="0" marL="0">
              <a:buNone/>
            </a:pPr>
            <a:r>
              <a:rPr lang="en-US" sz="900" dirty="0">
                <a:solidFill>
                  <a:srgbClr val="5B6B78"/>
                </a:solidFill>
                <a:latin typeface="Calibri" pitchFamily="34" charset="0"/>
                <a:ea typeface="Calibri" pitchFamily="34" charset="-122"/>
                <a:cs typeface="Calibri" pitchFamily="34" charset="-120"/>
              </a:rPr>
              <a:t>Understanding Examination Preparation Challenges</a:t>
            </a:r>
            <a:endParaRPr lang="en-US" sz="900" dirty="0"/>
          </a:p>
        </p:txBody>
      </p:sp>
      <p:sp>
        <p:nvSpPr>
          <p:cNvPr id="44" name="Text 35"/>
          <p:cNvSpPr/>
          <p:nvPr/>
        </p:nvSpPr>
        <p:spPr>
          <a:xfrm>
            <a:off x="11277295" y="6519672"/>
            <a:ext cx="457200" cy="274320"/>
          </a:xfrm>
          <a:prstGeom prst="rect">
            <a:avLst/>
          </a:prstGeom>
          <a:noFill/>
          <a:ln/>
        </p:spPr>
        <p:txBody>
          <a:bodyPr wrap="square" rtlCol="0" anchor="ctr"/>
          <a:lstStyle/>
          <a:p>
            <a:pPr algn="r" indent="0" marL="0">
              <a:buNone/>
            </a:pPr>
            <a:r>
              <a:rPr lang="en-US" sz="900" dirty="0">
                <a:solidFill>
                  <a:srgbClr val="5B6B78"/>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12191695" cy="960120"/>
          </a:xfrm>
          <a:prstGeom prst="rect">
            <a:avLst/>
          </a:prstGeom>
          <a:solidFill>
            <a:srgbClr val="F1F4F6"/>
          </a:solidFill>
          <a:ln/>
        </p:spPr>
      </p:sp>
      <p:sp>
        <p:nvSpPr>
          <p:cNvPr id="3" name="Text 1"/>
          <p:cNvSpPr/>
          <p:nvPr/>
        </p:nvSpPr>
        <p:spPr>
          <a:xfrm>
            <a:off x="640080" y="256032"/>
            <a:ext cx="7315200" cy="502920"/>
          </a:xfrm>
          <a:prstGeom prst="rect">
            <a:avLst/>
          </a:prstGeom>
          <a:noFill/>
          <a:ln/>
        </p:spPr>
        <p:txBody>
          <a:bodyPr wrap="square" rtlCol="0" anchor="ctr"/>
          <a:lstStyle/>
          <a:p>
            <a:pPr indent="0" marL="0">
              <a:buNone/>
            </a:pPr>
            <a:r>
              <a:rPr lang="en-US" sz="2800" b="1" dirty="0">
                <a:solidFill>
                  <a:srgbClr val="1B3A5C"/>
                </a:solidFill>
                <a:latin typeface="Cambria" pitchFamily="34" charset="0"/>
                <a:ea typeface="Cambria" pitchFamily="34" charset="-122"/>
                <a:cs typeface="Cambria" pitchFamily="34" charset="-120"/>
              </a:rPr>
              <a:t>Project Objectives</a:t>
            </a:r>
            <a:endParaRPr lang="en-US" sz="2800" dirty="0"/>
          </a:p>
        </p:txBody>
      </p:sp>
      <p:sp>
        <p:nvSpPr>
          <p:cNvPr id="4" name="Shape 2"/>
          <p:cNvSpPr/>
          <p:nvPr/>
        </p:nvSpPr>
        <p:spPr>
          <a:xfrm>
            <a:off x="640080" y="1188720"/>
            <a:ext cx="10881360" cy="1051560"/>
          </a:xfrm>
          <a:prstGeom prst="roundRect">
            <a:avLst>
              <a:gd name="adj" fmla="val 6087"/>
            </a:avLst>
          </a:prstGeom>
          <a:solidFill>
            <a:srgbClr val="1B3A5C"/>
          </a:solidFill>
          <a:ln/>
        </p:spPr>
      </p:sp>
      <p:sp>
        <p:nvSpPr>
          <p:cNvPr id="5" name="Shape 3"/>
          <p:cNvSpPr/>
          <p:nvPr/>
        </p:nvSpPr>
        <p:spPr>
          <a:xfrm>
            <a:off x="896112" y="1399032"/>
            <a:ext cx="640080" cy="640080"/>
          </a:xfrm>
          <a:prstGeom prst="ellipse">
            <a:avLst/>
          </a:prstGeom>
          <a:solidFill>
            <a:srgbClr val="D98E2B"/>
          </a:solidFill>
          <a:ln/>
        </p:spPr>
      </p:sp>
      <p:pic>
        <p:nvPicPr>
          <p:cNvPr id="6" name="Image 0" descr="preencoded.png">    </p:cNvPr>
          <p:cNvPicPr>
            <a:picLocks noChangeAspect="1"/>
          </p:cNvPicPr>
          <p:nvPr/>
        </p:nvPicPr>
        <p:blipFill>
          <a:blip r:embed="rId1"/>
          <a:stretch>
            <a:fillRect/>
          </a:stretch>
        </p:blipFill>
        <p:spPr>
          <a:xfrm>
            <a:off x="1042416" y="1545336"/>
            <a:ext cx="347472" cy="347472"/>
          </a:xfrm>
          <a:prstGeom prst="rect">
            <a:avLst/>
          </a:prstGeom>
        </p:spPr>
      </p:pic>
      <p:sp>
        <p:nvSpPr>
          <p:cNvPr id="7" name="Text 4"/>
          <p:cNvSpPr/>
          <p:nvPr/>
        </p:nvSpPr>
        <p:spPr>
          <a:xfrm>
            <a:off x="1737360" y="1298448"/>
            <a:ext cx="9509760" cy="274320"/>
          </a:xfrm>
          <a:prstGeom prst="rect">
            <a:avLst/>
          </a:prstGeom>
          <a:noFill/>
          <a:ln/>
        </p:spPr>
        <p:txBody>
          <a:bodyPr wrap="square" rtlCol="0" anchor="ctr"/>
          <a:lstStyle/>
          <a:p>
            <a:pPr indent="0" marL="0">
              <a:buNone/>
            </a:pPr>
            <a:r>
              <a:rPr lang="en-US" sz="1100" b="1" spc="200" kern="0" dirty="0">
                <a:solidFill>
                  <a:srgbClr val="D98E2B"/>
                </a:solidFill>
                <a:latin typeface="Calibri" pitchFamily="34" charset="0"/>
                <a:ea typeface="Calibri" pitchFamily="34" charset="-122"/>
                <a:cs typeface="Calibri" pitchFamily="34" charset="-120"/>
              </a:rPr>
              <a:t>PRIMARY OBJECTIVE</a:t>
            </a:r>
            <a:endParaRPr lang="en-US" sz="1100" dirty="0"/>
          </a:p>
        </p:txBody>
      </p:sp>
      <p:sp>
        <p:nvSpPr>
          <p:cNvPr id="8" name="Text 5"/>
          <p:cNvSpPr/>
          <p:nvPr/>
        </p:nvSpPr>
        <p:spPr>
          <a:xfrm>
            <a:off x="1737360" y="1554480"/>
            <a:ext cx="9601200" cy="640080"/>
          </a:xfrm>
          <a:prstGeom prst="rect">
            <a:avLst/>
          </a:prstGeom>
          <a:noFill/>
          <a:ln/>
        </p:spPr>
        <p:txBody>
          <a:bodyPr wrap="square" rtlCol="0" anchor="ctr"/>
          <a:lstStyle/>
          <a:p>
            <a:pPr indent="0" marL="0">
              <a:lnSpc>
                <a:spcPct val="112000"/>
              </a:lnSpc>
              <a:buNone/>
            </a:pPr>
            <a:r>
              <a:rPr lang="en-US" sz="1200" dirty="0">
                <a:solidFill>
                  <a:srgbClr val="FFFFFF"/>
                </a:solidFill>
                <a:latin typeface="Calibri" pitchFamily="34" charset="0"/>
                <a:ea typeface="Calibri" pitchFamily="34" charset="-122"/>
                <a:cs typeface="Calibri" pitchFamily="34" charset="-120"/>
              </a:rPr>
              <a:t>Systematically document and analyse the types, severity and contextual patterns of examination-preparation challenges among K-12 and higher-education students, with particular focus on underserved communities.</a:t>
            </a:r>
            <a:endParaRPr lang="en-US" sz="1200" dirty="0"/>
          </a:p>
        </p:txBody>
      </p:sp>
      <p:sp>
        <p:nvSpPr>
          <p:cNvPr id="9" name="Text 6"/>
          <p:cNvSpPr/>
          <p:nvPr/>
        </p:nvSpPr>
        <p:spPr>
          <a:xfrm>
            <a:off x="640080" y="2514600"/>
            <a:ext cx="5486400" cy="365760"/>
          </a:xfrm>
          <a:prstGeom prst="rect">
            <a:avLst/>
          </a:prstGeom>
          <a:noFill/>
          <a:ln/>
        </p:spPr>
        <p:txBody>
          <a:bodyPr wrap="square" rtlCol="0" anchor="ctr"/>
          <a:lstStyle/>
          <a:p>
            <a:pPr indent="0" marL="0">
              <a:buNone/>
            </a:pPr>
            <a:r>
              <a:rPr lang="en-US" sz="1600" b="1" dirty="0">
                <a:solidFill>
                  <a:srgbClr val="1C7F82"/>
                </a:solidFill>
                <a:latin typeface="Cambria" pitchFamily="34" charset="0"/>
                <a:ea typeface="Cambria" pitchFamily="34" charset="-122"/>
                <a:cs typeface="Cambria" pitchFamily="34" charset="-120"/>
              </a:rPr>
              <a:t>Secondary Objectives</a:t>
            </a:r>
            <a:endParaRPr lang="en-US" sz="1600" dirty="0"/>
          </a:p>
        </p:txBody>
      </p:sp>
      <p:pic>
        <p:nvPicPr>
          <p:cNvPr id="10" name="Image 1" descr="preencoded.png">    </p:cNvPr>
          <p:cNvPicPr>
            <a:picLocks noChangeAspect="1"/>
          </p:cNvPicPr>
          <p:nvPr/>
        </p:nvPicPr>
        <p:blipFill>
          <a:blip r:embed="rId2"/>
          <a:stretch>
            <a:fillRect/>
          </a:stretch>
        </p:blipFill>
        <p:spPr>
          <a:xfrm>
            <a:off x="640080" y="2990088"/>
            <a:ext cx="292608" cy="292608"/>
          </a:xfrm>
          <a:prstGeom prst="rect">
            <a:avLst/>
          </a:prstGeom>
        </p:spPr>
      </p:pic>
      <p:sp>
        <p:nvSpPr>
          <p:cNvPr id="11" name="Text 7"/>
          <p:cNvSpPr/>
          <p:nvPr/>
        </p:nvSpPr>
        <p:spPr>
          <a:xfrm>
            <a:off x="1060704" y="2916936"/>
            <a:ext cx="4892040" cy="594360"/>
          </a:xfrm>
          <a:prstGeom prst="rect">
            <a:avLst/>
          </a:prstGeom>
          <a:noFill/>
          <a:ln/>
        </p:spPr>
        <p:txBody>
          <a:bodyPr wrap="square" rtlCol="0" anchor="t"/>
          <a:lstStyle/>
          <a:p>
            <a:pPr indent="0" marL="0">
              <a:lnSpc>
                <a:spcPct val="108000"/>
              </a:lnSpc>
              <a:buNone/>
            </a:pPr>
            <a:r>
              <a:rPr lang="en-US" sz="1200" dirty="0">
                <a:solidFill>
                  <a:srgbClr val="243746"/>
                </a:solidFill>
                <a:latin typeface="Calibri" pitchFamily="34" charset="0"/>
                <a:ea typeface="Calibri" pitchFamily="34" charset="-122"/>
                <a:cs typeface="Calibri" pitchFamily="34" charset="-120"/>
              </a:rPr>
              <a:t>Identify the most prevalent challenges across student cohorts</a:t>
            </a:r>
            <a:endParaRPr lang="en-US" sz="1200" dirty="0"/>
          </a:p>
        </p:txBody>
      </p:sp>
      <p:pic>
        <p:nvPicPr>
          <p:cNvPr id="12" name="Image 2" descr="preencoded.png">    </p:cNvPr>
          <p:cNvPicPr>
            <a:picLocks noChangeAspect="1"/>
          </p:cNvPicPr>
          <p:nvPr/>
        </p:nvPicPr>
        <p:blipFill>
          <a:blip r:embed="rId3"/>
          <a:stretch>
            <a:fillRect/>
          </a:stretch>
        </p:blipFill>
        <p:spPr>
          <a:xfrm>
            <a:off x="640080" y="3648456"/>
            <a:ext cx="292608" cy="292608"/>
          </a:xfrm>
          <a:prstGeom prst="rect">
            <a:avLst/>
          </a:prstGeom>
        </p:spPr>
      </p:pic>
      <p:sp>
        <p:nvSpPr>
          <p:cNvPr id="13" name="Text 8"/>
          <p:cNvSpPr/>
          <p:nvPr/>
        </p:nvSpPr>
        <p:spPr>
          <a:xfrm>
            <a:off x="1060704" y="3575304"/>
            <a:ext cx="4892040" cy="594360"/>
          </a:xfrm>
          <a:prstGeom prst="rect">
            <a:avLst/>
          </a:prstGeom>
          <a:noFill/>
          <a:ln/>
        </p:spPr>
        <p:txBody>
          <a:bodyPr wrap="square" rtlCol="0" anchor="t"/>
          <a:lstStyle/>
          <a:p>
            <a:pPr indent="0" marL="0">
              <a:lnSpc>
                <a:spcPct val="108000"/>
              </a:lnSpc>
              <a:buNone/>
            </a:pPr>
            <a:r>
              <a:rPr lang="en-US" sz="1200" dirty="0">
                <a:solidFill>
                  <a:srgbClr val="243746"/>
                </a:solidFill>
                <a:latin typeface="Calibri" pitchFamily="34" charset="0"/>
                <a:ea typeface="Calibri" pitchFamily="34" charset="-122"/>
                <a:cs typeface="Calibri" pitchFamily="34" charset="-120"/>
              </a:rPr>
              <a:t>Understand how language barriers affect comprehension &amp; performance</a:t>
            </a:r>
            <a:endParaRPr lang="en-US" sz="1200" dirty="0"/>
          </a:p>
        </p:txBody>
      </p:sp>
      <p:pic>
        <p:nvPicPr>
          <p:cNvPr id="14" name="Image 3" descr="preencoded.png">    </p:cNvPr>
          <p:cNvPicPr>
            <a:picLocks noChangeAspect="1"/>
          </p:cNvPicPr>
          <p:nvPr/>
        </p:nvPicPr>
        <p:blipFill>
          <a:blip r:embed="rId4"/>
          <a:stretch>
            <a:fillRect/>
          </a:stretch>
        </p:blipFill>
        <p:spPr>
          <a:xfrm>
            <a:off x="640080" y="4306824"/>
            <a:ext cx="292608" cy="292608"/>
          </a:xfrm>
          <a:prstGeom prst="rect">
            <a:avLst/>
          </a:prstGeom>
        </p:spPr>
      </p:pic>
      <p:sp>
        <p:nvSpPr>
          <p:cNvPr id="15" name="Text 9"/>
          <p:cNvSpPr/>
          <p:nvPr/>
        </p:nvSpPr>
        <p:spPr>
          <a:xfrm>
            <a:off x="1060704" y="4233672"/>
            <a:ext cx="4892040" cy="594360"/>
          </a:xfrm>
          <a:prstGeom prst="rect">
            <a:avLst/>
          </a:prstGeom>
          <a:noFill/>
          <a:ln/>
        </p:spPr>
        <p:txBody>
          <a:bodyPr wrap="square" rtlCol="0" anchor="t"/>
          <a:lstStyle/>
          <a:p>
            <a:pPr indent="0" marL="0">
              <a:lnSpc>
                <a:spcPct val="108000"/>
              </a:lnSpc>
              <a:buNone/>
            </a:pPr>
            <a:r>
              <a:rPr lang="en-US" sz="1200" dirty="0">
                <a:solidFill>
                  <a:srgbClr val="243746"/>
                </a:solidFill>
                <a:latin typeface="Calibri" pitchFamily="34" charset="0"/>
                <a:ea typeface="Calibri" pitchFamily="34" charset="-122"/>
                <a:cs typeface="Calibri" pitchFamily="34" charset="-120"/>
              </a:rPr>
              <a:t>Assess the role of the home environment in study quality</a:t>
            </a:r>
            <a:endParaRPr lang="en-US" sz="1200" dirty="0"/>
          </a:p>
        </p:txBody>
      </p:sp>
      <p:pic>
        <p:nvPicPr>
          <p:cNvPr id="16" name="Image 4" descr="preencoded.png">    </p:cNvPr>
          <p:cNvPicPr>
            <a:picLocks noChangeAspect="1"/>
          </p:cNvPicPr>
          <p:nvPr/>
        </p:nvPicPr>
        <p:blipFill>
          <a:blip r:embed="rId5"/>
          <a:stretch>
            <a:fillRect/>
          </a:stretch>
        </p:blipFill>
        <p:spPr>
          <a:xfrm>
            <a:off x="640080" y="4965192"/>
            <a:ext cx="292608" cy="292608"/>
          </a:xfrm>
          <a:prstGeom prst="rect">
            <a:avLst/>
          </a:prstGeom>
        </p:spPr>
      </p:pic>
      <p:sp>
        <p:nvSpPr>
          <p:cNvPr id="17" name="Text 10"/>
          <p:cNvSpPr/>
          <p:nvPr/>
        </p:nvSpPr>
        <p:spPr>
          <a:xfrm>
            <a:off x="1060704" y="4892040"/>
            <a:ext cx="4892040" cy="594360"/>
          </a:xfrm>
          <a:prstGeom prst="rect">
            <a:avLst/>
          </a:prstGeom>
          <a:noFill/>
          <a:ln/>
        </p:spPr>
        <p:txBody>
          <a:bodyPr wrap="square" rtlCol="0" anchor="t"/>
          <a:lstStyle/>
          <a:p>
            <a:pPr indent="0" marL="0">
              <a:lnSpc>
                <a:spcPct val="108000"/>
              </a:lnSpc>
              <a:buNone/>
            </a:pPr>
            <a:r>
              <a:rPr lang="en-US" sz="1200" dirty="0">
                <a:solidFill>
                  <a:srgbClr val="243746"/>
                </a:solidFill>
                <a:latin typeface="Calibri" pitchFamily="34" charset="0"/>
                <a:ea typeface="Calibri" pitchFamily="34" charset="-122"/>
                <a:cs typeface="Calibri" pitchFamily="34" charset="-120"/>
              </a:rPr>
              <a:t>Study how digital distraction competes with preparation time</a:t>
            </a:r>
            <a:endParaRPr lang="en-US" sz="1200" dirty="0"/>
          </a:p>
        </p:txBody>
      </p:sp>
      <p:pic>
        <p:nvPicPr>
          <p:cNvPr id="18" name="Image 5" descr="preencoded.png">    </p:cNvPr>
          <p:cNvPicPr>
            <a:picLocks noChangeAspect="1"/>
          </p:cNvPicPr>
          <p:nvPr/>
        </p:nvPicPr>
        <p:blipFill>
          <a:blip r:embed="rId6"/>
          <a:stretch>
            <a:fillRect/>
          </a:stretch>
        </p:blipFill>
        <p:spPr>
          <a:xfrm>
            <a:off x="6263640" y="2990088"/>
            <a:ext cx="292608" cy="292608"/>
          </a:xfrm>
          <a:prstGeom prst="rect">
            <a:avLst/>
          </a:prstGeom>
        </p:spPr>
      </p:pic>
      <p:sp>
        <p:nvSpPr>
          <p:cNvPr id="19" name="Text 11"/>
          <p:cNvSpPr/>
          <p:nvPr/>
        </p:nvSpPr>
        <p:spPr>
          <a:xfrm>
            <a:off x="6684264" y="2916936"/>
            <a:ext cx="4892040" cy="594360"/>
          </a:xfrm>
          <a:prstGeom prst="rect">
            <a:avLst/>
          </a:prstGeom>
          <a:noFill/>
          <a:ln/>
        </p:spPr>
        <p:txBody>
          <a:bodyPr wrap="square" rtlCol="0" anchor="t"/>
          <a:lstStyle/>
          <a:p>
            <a:pPr indent="0" marL="0">
              <a:lnSpc>
                <a:spcPct val="108000"/>
              </a:lnSpc>
              <a:buNone/>
            </a:pPr>
            <a:r>
              <a:rPr lang="en-US" sz="1200" dirty="0">
                <a:solidFill>
                  <a:srgbClr val="243746"/>
                </a:solidFill>
                <a:latin typeface="Calibri" pitchFamily="34" charset="0"/>
                <a:ea typeface="Calibri" pitchFamily="34" charset="-122"/>
                <a:cs typeface="Calibri" pitchFamily="34" charset="-120"/>
              </a:rPr>
              <a:t>Identify mentorship and study-skill gaps in the student population</a:t>
            </a:r>
            <a:endParaRPr lang="en-US" sz="1200" dirty="0"/>
          </a:p>
        </p:txBody>
      </p:sp>
      <p:pic>
        <p:nvPicPr>
          <p:cNvPr id="20" name="Image 6" descr="preencoded.png">    </p:cNvPr>
          <p:cNvPicPr>
            <a:picLocks noChangeAspect="1"/>
          </p:cNvPicPr>
          <p:nvPr/>
        </p:nvPicPr>
        <p:blipFill>
          <a:blip r:embed="rId7"/>
          <a:stretch>
            <a:fillRect/>
          </a:stretch>
        </p:blipFill>
        <p:spPr>
          <a:xfrm>
            <a:off x="6263640" y="3648456"/>
            <a:ext cx="292608" cy="292608"/>
          </a:xfrm>
          <a:prstGeom prst="rect">
            <a:avLst/>
          </a:prstGeom>
        </p:spPr>
      </p:pic>
      <p:sp>
        <p:nvSpPr>
          <p:cNvPr id="21" name="Text 12"/>
          <p:cNvSpPr/>
          <p:nvPr/>
        </p:nvSpPr>
        <p:spPr>
          <a:xfrm>
            <a:off x="6684264" y="3575304"/>
            <a:ext cx="4892040" cy="594360"/>
          </a:xfrm>
          <a:prstGeom prst="rect">
            <a:avLst/>
          </a:prstGeom>
          <a:noFill/>
          <a:ln/>
        </p:spPr>
        <p:txBody>
          <a:bodyPr wrap="square" rtlCol="0" anchor="t"/>
          <a:lstStyle/>
          <a:p>
            <a:pPr indent="0" marL="0">
              <a:lnSpc>
                <a:spcPct val="108000"/>
              </a:lnSpc>
              <a:buNone/>
            </a:pPr>
            <a:r>
              <a:rPr lang="en-US" sz="1200" dirty="0">
                <a:solidFill>
                  <a:srgbClr val="243746"/>
                </a:solidFill>
                <a:latin typeface="Calibri" pitchFamily="34" charset="0"/>
                <a:ea typeface="Calibri" pitchFamily="34" charset="-122"/>
                <a:cs typeface="Calibri" pitchFamily="34" charset="-120"/>
              </a:rPr>
              <a:t>Capture the lived experience of underserved-community students</a:t>
            </a:r>
            <a:endParaRPr lang="en-US" sz="1200" dirty="0"/>
          </a:p>
        </p:txBody>
      </p:sp>
      <p:pic>
        <p:nvPicPr>
          <p:cNvPr id="22" name="Image 7" descr="preencoded.png">    </p:cNvPr>
          <p:cNvPicPr>
            <a:picLocks noChangeAspect="1"/>
          </p:cNvPicPr>
          <p:nvPr/>
        </p:nvPicPr>
        <p:blipFill>
          <a:blip r:embed="rId8"/>
          <a:stretch>
            <a:fillRect/>
          </a:stretch>
        </p:blipFill>
        <p:spPr>
          <a:xfrm>
            <a:off x="6263640" y="4306824"/>
            <a:ext cx="292608" cy="292608"/>
          </a:xfrm>
          <a:prstGeom prst="rect">
            <a:avLst/>
          </a:prstGeom>
        </p:spPr>
      </p:pic>
      <p:sp>
        <p:nvSpPr>
          <p:cNvPr id="23" name="Text 13"/>
          <p:cNvSpPr/>
          <p:nvPr/>
        </p:nvSpPr>
        <p:spPr>
          <a:xfrm>
            <a:off x="6684264" y="4233672"/>
            <a:ext cx="4892040" cy="594360"/>
          </a:xfrm>
          <a:prstGeom prst="rect">
            <a:avLst/>
          </a:prstGeom>
          <a:noFill/>
          <a:ln/>
        </p:spPr>
        <p:txBody>
          <a:bodyPr wrap="square" rtlCol="0" anchor="t"/>
          <a:lstStyle/>
          <a:p>
            <a:pPr indent="0" marL="0">
              <a:lnSpc>
                <a:spcPct val="108000"/>
              </a:lnSpc>
              <a:buNone/>
            </a:pPr>
            <a:r>
              <a:rPr lang="en-US" sz="1200" dirty="0">
                <a:solidFill>
                  <a:srgbClr val="243746"/>
                </a:solidFill>
                <a:latin typeface="Calibri" pitchFamily="34" charset="0"/>
                <a:ea typeface="Calibri" pitchFamily="34" charset="-122"/>
                <a:cs typeface="Calibri" pitchFamily="34" charset="-120"/>
              </a:rPr>
              <a:t>Develop evidence-based recommendations for the Foundation</a:t>
            </a:r>
            <a:endParaRPr lang="en-US" sz="1200" dirty="0"/>
          </a:p>
        </p:txBody>
      </p:sp>
      <p:sp>
        <p:nvSpPr>
          <p:cNvPr id="24" name="Text 14"/>
          <p:cNvSpPr/>
          <p:nvPr/>
        </p:nvSpPr>
        <p:spPr>
          <a:xfrm>
            <a:off x="457200" y="6519672"/>
            <a:ext cx="7315200" cy="274320"/>
          </a:xfrm>
          <a:prstGeom prst="rect">
            <a:avLst/>
          </a:prstGeom>
          <a:noFill/>
          <a:ln/>
        </p:spPr>
        <p:txBody>
          <a:bodyPr wrap="square" rtlCol="0" anchor="ctr"/>
          <a:lstStyle/>
          <a:p>
            <a:pPr algn="l" indent="0" marL="0">
              <a:buNone/>
            </a:pPr>
            <a:r>
              <a:rPr lang="en-US" sz="900" dirty="0">
                <a:solidFill>
                  <a:srgbClr val="5B6B78"/>
                </a:solidFill>
                <a:latin typeface="Calibri" pitchFamily="34" charset="0"/>
                <a:ea typeface="Calibri" pitchFamily="34" charset="-122"/>
                <a:cs typeface="Calibri" pitchFamily="34" charset="-120"/>
              </a:rPr>
              <a:t>Understanding Examination Preparation Challenges</a:t>
            </a:r>
            <a:endParaRPr lang="en-US" sz="900" dirty="0"/>
          </a:p>
        </p:txBody>
      </p:sp>
      <p:sp>
        <p:nvSpPr>
          <p:cNvPr id="25" name="Text 15"/>
          <p:cNvSpPr/>
          <p:nvPr/>
        </p:nvSpPr>
        <p:spPr>
          <a:xfrm>
            <a:off x="11277295" y="6519672"/>
            <a:ext cx="457200" cy="274320"/>
          </a:xfrm>
          <a:prstGeom prst="rect">
            <a:avLst/>
          </a:prstGeom>
          <a:noFill/>
          <a:ln/>
        </p:spPr>
        <p:txBody>
          <a:bodyPr wrap="square" rtlCol="0" anchor="ctr"/>
          <a:lstStyle/>
          <a:p>
            <a:pPr algn="r" indent="0" marL="0">
              <a:buNone/>
            </a:pPr>
            <a:r>
              <a:rPr lang="en-US" sz="900" dirty="0">
                <a:solidFill>
                  <a:srgbClr val="5B6B78"/>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12191695" cy="960120"/>
          </a:xfrm>
          <a:prstGeom prst="rect">
            <a:avLst/>
          </a:prstGeom>
          <a:solidFill>
            <a:srgbClr val="F1F4F6"/>
          </a:solidFill>
          <a:ln/>
        </p:spPr>
      </p:sp>
      <p:sp>
        <p:nvSpPr>
          <p:cNvPr id="3" name="Text 1"/>
          <p:cNvSpPr/>
          <p:nvPr/>
        </p:nvSpPr>
        <p:spPr>
          <a:xfrm>
            <a:off x="640080" y="256032"/>
            <a:ext cx="8229600" cy="502920"/>
          </a:xfrm>
          <a:prstGeom prst="rect">
            <a:avLst/>
          </a:prstGeom>
          <a:noFill/>
          <a:ln/>
        </p:spPr>
        <p:txBody>
          <a:bodyPr wrap="square" rtlCol="0" anchor="ctr"/>
          <a:lstStyle/>
          <a:p>
            <a:pPr indent="0" marL="0">
              <a:buNone/>
            </a:pPr>
            <a:r>
              <a:rPr lang="en-US" sz="2800" b="1" dirty="0">
                <a:solidFill>
                  <a:srgbClr val="1B3A5C"/>
                </a:solidFill>
                <a:latin typeface="Cambria" pitchFamily="34" charset="0"/>
                <a:ea typeface="Cambria" pitchFamily="34" charset="-122"/>
                <a:cs typeface="Cambria" pitchFamily="34" charset="-120"/>
              </a:rPr>
              <a:t>Scope &amp; Target Participants</a:t>
            </a:r>
            <a:endParaRPr lang="en-US" sz="2800" dirty="0"/>
          </a:p>
        </p:txBody>
      </p:sp>
      <p:sp>
        <p:nvSpPr>
          <p:cNvPr id="4" name="Text 2"/>
          <p:cNvSpPr/>
          <p:nvPr/>
        </p:nvSpPr>
        <p:spPr>
          <a:xfrm>
            <a:off x="640080" y="1188720"/>
            <a:ext cx="4572000" cy="320040"/>
          </a:xfrm>
          <a:prstGeom prst="rect">
            <a:avLst/>
          </a:prstGeom>
          <a:noFill/>
          <a:ln/>
        </p:spPr>
        <p:txBody>
          <a:bodyPr wrap="square" rtlCol="0" anchor="ctr"/>
          <a:lstStyle/>
          <a:p>
            <a:pPr indent="0" marL="0">
              <a:buNone/>
            </a:pPr>
            <a:r>
              <a:rPr lang="en-US" sz="1500" b="1" dirty="0">
                <a:solidFill>
                  <a:srgbClr val="1C7F82"/>
                </a:solidFill>
                <a:latin typeface="Cambria" pitchFamily="34" charset="0"/>
                <a:ea typeface="Cambria" pitchFamily="34" charset="-122"/>
                <a:cs typeface="Cambria" pitchFamily="34" charset="-120"/>
              </a:rPr>
              <a:t>Data Sources</a:t>
            </a:r>
            <a:endParaRPr lang="en-US" sz="1500" dirty="0"/>
          </a:p>
        </p:txBody>
      </p:sp>
      <p:sp>
        <p:nvSpPr>
          <p:cNvPr id="5" name="Shape 3"/>
          <p:cNvSpPr/>
          <p:nvPr/>
        </p:nvSpPr>
        <p:spPr>
          <a:xfrm>
            <a:off x="640080" y="1600200"/>
            <a:ext cx="457200" cy="457200"/>
          </a:xfrm>
          <a:prstGeom prst="ellipse">
            <a:avLst/>
          </a:prstGeom>
          <a:solidFill>
            <a:srgbClr val="1B3A5C"/>
          </a:solidFill>
          <a:ln/>
        </p:spPr>
      </p:sp>
      <p:pic>
        <p:nvPicPr>
          <p:cNvPr id="6" name="Image 0" descr="preencoded.png">    </p:cNvPr>
          <p:cNvPicPr>
            <a:picLocks noChangeAspect="1"/>
          </p:cNvPicPr>
          <p:nvPr/>
        </p:nvPicPr>
        <p:blipFill>
          <a:blip r:embed="rId1"/>
          <a:stretch>
            <a:fillRect/>
          </a:stretch>
        </p:blipFill>
        <p:spPr>
          <a:xfrm>
            <a:off x="740664" y="1700784"/>
            <a:ext cx="256032" cy="256032"/>
          </a:xfrm>
          <a:prstGeom prst="rect">
            <a:avLst/>
          </a:prstGeom>
        </p:spPr>
      </p:pic>
      <p:sp>
        <p:nvSpPr>
          <p:cNvPr id="7" name="Text 4"/>
          <p:cNvSpPr/>
          <p:nvPr/>
        </p:nvSpPr>
        <p:spPr>
          <a:xfrm>
            <a:off x="1234440" y="1618488"/>
            <a:ext cx="4206240" cy="457200"/>
          </a:xfrm>
          <a:prstGeom prst="rect">
            <a:avLst/>
          </a:prstGeom>
          <a:noFill/>
          <a:ln/>
        </p:spPr>
        <p:txBody>
          <a:bodyPr wrap="square" rtlCol="0" anchor="t"/>
          <a:lstStyle/>
          <a:p>
            <a:pPr indent="0" marL="0">
              <a:lnSpc>
                <a:spcPct val="105000"/>
              </a:lnSpc>
              <a:buNone/>
            </a:pPr>
            <a:r>
              <a:rPr lang="en-US" sz="1150" dirty="0">
                <a:solidFill>
                  <a:srgbClr val="243746"/>
                </a:solidFill>
                <a:latin typeface="Calibri" pitchFamily="34" charset="0"/>
                <a:ea typeface="Calibri" pitchFamily="34" charset="-122"/>
                <a:cs typeface="Calibri" pitchFamily="34" charset="-120"/>
              </a:rPr>
              <a:t>Community education centres &amp; government schools</a:t>
            </a:r>
            <a:endParaRPr lang="en-US" sz="1150" dirty="0"/>
          </a:p>
        </p:txBody>
      </p:sp>
      <p:sp>
        <p:nvSpPr>
          <p:cNvPr id="8" name="Shape 5"/>
          <p:cNvSpPr/>
          <p:nvPr/>
        </p:nvSpPr>
        <p:spPr>
          <a:xfrm>
            <a:off x="640080" y="2221992"/>
            <a:ext cx="457200" cy="457200"/>
          </a:xfrm>
          <a:prstGeom prst="ellipse">
            <a:avLst/>
          </a:prstGeom>
          <a:solidFill>
            <a:srgbClr val="1B3A5C"/>
          </a:solidFill>
          <a:ln/>
        </p:spPr>
      </p:sp>
      <p:pic>
        <p:nvPicPr>
          <p:cNvPr id="9" name="Image 1" descr="preencoded.png">    </p:cNvPr>
          <p:cNvPicPr>
            <a:picLocks noChangeAspect="1"/>
          </p:cNvPicPr>
          <p:nvPr/>
        </p:nvPicPr>
        <p:blipFill>
          <a:blip r:embed="rId2"/>
          <a:stretch>
            <a:fillRect/>
          </a:stretch>
        </p:blipFill>
        <p:spPr>
          <a:xfrm>
            <a:off x="740664" y="2322576"/>
            <a:ext cx="256032" cy="256032"/>
          </a:xfrm>
          <a:prstGeom prst="rect">
            <a:avLst/>
          </a:prstGeom>
        </p:spPr>
      </p:pic>
      <p:sp>
        <p:nvSpPr>
          <p:cNvPr id="10" name="Text 6"/>
          <p:cNvSpPr/>
          <p:nvPr/>
        </p:nvSpPr>
        <p:spPr>
          <a:xfrm>
            <a:off x="1234440" y="2240280"/>
            <a:ext cx="4206240" cy="457200"/>
          </a:xfrm>
          <a:prstGeom prst="rect">
            <a:avLst/>
          </a:prstGeom>
          <a:noFill/>
          <a:ln/>
        </p:spPr>
        <p:txBody>
          <a:bodyPr wrap="square" rtlCol="0" anchor="t"/>
          <a:lstStyle/>
          <a:p>
            <a:pPr indent="0" marL="0">
              <a:lnSpc>
                <a:spcPct val="105000"/>
              </a:lnSpc>
              <a:buNone/>
            </a:pPr>
            <a:r>
              <a:rPr lang="en-US" sz="1150" dirty="0">
                <a:solidFill>
                  <a:srgbClr val="243746"/>
                </a:solidFill>
                <a:latin typeface="Calibri" pitchFamily="34" charset="0"/>
                <a:ea typeface="Calibri" pitchFamily="34" charset="-122"/>
                <a:cs typeface="Calibri" pitchFamily="34" charset="-120"/>
              </a:rPr>
              <a:t>Local colleges</a:t>
            </a:r>
            <a:endParaRPr lang="en-US" sz="1150" dirty="0"/>
          </a:p>
        </p:txBody>
      </p:sp>
      <p:sp>
        <p:nvSpPr>
          <p:cNvPr id="11" name="Shape 7"/>
          <p:cNvSpPr/>
          <p:nvPr/>
        </p:nvSpPr>
        <p:spPr>
          <a:xfrm>
            <a:off x="640080" y="2843784"/>
            <a:ext cx="457200" cy="457200"/>
          </a:xfrm>
          <a:prstGeom prst="ellipse">
            <a:avLst/>
          </a:prstGeom>
          <a:solidFill>
            <a:srgbClr val="1B3A5C"/>
          </a:solidFill>
          <a:ln/>
        </p:spPr>
      </p:sp>
      <p:pic>
        <p:nvPicPr>
          <p:cNvPr id="12" name="Image 2" descr="preencoded.png">    </p:cNvPr>
          <p:cNvPicPr>
            <a:picLocks noChangeAspect="1"/>
          </p:cNvPicPr>
          <p:nvPr/>
        </p:nvPicPr>
        <p:blipFill>
          <a:blip r:embed="rId3"/>
          <a:stretch>
            <a:fillRect/>
          </a:stretch>
        </p:blipFill>
        <p:spPr>
          <a:xfrm>
            <a:off x="740664" y="2944368"/>
            <a:ext cx="256032" cy="256032"/>
          </a:xfrm>
          <a:prstGeom prst="rect">
            <a:avLst/>
          </a:prstGeom>
        </p:spPr>
      </p:pic>
      <p:sp>
        <p:nvSpPr>
          <p:cNvPr id="13" name="Text 8"/>
          <p:cNvSpPr/>
          <p:nvPr/>
        </p:nvSpPr>
        <p:spPr>
          <a:xfrm>
            <a:off x="1234440" y="2862072"/>
            <a:ext cx="4206240" cy="457200"/>
          </a:xfrm>
          <a:prstGeom prst="rect">
            <a:avLst/>
          </a:prstGeom>
          <a:noFill/>
          <a:ln/>
        </p:spPr>
        <p:txBody>
          <a:bodyPr wrap="square" rtlCol="0" anchor="t"/>
          <a:lstStyle/>
          <a:p>
            <a:pPr indent="0" marL="0">
              <a:lnSpc>
                <a:spcPct val="105000"/>
              </a:lnSpc>
              <a:buNone/>
            </a:pPr>
            <a:r>
              <a:rPr lang="en-US" sz="1150" dirty="0">
                <a:solidFill>
                  <a:srgbClr val="243746"/>
                </a:solidFill>
                <a:latin typeface="Calibri" pitchFamily="34" charset="0"/>
                <a:ea typeface="Calibri" pitchFamily="34" charset="-122"/>
                <a:cs typeface="Calibri" pitchFamily="34" charset="-120"/>
              </a:rPr>
              <a:t>Student forums &amp; online communities</a:t>
            </a:r>
            <a:endParaRPr lang="en-US" sz="1150" dirty="0"/>
          </a:p>
        </p:txBody>
      </p:sp>
      <p:sp>
        <p:nvSpPr>
          <p:cNvPr id="14" name="Shape 9"/>
          <p:cNvSpPr/>
          <p:nvPr/>
        </p:nvSpPr>
        <p:spPr>
          <a:xfrm>
            <a:off x="640080" y="3465576"/>
            <a:ext cx="457200" cy="457200"/>
          </a:xfrm>
          <a:prstGeom prst="ellipse">
            <a:avLst/>
          </a:prstGeom>
          <a:solidFill>
            <a:srgbClr val="1B3A5C"/>
          </a:solidFill>
          <a:ln/>
        </p:spPr>
      </p:sp>
      <p:pic>
        <p:nvPicPr>
          <p:cNvPr id="15" name="Image 3" descr="preencoded.png">    </p:cNvPr>
          <p:cNvPicPr>
            <a:picLocks noChangeAspect="1"/>
          </p:cNvPicPr>
          <p:nvPr/>
        </p:nvPicPr>
        <p:blipFill>
          <a:blip r:embed="rId4"/>
          <a:stretch>
            <a:fillRect/>
          </a:stretch>
        </p:blipFill>
        <p:spPr>
          <a:xfrm>
            <a:off x="740664" y="3566160"/>
            <a:ext cx="256032" cy="256032"/>
          </a:xfrm>
          <a:prstGeom prst="rect">
            <a:avLst/>
          </a:prstGeom>
        </p:spPr>
      </p:pic>
      <p:sp>
        <p:nvSpPr>
          <p:cNvPr id="16" name="Text 10"/>
          <p:cNvSpPr/>
          <p:nvPr/>
        </p:nvSpPr>
        <p:spPr>
          <a:xfrm>
            <a:off x="1234440" y="3483864"/>
            <a:ext cx="4206240" cy="457200"/>
          </a:xfrm>
          <a:prstGeom prst="rect">
            <a:avLst/>
          </a:prstGeom>
          <a:noFill/>
          <a:ln/>
        </p:spPr>
        <p:txBody>
          <a:bodyPr wrap="square" rtlCol="0" anchor="t"/>
          <a:lstStyle/>
          <a:p>
            <a:pPr indent="0" marL="0">
              <a:lnSpc>
                <a:spcPct val="105000"/>
              </a:lnSpc>
              <a:buNone/>
            </a:pPr>
            <a:r>
              <a:rPr lang="en-US" sz="1150" dirty="0">
                <a:solidFill>
                  <a:srgbClr val="243746"/>
                </a:solidFill>
                <a:latin typeface="Calibri" pitchFamily="34" charset="0"/>
                <a:ea typeface="Calibri" pitchFamily="34" charset="-122"/>
                <a:cs typeface="Calibri" pitchFamily="34" charset="-120"/>
              </a:rPr>
              <a:t>Social media sources</a:t>
            </a:r>
            <a:endParaRPr lang="en-US" sz="1150" dirty="0"/>
          </a:p>
        </p:txBody>
      </p:sp>
      <p:sp>
        <p:nvSpPr>
          <p:cNvPr id="17" name="Text 11"/>
          <p:cNvSpPr/>
          <p:nvPr/>
        </p:nvSpPr>
        <p:spPr>
          <a:xfrm>
            <a:off x="640080" y="4160520"/>
            <a:ext cx="4572000" cy="320040"/>
          </a:xfrm>
          <a:prstGeom prst="rect">
            <a:avLst/>
          </a:prstGeom>
          <a:noFill/>
          <a:ln/>
        </p:spPr>
        <p:txBody>
          <a:bodyPr wrap="square" rtlCol="0" anchor="ctr"/>
          <a:lstStyle/>
          <a:p>
            <a:pPr indent="0" marL="0">
              <a:buNone/>
            </a:pPr>
            <a:r>
              <a:rPr lang="en-US" sz="1500" b="1" dirty="0">
                <a:solidFill>
                  <a:srgbClr val="1C7F82"/>
                </a:solidFill>
                <a:latin typeface="Cambria" pitchFamily="34" charset="0"/>
                <a:ea typeface="Cambria" pitchFamily="34" charset="-122"/>
                <a:cs typeface="Cambria" pitchFamily="34" charset="-120"/>
              </a:rPr>
              <a:t>Target Student Groups</a:t>
            </a:r>
            <a:endParaRPr lang="en-US" sz="1500" dirty="0"/>
          </a:p>
        </p:txBody>
      </p:sp>
      <p:sp>
        <p:nvSpPr>
          <p:cNvPr id="18" name="Shape 12"/>
          <p:cNvSpPr/>
          <p:nvPr/>
        </p:nvSpPr>
        <p:spPr>
          <a:xfrm>
            <a:off x="640080" y="4572000"/>
            <a:ext cx="2331720" cy="384048"/>
          </a:xfrm>
          <a:prstGeom prst="roundRect">
            <a:avLst>
              <a:gd name="adj" fmla="val 50000"/>
            </a:avLst>
          </a:prstGeom>
          <a:solidFill>
            <a:srgbClr val="E3E8EB"/>
          </a:solidFill>
          <a:ln/>
        </p:spPr>
      </p:sp>
      <p:sp>
        <p:nvSpPr>
          <p:cNvPr id="19" name="Text 13"/>
          <p:cNvSpPr/>
          <p:nvPr/>
        </p:nvSpPr>
        <p:spPr>
          <a:xfrm>
            <a:off x="640080" y="4572000"/>
            <a:ext cx="2331720" cy="384048"/>
          </a:xfrm>
          <a:prstGeom prst="rect">
            <a:avLst/>
          </a:prstGeom>
          <a:noFill/>
          <a:ln/>
        </p:spPr>
        <p:txBody>
          <a:bodyPr wrap="square" rtlCol="0" anchor="ctr"/>
          <a:lstStyle/>
          <a:p>
            <a:pPr algn="ctr" indent="0" marL="0">
              <a:buNone/>
            </a:pPr>
            <a:r>
              <a:rPr lang="en-US" sz="1100" b="1" dirty="0">
                <a:solidFill>
                  <a:srgbClr val="1B3A5C"/>
                </a:solidFill>
                <a:latin typeface="Calibri" pitchFamily="34" charset="0"/>
                <a:ea typeface="Calibri" pitchFamily="34" charset="-122"/>
                <a:cs typeface="Calibri" pitchFamily="34" charset="-120"/>
              </a:rPr>
              <a:t>K-8 Students</a:t>
            </a:r>
            <a:endParaRPr lang="en-US" sz="1100" dirty="0"/>
          </a:p>
        </p:txBody>
      </p:sp>
      <p:sp>
        <p:nvSpPr>
          <p:cNvPr id="20" name="Shape 14"/>
          <p:cNvSpPr/>
          <p:nvPr/>
        </p:nvSpPr>
        <p:spPr>
          <a:xfrm>
            <a:off x="3154680" y="4572000"/>
            <a:ext cx="2331720" cy="384048"/>
          </a:xfrm>
          <a:prstGeom prst="roundRect">
            <a:avLst>
              <a:gd name="adj" fmla="val 50000"/>
            </a:avLst>
          </a:prstGeom>
          <a:solidFill>
            <a:srgbClr val="E3E8EB"/>
          </a:solidFill>
          <a:ln/>
        </p:spPr>
      </p:sp>
      <p:sp>
        <p:nvSpPr>
          <p:cNvPr id="21" name="Text 15"/>
          <p:cNvSpPr/>
          <p:nvPr/>
        </p:nvSpPr>
        <p:spPr>
          <a:xfrm>
            <a:off x="3154680" y="4572000"/>
            <a:ext cx="2331720" cy="384048"/>
          </a:xfrm>
          <a:prstGeom prst="rect">
            <a:avLst/>
          </a:prstGeom>
          <a:noFill/>
          <a:ln/>
        </p:spPr>
        <p:txBody>
          <a:bodyPr wrap="square" rtlCol="0" anchor="ctr"/>
          <a:lstStyle/>
          <a:p>
            <a:pPr algn="ctr" indent="0" marL="0">
              <a:buNone/>
            </a:pPr>
            <a:r>
              <a:rPr lang="en-US" sz="1100" b="1" dirty="0">
                <a:solidFill>
                  <a:srgbClr val="1B3A5C"/>
                </a:solidFill>
                <a:latin typeface="Calibri" pitchFamily="34" charset="0"/>
                <a:ea typeface="Calibri" pitchFamily="34" charset="-122"/>
                <a:cs typeface="Calibri" pitchFamily="34" charset="-120"/>
              </a:rPr>
              <a:t>Grades 9-12</a:t>
            </a:r>
            <a:endParaRPr lang="en-US" sz="1100" dirty="0"/>
          </a:p>
        </p:txBody>
      </p:sp>
      <p:sp>
        <p:nvSpPr>
          <p:cNvPr id="22" name="Shape 16"/>
          <p:cNvSpPr/>
          <p:nvPr/>
        </p:nvSpPr>
        <p:spPr>
          <a:xfrm>
            <a:off x="640080" y="5074920"/>
            <a:ext cx="2331720" cy="384048"/>
          </a:xfrm>
          <a:prstGeom prst="roundRect">
            <a:avLst>
              <a:gd name="adj" fmla="val 50000"/>
            </a:avLst>
          </a:prstGeom>
          <a:solidFill>
            <a:srgbClr val="E3E8EB"/>
          </a:solidFill>
          <a:ln/>
        </p:spPr>
      </p:sp>
      <p:sp>
        <p:nvSpPr>
          <p:cNvPr id="23" name="Text 17"/>
          <p:cNvSpPr/>
          <p:nvPr/>
        </p:nvSpPr>
        <p:spPr>
          <a:xfrm>
            <a:off x="640080" y="5074920"/>
            <a:ext cx="2331720" cy="384048"/>
          </a:xfrm>
          <a:prstGeom prst="rect">
            <a:avLst/>
          </a:prstGeom>
          <a:noFill/>
          <a:ln/>
        </p:spPr>
        <p:txBody>
          <a:bodyPr wrap="square" rtlCol="0" anchor="ctr"/>
          <a:lstStyle/>
          <a:p>
            <a:pPr algn="ctr" indent="0" marL="0">
              <a:buNone/>
            </a:pPr>
            <a:r>
              <a:rPr lang="en-US" sz="1100" b="1" dirty="0">
                <a:solidFill>
                  <a:srgbClr val="1B3A5C"/>
                </a:solidFill>
                <a:latin typeface="Calibri" pitchFamily="34" charset="0"/>
                <a:ea typeface="Calibri" pitchFamily="34" charset="-122"/>
                <a:cs typeface="Calibri" pitchFamily="34" charset="-120"/>
              </a:rPr>
              <a:t>Undergraduate</a:t>
            </a:r>
            <a:endParaRPr lang="en-US" sz="1100" dirty="0"/>
          </a:p>
        </p:txBody>
      </p:sp>
      <p:sp>
        <p:nvSpPr>
          <p:cNvPr id="24" name="Shape 18"/>
          <p:cNvSpPr/>
          <p:nvPr/>
        </p:nvSpPr>
        <p:spPr>
          <a:xfrm>
            <a:off x="3154680" y="5074920"/>
            <a:ext cx="2331720" cy="384048"/>
          </a:xfrm>
          <a:prstGeom prst="roundRect">
            <a:avLst>
              <a:gd name="adj" fmla="val 50000"/>
            </a:avLst>
          </a:prstGeom>
          <a:solidFill>
            <a:srgbClr val="E3E8EB"/>
          </a:solidFill>
          <a:ln/>
        </p:spPr>
      </p:sp>
      <p:sp>
        <p:nvSpPr>
          <p:cNvPr id="25" name="Text 19"/>
          <p:cNvSpPr/>
          <p:nvPr/>
        </p:nvSpPr>
        <p:spPr>
          <a:xfrm>
            <a:off x="3154680" y="5074920"/>
            <a:ext cx="2331720" cy="384048"/>
          </a:xfrm>
          <a:prstGeom prst="rect">
            <a:avLst/>
          </a:prstGeom>
          <a:noFill/>
          <a:ln/>
        </p:spPr>
        <p:txBody>
          <a:bodyPr wrap="square" rtlCol="0" anchor="ctr"/>
          <a:lstStyle/>
          <a:p>
            <a:pPr algn="ctr" indent="0" marL="0">
              <a:buNone/>
            </a:pPr>
            <a:r>
              <a:rPr lang="en-US" sz="1100" b="1" dirty="0">
                <a:solidFill>
                  <a:srgbClr val="1B3A5C"/>
                </a:solidFill>
                <a:latin typeface="Calibri" pitchFamily="34" charset="0"/>
                <a:ea typeface="Calibri" pitchFamily="34" charset="-122"/>
                <a:cs typeface="Calibri" pitchFamily="34" charset="-120"/>
              </a:rPr>
              <a:t>Postgrad/Professional</a:t>
            </a:r>
            <a:endParaRPr lang="en-US" sz="1100" dirty="0"/>
          </a:p>
        </p:txBody>
      </p:sp>
      <p:sp>
        <p:nvSpPr>
          <p:cNvPr id="26" name="Shape 20"/>
          <p:cNvSpPr/>
          <p:nvPr/>
        </p:nvSpPr>
        <p:spPr>
          <a:xfrm>
            <a:off x="6720840" y="1188720"/>
            <a:ext cx="4800600" cy="5074920"/>
          </a:xfrm>
          <a:prstGeom prst="roundRect">
            <a:avLst>
              <a:gd name="adj" fmla="val 1524"/>
            </a:avLst>
          </a:prstGeom>
          <a:solidFill>
            <a:srgbClr val="1B3A5C"/>
          </a:solidFill>
          <a:ln/>
        </p:spPr>
      </p:sp>
      <p:sp>
        <p:nvSpPr>
          <p:cNvPr id="27" name="Text 21"/>
          <p:cNvSpPr/>
          <p:nvPr/>
        </p:nvSpPr>
        <p:spPr>
          <a:xfrm>
            <a:off x="7086600" y="1463040"/>
            <a:ext cx="4069080" cy="320040"/>
          </a:xfrm>
          <a:prstGeom prst="rect">
            <a:avLst/>
          </a:prstGeom>
          <a:noFill/>
          <a:ln/>
        </p:spPr>
        <p:txBody>
          <a:bodyPr wrap="square" rtlCol="0" anchor="ctr"/>
          <a:lstStyle/>
          <a:p>
            <a:pPr indent="0" marL="0">
              <a:buNone/>
            </a:pPr>
            <a:r>
              <a:rPr lang="en-US" sz="1250" b="1" spc="200" kern="0" dirty="0">
                <a:solidFill>
                  <a:srgbClr val="D98E2B"/>
                </a:solidFill>
                <a:latin typeface="Calibri" pitchFamily="34" charset="0"/>
                <a:ea typeface="Calibri" pitchFamily="34" charset="-122"/>
                <a:cs typeface="Calibri" pitchFamily="34" charset="-120"/>
              </a:rPr>
              <a:t>TARGET SAMPLE DESIGN</a:t>
            </a:r>
            <a:endParaRPr lang="en-US" sz="1250" dirty="0"/>
          </a:p>
        </p:txBody>
      </p:sp>
      <p:sp>
        <p:nvSpPr>
          <p:cNvPr id="28" name="Text 22"/>
          <p:cNvSpPr/>
          <p:nvPr/>
        </p:nvSpPr>
        <p:spPr>
          <a:xfrm>
            <a:off x="7086600" y="1764792"/>
            <a:ext cx="4069080" cy="274320"/>
          </a:xfrm>
          <a:prstGeom prst="rect">
            <a:avLst/>
          </a:prstGeom>
          <a:noFill/>
          <a:ln/>
        </p:spPr>
        <p:txBody>
          <a:bodyPr wrap="square" rtlCol="0" anchor="ctr"/>
          <a:lstStyle/>
          <a:p>
            <a:pPr indent="0" marL="0">
              <a:buNone/>
            </a:pPr>
            <a:r>
              <a:rPr lang="en-US" sz="1000" i="1" dirty="0">
                <a:solidFill>
                  <a:srgbClr val="9FB4C4"/>
                </a:solidFill>
                <a:latin typeface="Calibri" pitchFamily="34" charset="0"/>
                <a:ea typeface="Calibri" pitchFamily="34" charset="-122"/>
                <a:cs typeface="Calibri" pitchFamily="34" charset="-120"/>
              </a:rPr>
              <a:t>(planned, not completed results)</a:t>
            </a:r>
            <a:endParaRPr lang="en-US" sz="1000" dirty="0"/>
          </a:p>
        </p:txBody>
      </p:sp>
      <p:sp>
        <p:nvSpPr>
          <p:cNvPr id="29" name="Text 23"/>
          <p:cNvSpPr/>
          <p:nvPr/>
        </p:nvSpPr>
        <p:spPr>
          <a:xfrm>
            <a:off x="7086600" y="2240280"/>
            <a:ext cx="2194560" cy="1005840"/>
          </a:xfrm>
          <a:prstGeom prst="rect">
            <a:avLst/>
          </a:prstGeom>
          <a:noFill/>
          <a:ln/>
        </p:spPr>
        <p:txBody>
          <a:bodyPr wrap="square" rtlCol="0" anchor="ctr"/>
          <a:lstStyle/>
          <a:p>
            <a:pPr indent="0" marL="0">
              <a:buNone/>
            </a:pPr>
            <a:r>
              <a:rPr lang="en-US" sz="6200" b="1" dirty="0">
                <a:solidFill>
                  <a:srgbClr val="FFFFFF"/>
                </a:solidFill>
                <a:latin typeface="Cambria" pitchFamily="34" charset="0"/>
                <a:ea typeface="Cambria" pitchFamily="34" charset="-122"/>
                <a:cs typeface="Cambria" pitchFamily="34" charset="-120"/>
              </a:rPr>
              <a:t>180</a:t>
            </a:r>
            <a:endParaRPr lang="en-US" sz="6200" dirty="0"/>
          </a:p>
        </p:txBody>
      </p:sp>
      <p:sp>
        <p:nvSpPr>
          <p:cNvPr id="30" name="Text 24"/>
          <p:cNvSpPr/>
          <p:nvPr/>
        </p:nvSpPr>
        <p:spPr>
          <a:xfrm>
            <a:off x="7086600" y="3200400"/>
            <a:ext cx="2194560" cy="640080"/>
          </a:xfrm>
          <a:prstGeom prst="rect">
            <a:avLst/>
          </a:prstGeom>
          <a:noFill/>
          <a:ln/>
        </p:spPr>
        <p:txBody>
          <a:bodyPr wrap="square" rtlCol="0" anchor="ctr"/>
          <a:lstStyle/>
          <a:p>
            <a:pPr indent="0" marL="0">
              <a:lnSpc>
                <a:spcPct val="105000"/>
              </a:lnSpc>
              <a:buNone/>
            </a:pPr>
            <a:r>
              <a:rPr lang="en-US" sz="1200" dirty="0">
                <a:solidFill>
                  <a:srgbClr val="CADCE8"/>
                </a:solidFill>
                <a:latin typeface="Calibri" pitchFamily="34" charset="0"/>
                <a:ea typeface="Calibri" pitchFamily="34" charset="-122"/>
                <a:cs typeface="Calibri" pitchFamily="34" charset="-120"/>
              </a:rPr>
              <a:t>target student</a:t>
            </a:r>
            <a:endParaRPr lang="en-US" sz="1200" dirty="0"/>
          </a:p>
          <a:p>
            <a:pPr indent="0" marL="0">
              <a:lnSpc>
                <a:spcPct val="105000"/>
              </a:lnSpc>
              <a:buNone/>
            </a:pPr>
            <a:r>
              <a:rPr lang="en-US" sz="1200" dirty="0">
                <a:solidFill>
                  <a:srgbClr val="CADCE8"/>
                </a:solidFill>
                <a:latin typeface="Calibri" pitchFamily="34" charset="0"/>
                <a:ea typeface="Calibri" pitchFamily="34" charset="-122"/>
                <a:cs typeface="Calibri" pitchFamily="34" charset="-120"/>
              </a:rPr>
              <a:t>participants</a:t>
            </a:r>
            <a:endParaRPr lang="en-US" sz="1200" dirty="0"/>
          </a:p>
        </p:txBody>
      </p:sp>
      <p:sp>
        <p:nvSpPr>
          <p:cNvPr id="31" name="Shape 25"/>
          <p:cNvSpPr/>
          <p:nvPr/>
        </p:nvSpPr>
        <p:spPr>
          <a:xfrm>
            <a:off x="9418320" y="2286000"/>
            <a:ext cx="18288" cy="1463040"/>
          </a:xfrm>
          <a:prstGeom prst="rect">
            <a:avLst/>
          </a:prstGeom>
          <a:solidFill>
            <a:srgbClr val="3D5A73"/>
          </a:solidFill>
          <a:ln/>
        </p:spPr>
      </p:sp>
      <p:sp>
        <p:nvSpPr>
          <p:cNvPr id="32" name="Text 26"/>
          <p:cNvSpPr/>
          <p:nvPr/>
        </p:nvSpPr>
        <p:spPr>
          <a:xfrm>
            <a:off x="9601200" y="2240280"/>
            <a:ext cx="1554480" cy="1005840"/>
          </a:xfrm>
          <a:prstGeom prst="rect">
            <a:avLst/>
          </a:prstGeom>
          <a:noFill/>
          <a:ln/>
        </p:spPr>
        <p:txBody>
          <a:bodyPr wrap="square" rtlCol="0" anchor="ctr"/>
          <a:lstStyle/>
          <a:p>
            <a:pPr indent="0" marL="0">
              <a:buNone/>
            </a:pPr>
            <a:r>
              <a:rPr lang="en-US" sz="4400" b="1" dirty="0">
                <a:solidFill>
                  <a:srgbClr val="D98E2B"/>
                </a:solidFill>
                <a:latin typeface="Cambria" pitchFamily="34" charset="0"/>
                <a:ea typeface="Cambria" pitchFamily="34" charset="-122"/>
                <a:cs typeface="Cambria" pitchFamily="34" charset="-120"/>
              </a:rPr>
              <a:t>60%+</a:t>
            </a:r>
            <a:endParaRPr lang="en-US" sz="4400" dirty="0"/>
          </a:p>
        </p:txBody>
      </p:sp>
      <p:sp>
        <p:nvSpPr>
          <p:cNvPr id="33" name="Text 27"/>
          <p:cNvSpPr/>
          <p:nvPr/>
        </p:nvSpPr>
        <p:spPr>
          <a:xfrm>
            <a:off x="9601200" y="3200400"/>
            <a:ext cx="1737360" cy="640080"/>
          </a:xfrm>
          <a:prstGeom prst="rect">
            <a:avLst/>
          </a:prstGeom>
          <a:noFill/>
          <a:ln/>
        </p:spPr>
        <p:txBody>
          <a:bodyPr wrap="square" rtlCol="0" anchor="ctr"/>
          <a:lstStyle/>
          <a:p>
            <a:pPr indent="0" marL="0">
              <a:lnSpc>
                <a:spcPct val="105000"/>
              </a:lnSpc>
              <a:buNone/>
            </a:pPr>
            <a:r>
              <a:rPr lang="en-US" sz="1200" dirty="0">
                <a:solidFill>
                  <a:srgbClr val="CADCE8"/>
                </a:solidFill>
                <a:latin typeface="Calibri" pitchFamily="34" charset="0"/>
                <a:ea typeface="Calibri" pitchFamily="34" charset="-122"/>
                <a:cs typeface="Calibri" pitchFamily="34" charset="-120"/>
              </a:rPr>
              <a:t>from underserved</a:t>
            </a:r>
            <a:endParaRPr lang="en-US" sz="1200" dirty="0"/>
          </a:p>
          <a:p>
            <a:pPr indent="0" marL="0">
              <a:lnSpc>
                <a:spcPct val="105000"/>
              </a:lnSpc>
              <a:buNone/>
            </a:pPr>
            <a:r>
              <a:rPr lang="en-US" sz="1200" dirty="0">
                <a:solidFill>
                  <a:srgbClr val="CADCE8"/>
                </a:solidFill>
                <a:latin typeface="Calibri" pitchFamily="34" charset="0"/>
                <a:ea typeface="Calibri" pitchFamily="34" charset="-122"/>
                <a:cs typeface="Calibri" pitchFamily="34" charset="-120"/>
              </a:rPr>
              <a:t>communities</a:t>
            </a:r>
            <a:endParaRPr lang="en-US" sz="1200" dirty="0"/>
          </a:p>
        </p:txBody>
      </p:sp>
      <p:sp>
        <p:nvSpPr>
          <p:cNvPr id="34" name="Shape 28"/>
          <p:cNvSpPr/>
          <p:nvPr/>
        </p:nvSpPr>
        <p:spPr>
          <a:xfrm>
            <a:off x="7086600" y="4069080"/>
            <a:ext cx="4069080" cy="18288"/>
          </a:xfrm>
          <a:prstGeom prst="rect">
            <a:avLst/>
          </a:prstGeom>
          <a:solidFill>
            <a:srgbClr val="3D5A73"/>
          </a:solidFill>
          <a:ln/>
        </p:spPr>
      </p:sp>
      <p:sp>
        <p:nvSpPr>
          <p:cNvPr id="35" name="Text 29"/>
          <p:cNvSpPr/>
          <p:nvPr/>
        </p:nvSpPr>
        <p:spPr>
          <a:xfrm>
            <a:off x="7086600" y="4297680"/>
            <a:ext cx="4069080" cy="320040"/>
          </a:xfrm>
          <a:prstGeom prst="rect">
            <a:avLst/>
          </a:prstGeom>
          <a:noFill/>
          <a:ln/>
        </p:spPr>
        <p:txBody>
          <a:bodyPr wrap="square"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Sampling Strategy</a:t>
            </a:r>
            <a:endParaRPr lang="en-US" sz="1250" dirty="0"/>
          </a:p>
        </p:txBody>
      </p:sp>
      <p:sp>
        <p:nvSpPr>
          <p:cNvPr id="36" name="Text 30"/>
          <p:cNvSpPr/>
          <p:nvPr/>
        </p:nvSpPr>
        <p:spPr>
          <a:xfrm>
            <a:off x="7086600" y="4645152"/>
            <a:ext cx="4069080" cy="1371600"/>
          </a:xfrm>
          <a:prstGeom prst="rect">
            <a:avLst/>
          </a:prstGeom>
          <a:noFill/>
          <a:ln/>
        </p:spPr>
        <p:txBody>
          <a:bodyPr wrap="square" rtlCol="0" anchor="ctr"/>
          <a:lstStyle/>
          <a:p>
            <a:pPr indent="0" marL="0">
              <a:lnSpc>
                <a:spcPct val="115000"/>
              </a:lnSpc>
              <a:buNone/>
            </a:pPr>
            <a:r>
              <a:rPr lang="en-US" sz="1150" dirty="0">
                <a:solidFill>
                  <a:srgbClr val="CADCE8"/>
                </a:solidFill>
                <a:latin typeface="Calibri" pitchFamily="34" charset="0"/>
                <a:ea typeface="Calibri" pitchFamily="34" charset="-122"/>
                <a:cs typeface="Calibri" pitchFamily="34" charset="-120"/>
              </a:rPr>
              <a:t>Purposive sampling — participants selected deliberately to represent the four target education levels, with priority given to underserved-community access points.</a:t>
            </a:r>
            <a:endParaRPr lang="en-US" sz="1150" dirty="0"/>
          </a:p>
        </p:txBody>
      </p:sp>
      <p:sp>
        <p:nvSpPr>
          <p:cNvPr id="37" name="Text 31"/>
          <p:cNvSpPr/>
          <p:nvPr/>
        </p:nvSpPr>
        <p:spPr>
          <a:xfrm>
            <a:off x="457200" y="6519672"/>
            <a:ext cx="7315200" cy="274320"/>
          </a:xfrm>
          <a:prstGeom prst="rect">
            <a:avLst/>
          </a:prstGeom>
          <a:noFill/>
          <a:ln/>
        </p:spPr>
        <p:txBody>
          <a:bodyPr wrap="square" rtlCol="0" anchor="ctr"/>
          <a:lstStyle/>
          <a:p>
            <a:pPr algn="l" indent="0" marL="0">
              <a:buNone/>
            </a:pPr>
            <a:r>
              <a:rPr lang="en-US" sz="900" dirty="0">
                <a:solidFill>
                  <a:srgbClr val="5B6B78"/>
                </a:solidFill>
                <a:latin typeface="Calibri" pitchFamily="34" charset="0"/>
                <a:ea typeface="Calibri" pitchFamily="34" charset="-122"/>
                <a:cs typeface="Calibri" pitchFamily="34" charset="-120"/>
              </a:rPr>
              <a:t>Understanding Examination Preparation Challenges</a:t>
            </a:r>
            <a:endParaRPr lang="en-US" sz="900" dirty="0"/>
          </a:p>
        </p:txBody>
      </p:sp>
      <p:sp>
        <p:nvSpPr>
          <p:cNvPr id="38" name="Text 32"/>
          <p:cNvSpPr/>
          <p:nvPr/>
        </p:nvSpPr>
        <p:spPr>
          <a:xfrm>
            <a:off x="11277295" y="6519672"/>
            <a:ext cx="457200" cy="274320"/>
          </a:xfrm>
          <a:prstGeom prst="rect">
            <a:avLst/>
          </a:prstGeom>
          <a:noFill/>
          <a:ln/>
        </p:spPr>
        <p:txBody>
          <a:bodyPr wrap="square" rtlCol="0" anchor="ctr"/>
          <a:lstStyle/>
          <a:p>
            <a:pPr algn="r" indent="0" marL="0">
              <a:buNone/>
            </a:pPr>
            <a:r>
              <a:rPr lang="en-US" sz="900" dirty="0">
                <a:solidFill>
                  <a:srgbClr val="5B6B78"/>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12191695" cy="960120"/>
          </a:xfrm>
          <a:prstGeom prst="rect">
            <a:avLst/>
          </a:prstGeom>
          <a:solidFill>
            <a:srgbClr val="F1F4F6"/>
          </a:solidFill>
          <a:ln/>
        </p:spPr>
      </p:sp>
      <p:sp>
        <p:nvSpPr>
          <p:cNvPr id="3" name="Text 1"/>
          <p:cNvSpPr/>
          <p:nvPr/>
        </p:nvSpPr>
        <p:spPr>
          <a:xfrm>
            <a:off x="640080" y="256032"/>
            <a:ext cx="9601200" cy="502920"/>
          </a:xfrm>
          <a:prstGeom prst="rect">
            <a:avLst/>
          </a:prstGeom>
          <a:noFill/>
          <a:ln/>
        </p:spPr>
        <p:txBody>
          <a:bodyPr wrap="square" rtlCol="0" anchor="ctr"/>
          <a:lstStyle/>
          <a:p>
            <a:pPr indent="0" marL="0">
              <a:buNone/>
            </a:pPr>
            <a:r>
              <a:rPr lang="en-US" sz="2600" b="1" dirty="0">
                <a:solidFill>
                  <a:srgbClr val="1B3A5C"/>
                </a:solidFill>
                <a:latin typeface="Cambria" pitchFamily="34" charset="0"/>
                <a:ea typeface="Cambria" pitchFamily="34" charset="-122"/>
                <a:cs typeface="Cambria" pitchFamily="34" charset="-120"/>
              </a:rPr>
              <a:t>Technologies, Tools &amp; Data Collection</a:t>
            </a:r>
            <a:endParaRPr lang="en-US" sz="2600" dirty="0"/>
          </a:p>
        </p:txBody>
      </p:sp>
      <p:sp>
        <p:nvSpPr>
          <p:cNvPr id="4" name="Shape 2"/>
          <p:cNvSpPr/>
          <p:nvPr/>
        </p:nvSpPr>
        <p:spPr>
          <a:xfrm>
            <a:off x="640080" y="1371600"/>
            <a:ext cx="2615184" cy="3291840"/>
          </a:xfrm>
          <a:prstGeom prst="roundRect">
            <a:avLst>
              <a:gd name="adj" fmla="val 2448"/>
            </a:avLst>
          </a:prstGeom>
          <a:solidFill>
            <a:srgbClr val="1B3A5C"/>
          </a:solidFill>
          <a:ln/>
        </p:spPr>
      </p:sp>
      <p:sp>
        <p:nvSpPr>
          <p:cNvPr id="5" name="Shape 3"/>
          <p:cNvSpPr/>
          <p:nvPr/>
        </p:nvSpPr>
        <p:spPr>
          <a:xfrm>
            <a:off x="1559052" y="1691640"/>
            <a:ext cx="777240" cy="777240"/>
          </a:xfrm>
          <a:prstGeom prst="ellipse">
            <a:avLst/>
          </a:prstGeom>
          <a:solidFill>
            <a:srgbClr val="FFFFFF"/>
          </a:solidFill>
          <a:ln/>
        </p:spPr>
      </p:sp>
      <p:pic>
        <p:nvPicPr>
          <p:cNvPr id="6" name="Image 0" descr="preencoded.png">    </p:cNvPr>
          <p:cNvPicPr>
            <a:picLocks noChangeAspect="1"/>
          </p:cNvPicPr>
          <p:nvPr/>
        </p:nvPicPr>
        <p:blipFill>
          <a:blip r:embed="rId1"/>
          <a:stretch>
            <a:fillRect/>
          </a:stretch>
        </p:blipFill>
        <p:spPr>
          <a:xfrm>
            <a:off x="1732788" y="1865376"/>
            <a:ext cx="429768" cy="429768"/>
          </a:xfrm>
          <a:prstGeom prst="rect">
            <a:avLst/>
          </a:prstGeom>
        </p:spPr>
      </p:pic>
      <p:sp>
        <p:nvSpPr>
          <p:cNvPr id="7" name="Shape 4"/>
          <p:cNvSpPr/>
          <p:nvPr/>
        </p:nvSpPr>
        <p:spPr>
          <a:xfrm>
            <a:off x="3383280" y="1371600"/>
            <a:ext cx="2615184" cy="3291840"/>
          </a:xfrm>
          <a:prstGeom prst="roundRect">
            <a:avLst>
              <a:gd name="adj" fmla="val 2448"/>
            </a:avLst>
          </a:prstGeom>
          <a:solidFill>
            <a:srgbClr val="1C7F82"/>
          </a:solidFill>
          <a:ln/>
        </p:spPr>
      </p:sp>
      <p:sp>
        <p:nvSpPr>
          <p:cNvPr id="8" name="Shape 5"/>
          <p:cNvSpPr/>
          <p:nvPr/>
        </p:nvSpPr>
        <p:spPr>
          <a:xfrm>
            <a:off x="4302252" y="1691640"/>
            <a:ext cx="777240" cy="777240"/>
          </a:xfrm>
          <a:prstGeom prst="ellipse">
            <a:avLst/>
          </a:prstGeom>
          <a:solidFill>
            <a:srgbClr val="FFFFFF"/>
          </a:solidFill>
          <a:ln/>
        </p:spPr>
      </p:sp>
      <p:pic>
        <p:nvPicPr>
          <p:cNvPr id="9" name="Image 1" descr="preencoded.png">    </p:cNvPr>
          <p:cNvPicPr>
            <a:picLocks noChangeAspect="1"/>
          </p:cNvPicPr>
          <p:nvPr/>
        </p:nvPicPr>
        <p:blipFill>
          <a:blip r:embed="rId2"/>
          <a:stretch>
            <a:fillRect/>
          </a:stretch>
        </p:blipFill>
        <p:spPr>
          <a:xfrm>
            <a:off x="4475988" y="1865376"/>
            <a:ext cx="429768" cy="429768"/>
          </a:xfrm>
          <a:prstGeom prst="rect">
            <a:avLst/>
          </a:prstGeom>
        </p:spPr>
      </p:pic>
      <p:sp>
        <p:nvSpPr>
          <p:cNvPr id="10" name="Shape 6"/>
          <p:cNvSpPr/>
          <p:nvPr/>
        </p:nvSpPr>
        <p:spPr>
          <a:xfrm>
            <a:off x="6126480" y="1371600"/>
            <a:ext cx="2615184" cy="3291840"/>
          </a:xfrm>
          <a:prstGeom prst="roundRect">
            <a:avLst>
              <a:gd name="adj" fmla="val 2448"/>
            </a:avLst>
          </a:prstGeom>
          <a:solidFill>
            <a:srgbClr val="1B3A5C"/>
          </a:solidFill>
          <a:ln/>
        </p:spPr>
      </p:sp>
      <p:sp>
        <p:nvSpPr>
          <p:cNvPr id="11" name="Shape 7"/>
          <p:cNvSpPr/>
          <p:nvPr/>
        </p:nvSpPr>
        <p:spPr>
          <a:xfrm>
            <a:off x="7045452" y="1691640"/>
            <a:ext cx="777240" cy="777240"/>
          </a:xfrm>
          <a:prstGeom prst="ellipse">
            <a:avLst/>
          </a:prstGeom>
          <a:solidFill>
            <a:srgbClr val="FFFFFF"/>
          </a:solidFill>
          <a:ln/>
        </p:spPr>
      </p:sp>
      <p:pic>
        <p:nvPicPr>
          <p:cNvPr id="12" name="Image 2" descr="preencoded.png">    </p:cNvPr>
          <p:cNvPicPr>
            <a:picLocks noChangeAspect="1"/>
          </p:cNvPicPr>
          <p:nvPr/>
        </p:nvPicPr>
        <p:blipFill>
          <a:blip r:embed="rId3"/>
          <a:stretch>
            <a:fillRect/>
          </a:stretch>
        </p:blipFill>
        <p:spPr>
          <a:xfrm>
            <a:off x="7219188" y="1865376"/>
            <a:ext cx="429768" cy="429768"/>
          </a:xfrm>
          <a:prstGeom prst="rect">
            <a:avLst/>
          </a:prstGeom>
        </p:spPr>
      </p:pic>
      <p:sp>
        <p:nvSpPr>
          <p:cNvPr id="13" name="Shape 8"/>
          <p:cNvSpPr/>
          <p:nvPr/>
        </p:nvSpPr>
        <p:spPr>
          <a:xfrm>
            <a:off x="8869680" y="1371600"/>
            <a:ext cx="2615184" cy="3291840"/>
          </a:xfrm>
          <a:prstGeom prst="roundRect">
            <a:avLst>
              <a:gd name="adj" fmla="val 2448"/>
            </a:avLst>
          </a:prstGeom>
          <a:solidFill>
            <a:srgbClr val="1C7F82"/>
          </a:solidFill>
          <a:ln/>
        </p:spPr>
      </p:sp>
      <p:sp>
        <p:nvSpPr>
          <p:cNvPr id="14" name="Shape 9"/>
          <p:cNvSpPr/>
          <p:nvPr/>
        </p:nvSpPr>
        <p:spPr>
          <a:xfrm>
            <a:off x="9788652" y="1691640"/>
            <a:ext cx="777240" cy="777240"/>
          </a:xfrm>
          <a:prstGeom prst="ellipse">
            <a:avLst/>
          </a:prstGeom>
          <a:solidFill>
            <a:srgbClr val="FFFFFF"/>
          </a:solidFill>
          <a:ln/>
        </p:spPr>
      </p:sp>
      <p:pic>
        <p:nvPicPr>
          <p:cNvPr id="15" name="Image 3" descr="preencoded.png">    </p:cNvPr>
          <p:cNvPicPr>
            <a:picLocks noChangeAspect="1"/>
          </p:cNvPicPr>
          <p:nvPr/>
        </p:nvPicPr>
        <p:blipFill>
          <a:blip r:embed="rId4"/>
          <a:stretch>
            <a:fillRect/>
          </a:stretch>
        </p:blipFill>
        <p:spPr>
          <a:xfrm>
            <a:off x="9962388" y="1865376"/>
            <a:ext cx="429768" cy="429768"/>
          </a:xfrm>
          <a:prstGeom prst="rect">
            <a:avLst/>
          </a:prstGeom>
        </p:spPr>
      </p:pic>
      <p:sp>
        <p:nvSpPr>
          <p:cNvPr id="16" name="Shape 10"/>
          <p:cNvSpPr/>
          <p:nvPr/>
        </p:nvSpPr>
        <p:spPr>
          <a:xfrm>
            <a:off x="1559052" y="1691640"/>
            <a:ext cx="777240" cy="777240"/>
          </a:xfrm>
          <a:prstGeom prst="ellipse">
            <a:avLst/>
          </a:prstGeom>
          <a:solidFill>
            <a:srgbClr val="1C7F82"/>
          </a:solidFill>
          <a:ln/>
        </p:spPr>
      </p:sp>
      <p:pic>
        <p:nvPicPr>
          <p:cNvPr id="17" name="Image 4" descr="preencoded.png">    </p:cNvPr>
          <p:cNvPicPr>
            <a:picLocks noChangeAspect="1"/>
          </p:cNvPicPr>
          <p:nvPr/>
        </p:nvPicPr>
        <p:blipFill>
          <a:blip r:embed="rId5"/>
          <a:stretch>
            <a:fillRect/>
          </a:stretch>
        </p:blipFill>
        <p:spPr>
          <a:xfrm>
            <a:off x="1732788" y="1865376"/>
            <a:ext cx="429768" cy="429768"/>
          </a:xfrm>
          <a:prstGeom prst="rect">
            <a:avLst/>
          </a:prstGeom>
        </p:spPr>
      </p:pic>
      <p:sp>
        <p:nvSpPr>
          <p:cNvPr id="18" name="Text 11"/>
          <p:cNvSpPr/>
          <p:nvPr/>
        </p:nvSpPr>
        <p:spPr>
          <a:xfrm>
            <a:off x="777240" y="2606040"/>
            <a:ext cx="2340864" cy="502920"/>
          </a:xfrm>
          <a:prstGeom prst="rect">
            <a:avLst/>
          </a:prstGeom>
          <a:noFill/>
          <a:ln/>
        </p:spPr>
        <p:txBody>
          <a:bodyPr wrap="square" rtlCol="0" anchor="ctr"/>
          <a:lstStyle/>
          <a:p>
            <a:pPr algn="ctr" indent="0" marL="0">
              <a:lnSpc>
                <a:spcPct val="102000"/>
              </a:lnSpc>
              <a:buNone/>
            </a:pPr>
            <a:r>
              <a:rPr lang="en-US" sz="1300" b="1" dirty="0">
                <a:solidFill>
                  <a:srgbClr val="FFFFFF"/>
                </a:solidFill>
                <a:latin typeface="Calibri" pitchFamily="34" charset="0"/>
                <a:ea typeface="Calibri" pitchFamily="34" charset="-122"/>
                <a:cs typeface="Calibri" pitchFamily="34" charset="-120"/>
              </a:rPr>
              <a:t>Structured Questionnaires</a:t>
            </a:r>
            <a:endParaRPr lang="en-US" sz="1300" dirty="0"/>
          </a:p>
        </p:txBody>
      </p:sp>
      <p:sp>
        <p:nvSpPr>
          <p:cNvPr id="19" name="Shape 12"/>
          <p:cNvSpPr/>
          <p:nvPr/>
        </p:nvSpPr>
        <p:spPr>
          <a:xfrm>
            <a:off x="960120" y="3127248"/>
            <a:ext cx="1975104" cy="292608"/>
          </a:xfrm>
          <a:prstGeom prst="roundRect">
            <a:avLst>
              <a:gd name="adj" fmla="val 50000"/>
            </a:avLst>
          </a:prstGeom>
          <a:solidFill>
            <a:srgbClr val="D98E2B"/>
          </a:solidFill>
          <a:ln/>
        </p:spPr>
      </p:sp>
      <p:sp>
        <p:nvSpPr>
          <p:cNvPr id="20" name="Text 13"/>
          <p:cNvSpPr/>
          <p:nvPr/>
        </p:nvSpPr>
        <p:spPr>
          <a:xfrm>
            <a:off x="960120" y="3127248"/>
            <a:ext cx="1975104" cy="292608"/>
          </a:xfrm>
          <a:prstGeom prst="rect">
            <a:avLst/>
          </a:prstGeom>
          <a:noFill/>
          <a:ln/>
        </p:spPr>
        <p:txBody>
          <a:bodyPr wrap="square" rtlCol="0" anchor="ctr"/>
          <a:lstStyle/>
          <a:p>
            <a:pPr algn="ctr" indent="0" marL="0">
              <a:buNone/>
            </a:pPr>
            <a:r>
              <a:rPr lang="en-US" sz="950" b="1" dirty="0">
                <a:solidFill>
                  <a:srgbClr val="122A44"/>
                </a:solidFill>
                <a:latin typeface="Calibri" pitchFamily="34" charset="0"/>
                <a:ea typeface="Calibri" pitchFamily="34" charset="-122"/>
                <a:cs typeface="Calibri" pitchFamily="34" charset="-120"/>
              </a:rPr>
              <a:t>Data Collection</a:t>
            </a:r>
            <a:endParaRPr lang="en-US" sz="950" dirty="0"/>
          </a:p>
        </p:txBody>
      </p:sp>
      <p:sp>
        <p:nvSpPr>
          <p:cNvPr id="21" name="Text 14"/>
          <p:cNvSpPr/>
          <p:nvPr/>
        </p:nvSpPr>
        <p:spPr>
          <a:xfrm>
            <a:off x="822960" y="3520440"/>
            <a:ext cx="2249424" cy="1051560"/>
          </a:xfrm>
          <a:prstGeom prst="rect">
            <a:avLst/>
          </a:prstGeom>
          <a:noFill/>
          <a:ln/>
        </p:spPr>
        <p:txBody>
          <a:bodyPr wrap="square" rtlCol="0" anchor="ctr"/>
          <a:lstStyle/>
          <a:p>
            <a:pPr algn="ctr" indent="0" marL="0">
              <a:lnSpc>
                <a:spcPct val="112000"/>
              </a:lnSpc>
              <a:buNone/>
            </a:pPr>
            <a:r>
              <a:rPr lang="en-US" sz="1000" dirty="0">
                <a:solidFill>
                  <a:srgbClr val="E4ECF1"/>
                </a:solidFill>
                <a:latin typeface="Calibri" pitchFamily="34" charset="0"/>
                <a:ea typeface="Calibri" pitchFamily="34" charset="-122"/>
                <a:cs typeface="Calibri" pitchFamily="34" charset="-120"/>
              </a:rPr>
              <a:t>Likert-scale, multiple-choice &amp; open-ended items across the 7 challenge themes</a:t>
            </a:r>
            <a:endParaRPr lang="en-US" sz="1000" dirty="0"/>
          </a:p>
        </p:txBody>
      </p:sp>
      <p:sp>
        <p:nvSpPr>
          <p:cNvPr id="22" name="Shape 15"/>
          <p:cNvSpPr/>
          <p:nvPr/>
        </p:nvSpPr>
        <p:spPr>
          <a:xfrm>
            <a:off x="4302252" y="1691640"/>
            <a:ext cx="777240" cy="777240"/>
          </a:xfrm>
          <a:prstGeom prst="ellipse">
            <a:avLst/>
          </a:prstGeom>
          <a:solidFill>
            <a:srgbClr val="1B3A5C"/>
          </a:solidFill>
          <a:ln/>
        </p:spPr>
      </p:sp>
      <p:pic>
        <p:nvPicPr>
          <p:cNvPr id="23" name="Image 5" descr="preencoded.png">    </p:cNvPr>
          <p:cNvPicPr>
            <a:picLocks noChangeAspect="1"/>
          </p:cNvPicPr>
          <p:nvPr/>
        </p:nvPicPr>
        <p:blipFill>
          <a:blip r:embed="rId6"/>
          <a:stretch>
            <a:fillRect/>
          </a:stretch>
        </p:blipFill>
        <p:spPr>
          <a:xfrm>
            <a:off x="4475988" y="1865376"/>
            <a:ext cx="429768" cy="429768"/>
          </a:xfrm>
          <a:prstGeom prst="rect">
            <a:avLst/>
          </a:prstGeom>
        </p:spPr>
      </p:pic>
      <p:sp>
        <p:nvSpPr>
          <p:cNvPr id="24" name="Text 16"/>
          <p:cNvSpPr/>
          <p:nvPr/>
        </p:nvSpPr>
        <p:spPr>
          <a:xfrm>
            <a:off x="3520440" y="2606040"/>
            <a:ext cx="2340864" cy="502920"/>
          </a:xfrm>
          <a:prstGeom prst="rect">
            <a:avLst/>
          </a:prstGeom>
          <a:noFill/>
          <a:ln/>
        </p:spPr>
        <p:txBody>
          <a:bodyPr wrap="square" rtlCol="0" anchor="ctr"/>
          <a:lstStyle/>
          <a:p>
            <a:pPr algn="ctr" indent="0" marL="0">
              <a:lnSpc>
                <a:spcPct val="102000"/>
              </a:lnSpc>
              <a:buNone/>
            </a:pPr>
            <a:r>
              <a:rPr lang="en-US" sz="1300" b="1" dirty="0">
                <a:solidFill>
                  <a:srgbClr val="FFFFFF"/>
                </a:solidFill>
                <a:latin typeface="Calibri" pitchFamily="34" charset="0"/>
                <a:ea typeface="Calibri" pitchFamily="34" charset="-122"/>
                <a:cs typeface="Calibri" pitchFamily="34" charset="-120"/>
              </a:rPr>
              <a:t>Microsoft Excel</a:t>
            </a:r>
            <a:endParaRPr lang="en-US" sz="1300" dirty="0"/>
          </a:p>
        </p:txBody>
      </p:sp>
      <p:sp>
        <p:nvSpPr>
          <p:cNvPr id="25" name="Shape 17"/>
          <p:cNvSpPr/>
          <p:nvPr/>
        </p:nvSpPr>
        <p:spPr>
          <a:xfrm>
            <a:off x="3703320" y="3127248"/>
            <a:ext cx="1975104" cy="292608"/>
          </a:xfrm>
          <a:prstGeom prst="roundRect">
            <a:avLst>
              <a:gd name="adj" fmla="val 50000"/>
            </a:avLst>
          </a:prstGeom>
          <a:solidFill>
            <a:srgbClr val="D98E2B"/>
          </a:solidFill>
          <a:ln/>
        </p:spPr>
      </p:sp>
      <p:sp>
        <p:nvSpPr>
          <p:cNvPr id="26" name="Text 18"/>
          <p:cNvSpPr/>
          <p:nvPr/>
        </p:nvSpPr>
        <p:spPr>
          <a:xfrm>
            <a:off x="3703320" y="3127248"/>
            <a:ext cx="1975104" cy="292608"/>
          </a:xfrm>
          <a:prstGeom prst="rect">
            <a:avLst/>
          </a:prstGeom>
          <a:noFill/>
          <a:ln/>
        </p:spPr>
        <p:txBody>
          <a:bodyPr wrap="square" rtlCol="0" anchor="ctr"/>
          <a:lstStyle/>
          <a:p>
            <a:pPr algn="ctr" indent="0" marL="0">
              <a:buNone/>
            </a:pPr>
            <a:r>
              <a:rPr lang="en-US" sz="950" b="1" dirty="0">
                <a:solidFill>
                  <a:srgbClr val="122A44"/>
                </a:solidFill>
                <a:latin typeface="Calibri" pitchFamily="34" charset="0"/>
                <a:ea typeface="Calibri" pitchFamily="34" charset="-122"/>
                <a:cs typeface="Calibri" pitchFamily="34" charset="-120"/>
              </a:rPr>
              <a:t>Data Organization &amp; Cleaning</a:t>
            </a:r>
            <a:endParaRPr lang="en-US" sz="950" dirty="0"/>
          </a:p>
        </p:txBody>
      </p:sp>
      <p:sp>
        <p:nvSpPr>
          <p:cNvPr id="27" name="Text 19"/>
          <p:cNvSpPr/>
          <p:nvPr/>
        </p:nvSpPr>
        <p:spPr>
          <a:xfrm>
            <a:off x="3566160" y="3520440"/>
            <a:ext cx="2249424" cy="1051560"/>
          </a:xfrm>
          <a:prstGeom prst="rect">
            <a:avLst/>
          </a:prstGeom>
          <a:noFill/>
          <a:ln/>
        </p:spPr>
        <p:txBody>
          <a:bodyPr wrap="square" rtlCol="0" anchor="ctr"/>
          <a:lstStyle/>
          <a:p>
            <a:pPr algn="ctr" indent="0" marL="0">
              <a:lnSpc>
                <a:spcPct val="112000"/>
              </a:lnSpc>
              <a:buNone/>
            </a:pPr>
            <a:r>
              <a:rPr lang="en-US" sz="1000" dirty="0">
                <a:solidFill>
                  <a:srgbClr val="E4ECF1"/>
                </a:solidFill>
                <a:latin typeface="Calibri" pitchFamily="34" charset="0"/>
                <a:ea typeface="Calibri" pitchFamily="34" charset="-122"/>
                <a:cs typeface="Calibri" pitchFamily="34" charset="-120"/>
              </a:rPr>
              <a:t>Master sheet for entering, cleaning and accuracy-checking responses</a:t>
            </a:r>
            <a:endParaRPr lang="en-US" sz="1000" dirty="0"/>
          </a:p>
        </p:txBody>
      </p:sp>
      <p:sp>
        <p:nvSpPr>
          <p:cNvPr id="28" name="Shape 20"/>
          <p:cNvSpPr/>
          <p:nvPr/>
        </p:nvSpPr>
        <p:spPr>
          <a:xfrm>
            <a:off x="7045452" y="1691640"/>
            <a:ext cx="777240" cy="777240"/>
          </a:xfrm>
          <a:prstGeom prst="ellipse">
            <a:avLst/>
          </a:prstGeom>
          <a:solidFill>
            <a:srgbClr val="1C7F82"/>
          </a:solidFill>
          <a:ln/>
        </p:spPr>
      </p:sp>
      <p:pic>
        <p:nvPicPr>
          <p:cNvPr id="29" name="Image 6" descr="preencoded.png">    </p:cNvPr>
          <p:cNvPicPr>
            <a:picLocks noChangeAspect="1"/>
          </p:cNvPicPr>
          <p:nvPr/>
        </p:nvPicPr>
        <p:blipFill>
          <a:blip r:embed="rId7"/>
          <a:stretch>
            <a:fillRect/>
          </a:stretch>
        </p:blipFill>
        <p:spPr>
          <a:xfrm>
            <a:off x="7219188" y="1865376"/>
            <a:ext cx="429768" cy="429768"/>
          </a:xfrm>
          <a:prstGeom prst="rect">
            <a:avLst/>
          </a:prstGeom>
        </p:spPr>
      </p:pic>
      <p:sp>
        <p:nvSpPr>
          <p:cNvPr id="30" name="Text 21"/>
          <p:cNvSpPr/>
          <p:nvPr/>
        </p:nvSpPr>
        <p:spPr>
          <a:xfrm>
            <a:off x="6263640" y="2606040"/>
            <a:ext cx="2340864" cy="502920"/>
          </a:xfrm>
          <a:prstGeom prst="rect">
            <a:avLst/>
          </a:prstGeom>
          <a:noFill/>
          <a:ln/>
        </p:spPr>
        <p:txBody>
          <a:bodyPr wrap="square" rtlCol="0" anchor="ctr"/>
          <a:lstStyle/>
          <a:p>
            <a:pPr algn="ctr" indent="0" marL="0">
              <a:lnSpc>
                <a:spcPct val="102000"/>
              </a:lnSpc>
              <a:buNone/>
            </a:pPr>
            <a:r>
              <a:rPr lang="en-US" sz="1300" b="1" dirty="0">
                <a:solidFill>
                  <a:srgbClr val="FFFFFF"/>
                </a:solidFill>
                <a:latin typeface="Calibri" pitchFamily="34" charset="0"/>
                <a:ea typeface="Calibri" pitchFamily="34" charset="-122"/>
                <a:cs typeface="Calibri" pitchFamily="34" charset="-120"/>
              </a:rPr>
              <a:t>Microsoft Power BI</a:t>
            </a:r>
            <a:endParaRPr lang="en-US" sz="1300" dirty="0"/>
          </a:p>
        </p:txBody>
      </p:sp>
      <p:sp>
        <p:nvSpPr>
          <p:cNvPr id="31" name="Shape 22"/>
          <p:cNvSpPr/>
          <p:nvPr/>
        </p:nvSpPr>
        <p:spPr>
          <a:xfrm>
            <a:off x="6446520" y="3127248"/>
            <a:ext cx="1975104" cy="292608"/>
          </a:xfrm>
          <a:prstGeom prst="roundRect">
            <a:avLst>
              <a:gd name="adj" fmla="val 50000"/>
            </a:avLst>
          </a:prstGeom>
          <a:solidFill>
            <a:srgbClr val="D98E2B"/>
          </a:solidFill>
          <a:ln/>
        </p:spPr>
      </p:sp>
      <p:sp>
        <p:nvSpPr>
          <p:cNvPr id="32" name="Text 23"/>
          <p:cNvSpPr/>
          <p:nvPr/>
        </p:nvSpPr>
        <p:spPr>
          <a:xfrm>
            <a:off x="6446520" y="3127248"/>
            <a:ext cx="1975104" cy="292608"/>
          </a:xfrm>
          <a:prstGeom prst="rect">
            <a:avLst/>
          </a:prstGeom>
          <a:noFill/>
          <a:ln/>
        </p:spPr>
        <p:txBody>
          <a:bodyPr wrap="square" rtlCol="0" anchor="ctr"/>
          <a:lstStyle/>
          <a:p>
            <a:pPr algn="ctr" indent="0" marL="0">
              <a:buNone/>
            </a:pPr>
            <a:r>
              <a:rPr lang="en-US" sz="950" b="1" dirty="0">
                <a:solidFill>
                  <a:srgbClr val="122A44"/>
                </a:solidFill>
                <a:latin typeface="Calibri" pitchFamily="34" charset="0"/>
                <a:ea typeface="Calibri" pitchFamily="34" charset="-122"/>
                <a:cs typeface="Calibri" pitchFamily="34" charset="-120"/>
              </a:rPr>
              <a:t>Analysis &amp; Visualization</a:t>
            </a:r>
            <a:endParaRPr lang="en-US" sz="950" dirty="0"/>
          </a:p>
        </p:txBody>
      </p:sp>
      <p:sp>
        <p:nvSpPr>
          <p:cNvPr id="33" name="Text 24"/>
          <p:cNvSpPr/>
          <p:nvPr/>
        </p:nvSpPr>
        <p:spPr>
          <a:xfrm>
            <a:off x="6309360" y="3520440"/>
            <a:ext cx="2249424" cy="1051560"/>
          </a:xfrm>
          <a:prstGeom prst="rect">
            <a:avLst/>
          </a:prstGeom>
          <a:noFill/>
          <a:ln/>
        </p:spPr>
        <p:txBody>
          <a:bodyPr wrap="square" rtlCol="0" anchor="ctr"/>
          <a:lstStyle/>
          <a:p>
            <a:pPr algn="ctr" indent="0" marL="0">
              <a:lnSpc>
                <a:spcPct val="112000"/>
              </a:lnSpc>
              <a:buNone/>
            </a:pPr>
            <a:r>
              <a:rPr lang="en-US" sz="1000" dirty="0">
                <a:solidFill>
                  <a:srgbClr val="E4ECF1"/>
                </a:solidFill>
                <a:latin typeface="Calibri" pitchFamily="34" charset="0"/>
                <a:ea typeface="Calibri" pitchFamily="34" charset="-122"/>
                <a:cs typeface="Calibri" pitchFamily="34" charset="-120"/>
              </a:rPr>
              <a:t>Frequency, severity and cohort-comparison analysis with dashboards</a:t>
            </a:r>
            <a:endParaRPr lang="en-US" sz="1000" dirty="0"/>
          </a:p>
        </p:txBody>
      </p:sp>
      <p:sp>
        <p:nvSpPr>
          <p:cNvPr id="34" name="Shape 25"/>
          <p:cNvSpPr/>
          <p:nvPr/>
        </p:nvSpPr>
        <p:spPr>
          <a:xfrm>
            <a:off x="9788652" y="1691640"/>
            <a:ext cx="777240" cy="777240"/>
          </a:xfrm>
          <a:prstGeom prst="ellipse">
            <a:avLst/>
          </a:prstGeom>
          <a:solidFill>
            <a:srgbClr val="1B3A5C"/>
          </a:solidFill>
          <a:ln/>
        </p:spPr>
      </p:sp>
      <p:pic>
        <p:nvPicPr>
          <p:cNvPr id="35" name="Image 7" descr="preencoded.png">    </p:cNvPr>
          <p:cNvPicPr>
            <a:picLocks noChangeAspect="1"/>
          </p:cNvPicPr>
          <p:nvPr/>
        </p:nvPicPr>
        <p:blipFill>
          <a:blip r:embed="rId8"/>
          <a:stretch>
            <a:fillRect/>
          </a:stretch>
        </p:blipFill>
        <p:spPr>
          <a:xfrm>
            <a:off x="9962388" y="1865376"/>
            <a:ext cx="429768" cy="429768"/>
          </a:xfrm>
          <a:prstGeom prst="rect">
            <a:avLst/>
          </a:prstGeom>
        </p:spPr>
      </p:pic>
      <p:sp>
        <p:nvSpPr>
          <p:cNvPr id="36" name="Text 26"/>
          <p:cNvSpPr/>
          <p:nvPr/>
        </p:nvSpPr>
        <p:spPr>
          <a:xfrm>
            <a:off x="9006840" y="2606040"/>
            <a:ext cx="2340864" cy="502920"/>
          </a:xfrm>
          <a:prstGeom prst="rect">
            <a:avLst/>
          </a:prstGeom>
          <a:noFill/>
          <a:ln/>
        </p:spPr>
        <p:txBody>
          <a:bodyPr wrap="square" rtlCol="0" anchor="ctr"/>
          <a:lstStyle/>
          <a:p>
            <a:pPr algn="ctr" indent="0" marL="0">
              <a:lnSpc>
                <a:spcPct val="102000"/>
              </a:lnSpc>
              <a:buNone/>
            </a:pPr>
            <a:r>
              <a:rPr lang="en-US" sz="1300" b="1" dirty="0">
                <a:solidFill>
                  <a:srgbClr val="FFFFFF"/>
                </a:solidFill>
                <a:latin typeface="Calibri" pitchFamily="34" charset="0"/>
                <a:ea typeface="Calibri" pitchFamily="34" charset="-122"/>
                <a:cs typeface="Calibri" pitchFamily="34" charset="-120"/>
              </a:rPr>
              <a:t>Interviews &amp; FGDs</a:t>
            </a:r>
            <a:endParaRPr lang="en-US" sz="1300" dirty="0"/>
          </a:p>
        </p:txBody>
      </p:sp>
      <p:sp>
        <p:nvSpPr>
          <p:cNvPr id="37" name="Shape 27"/>
          <p:cNvSpPr/>
          <p:nvPr/>
        </p:nvSpPr>
        <p:spPr>
          <a:xfrm>
            <a:off x="9189720" y="3127248"/>
            <a:ext cx="1975104" cy="292608"/>
          </a:xfrm>
          <a:prstGeom prst="roundRect">
            <a:avLst>
              <a:gd name="adj" fmla="val 50000"/>
            </a:avLst>
          </a:prstGeom>
          <a:solidFill>
            <a:srgbClr val="D98E2B"/>
          </a:solidFill>
          <a:ln/>
        </p:spPr>
      </p:sp>
      <p:sp>
        <p:nvSpPr>
          <p:cNvPr id="38" name="Text 28"/>
          <p:cNvSpPr/>
          <p:nvPr/>
        </p:nvSpPr>
        <p:spPr>
          <a:xfrm>
            <a:off x="9189720" y="3127248"/>
            <a:ext cx="1975104" cy="292608"/>
          </a:xfrm>
          <a:prstGeom prst="rect">
            <a:avLst/>
          </a:prstGeom>
          <a:noFill/>
          <a:ln/>
        </p:spPr>
        <p:txBody>
          <a:bodyPr wrap="square" rtlCol="0" anchor="ctr"/>
          <a:lstStyle/>
          <a:p>
            <a:pPr algn="ctr" indent="0" marL="0">
              <a:buNone/>
            </a:pPr>
            <a:r>
              <a:rPr lang="en-US" sz="950" b="1" dirty="0">
                <a:solidFill>
                  <a:srgbClr val="122A44"/>
                </a:solidFill>
                <a:latin typeface="Calibri" pitchFamily="34" charset="0"/>
                <a:ea typeface="Calibri" pitchFamily="34" charset="-122"/>
                <a:cs typeface="Calibri" pitchFamily="34" charset="-120"/>
              </a:rPr>
              <a:t>Qualitative Insights</a:t>
            </a:r>
            <a:endParaRPr lang="en-US" sz="950" dirty="0"/>
          </a:p>
        </p:txBody>
      </p:sp>
      <p:sp>
        <p:nvSpPr>
          <p:cNvPr id="39" name="Text 29"/>
          <p:cNvSpPr/>
          <p:nvPr/>
        </p:nvSpPr>
        <p:spPr>
          <a:xfrm>
            <a:off x="9052560" y="3520440"/>
            <a:ext cx="2249424" cy="1051560"/>
          </a:xfrm>
          <a:prstGeom prst="rect">
            <a:avLst/>
          </a:prstGeom>
          <a:noFill/>
          <a:ln/>
        </p:spPr>
        <p:txBody>
          <a:bodyPr wrap="square" rtlCol="0" anchor="ctr"/>
          <a:lstStyle/>
          <a:p>
            <a:pPr algn="ctr" indent="0" marL="0">
              <a:lnSpc>
                <a:spcPct val="112000"/>
              </a:lnSpc>
              <a:buNone/>
            </a:pPr>
            <a:r>
              <a:rPr lang="en-US" sz="1000" dirty="0">
                <a:solidFill>
                  <a:srgbClr val="E4ECF1"/>
                </a:solidFill>
                <a:latin typeface="Calibri" pitchFamily="34" charset="0"/>
                <a:ea typeface="Calibri" pitchFamily="34" charset="-122"/>
                <a:cs typeface="Calibri" pitchFamily="34" charset="-120"/>
              </a:rPr>
              <a:t>One-to-one interviews and Focus Group Discussions for lived experience</a:t>
            </a:r>
            <a:endParaRPr lang="en-US" sz="1000" dirty="0"/>
          </a:p>
        </p:txBody>
      </p:sp>
      <p:sp>
        <p:nvSpPr>
          <p:cNvPr id="40" name="Text 30"/>
          <p:cNvSpPr/>
          <p:nvPr/>
        </p:nvSpPr>
        <p:spPr>
          <a:xfrm>
            <a:off x="640080" y="4892040"/>
            <a:ext cx="10881360" cy="457200"/>
          </a:xfrm>
          <a:prstGeom prst="rect">
            <a:avLst/>
          </a:prstGeom>
          <a:noFill/>
          <a:ln/>
        </p:spPr>
        <p:txBody>
          <a:bodyPr wrap="square" rtlCol="0" anchor="ctr"/>
          <a:lstStyle/>
          <a:p>
            <a:pPr indent="0" marL="0">
              <a:buNone/>
            </a:pPr>
            <a:r>
              <a:rPr lang="en-US" sz="1150" i="1" dirty="0">
                <a:solidFill>
                  <a:srgbClr val="5B6B78"/>
                </a:solidFill>
                <a:latin typeface="Calibri" pitchFamily="34" charset="0"/>
                <a:ea typeface="Calibri" pitchFamily="34" charset="-122"/>
                <a:cs typeface="Calibri" pitchFamily="34" charset="-120"/>
              </a:rPr>
              <a:t>Additional secondary-data sources: student forums, online communities, and social-media listening for student opinions and concerns.</a:t>
            </a:r>
            <a:endParaRPr lang="en-US" sz="1150" dirty="0"/>
          </a:p>
        </p:txBody>
      </p:sp>
      <p:sp>
        <p:nvSpPr>
          <p:cNvPr id="41" name="Shape 31"/>
          <p:cNvSpPr/>
          <p:nvPr/>
        </p:nvSpPr>
        <p:spPr>
          <a:xfrm>
            <a:off x="640080" y="5394960"/>
            <a:ext cx="10881360" cy="777240"/>
          </a:xfrm>
          <a:prstGeom prst="roundRect">
            <a:avLst>
              <a:gd name="adj" fmla="val 7059"/>
            </a:avLst>
          </a:prstGeom>
          <a:solidFill>
            <a:srgbClr val="E3E8EB"/>
          </a:solidFill>
          <a:ln/>
        </p:spPr>
      </p:sp>
      <p:sp>
        <p:nvSpPr>
          <p:cNvPr id="42" name="Text 32"/>
          <p:cNvSpPr/>
          <p:nvPr/>
        </p:nvSpPr>
        <p:spPr>
          <a:xfrm>
            <a:off x="822960" y="5394960"/>
            <a:ext cx="10515600" cy="777240"/>
          </a:xfrm>
          <a:prstGeom prst="rect">
            <a:avLst/>
          </a:prstGeom>
          <a:noFill/>
          <a:ln/>
        </p:spPr>
        <p:txBody>
          <a:bodyPr wrap="square" rtlCol="0" anchor="ctr"/>
          <a:lstStyle/>
          <a:p>
            <a:pPr algn="ctr" indent="0" marL="0">
              <a:buNone/>
            </a:pPr>
            <a:r>
              <a:rPr lang="en-US" sz="1250" b="1" dirty="0">
                <a:solidFill>
                  <a:srgbClr val="1B3A5C"/>
                </a:solidFill>
                <a:latin typeface="Calibri" pitchFamily="34" charset="0"/>
                <a:ea typeface="Calibri" pitchFamily="34" charset="-122"/>
                <a:cs typeface="Calibri" pitchFamily="34" charset="-120"/>
              </a:rPr>
              <a:t>Workflow:  Questionnaires  →  Excel Cleaning  →  Power BI Analysis  →  Interview/FGD Themes  →  Combined Insights</a:t>
            </a:r>
            <a:endParaRPr lang="en-US" sz="1250" dirty="0"/>
          </a:p>
        </p:txBody>
      </p:sp>
      <p:sp>
        <p:nvSpPr>
          <p:cNvPr id="43" name="Text 33"/>
          <p:cNvSpPr/>
          <p:nvPr/>
        </p:nvSpPr>
        <p:spPr>
          <a:xfrm>
            <a:off x="457200" y="6519672"/>
            <a:ext cx="7315200" cy="274320"/>
          </a:xfrm>
          <a:prstGeom prst="rect">
            <a:avLst/>
          </a:prstGeom>
          <a:noFill/>
          <a:ln/>
        </p:spPr>
        <p:txBody>
          <a:bodyPr wrap="square" rtlCol="0" anchor="ctr"/>
          <a:lstStyle/>
          <a:p>
            <a:pPr algn="l" indent="0" marL="0">
              <a:buNone/>
            </a:pPr>
            <a:r>
              <a:rPr lang="en-US" sz="900" dirty="0">
                <a:solidFill>
                  <a:srgbClr val="5B6B78"/>
                </a:solidFill>
                <a:latin typeface="Calibri" pitchFamily="34" charset="0"/>
                <a:ea typeface="Calibri" pitchFamily="34" charset="-122"/>
                <a:cs typeface="Calibri" pitchFamily="34" charset="-120"/>
              </a:rPr>
              <a:t>Understanding Examination Preparation Challenges</a:t>
            </a:r>
            <a:endParaRPr lang="en-US" sz="900" dirty="0"/>
          </a:p>
        </p:txBody>
      </p:sp>
      <p:sp>
        <p:nvSpPr>
          <p:cNvPr id="44" name="Text 34"/>
          <p:cNvSpPr/>
          <p:nvPr/>
        </p:nvSpPr>
        <p:spPr>
          <a:xfrm>
            <a:off x="11277295" y="6519672"/>
            <a:ext cx="457200" cy="274320"/>
          </a:xfrm>
          <a:prstGeom prst="rect">
            <a:avLst/>
          </a:prstGeom>
          <a:noFill/>
          <a:ln/>
        </p:spPr>
        <p:txBody>
          <a:bodyPr wrap="square" rtlCol="0" anchor="ctr"/>
          <a:lstStyle/>
          <a:p>
            <a:pPr algn="r" indent="0" marL="0">
              <a:buNone/>
            </a:pPr>
            <a:r>
              <a:rPr lang="en-US" sz="900" dirty="0">
                <a:solidFill>
                  <a:srgbClr val="5B6B78"/>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22A44"/>
        </a:solidFill>
      </p:bgPr>
    </p:bg>
    <p:spTree>
      <p:nvGrpSpPr>
        <p:cNvPr id="1" name=""/>
        <p:cNvGrpSpPr/>
        <p:nvPr/>
      </p:nvGrpSpPr>
      <p:grpSpPr>
        <a:xfrm>
          <a:off x="0" y="0"/>
          <a:ext cx="0" cy="0"/>
          <a:chOff x="0" y="0"/>
          <a:chExt cx="0" cy="0"/>
        </a:xfrm>
      </p:grpSpPr>
      <p:sp>
        <p:nvSpPr>
          <p:cNvPr id="2" name="Text 0"/>
          <p:cNvSpPr/>
          <p:nvPr/>
        </p:nvSpPr>
        <p:spPr>
          <a:xfrm>
            <a:off x="548640" y="292608"/>
            <a:ext cx="10058400" cy="502920"/>
          </a:xfrm>
          <a:prstGeom prst="rect">
            <a:avLst/>
          </a:prstGeom>
          <a:noFill/>
          <a:ln/>
        </p:spPr>
        <p:txBody>
          <a:bodyPr wrap="square" rtlCol="0" anchor="ctr"/>
          <a:lstStyle/>
          <a:p>
            <a:pPr indent="0" marL="0">
              <a:buNone/>
            </a:pPr>
            <a:r>
              <a:rPr lang="en-US" sz="2600" b="1" dirty="0">
                <a:solidFill>
                  <a:srgbClr val="FFFFFF"/>
                </a:solidFill>
                <a:latin typeface="Cambria" pitchFamily="34" charset="0"/>
                <a:ea typeface="Cambria" pitchFamily="34" charset="-122"/>
                <a:cs typeface="Cambria" pitchFamily="34" charset="-120"/>
              </a:rPr>
              <a:t>System Architecture — Research Workflow</a:t>
            </a:r>
            <a:endParaRPr lang="en-US" sz="2600" dirty="0"/>
          </a:p>
        </p:txBody>
      </p:sp>
      <p:sp>
        <p:nvSpPr>
          <p:cNvPr id="3" name="Shape 1"/>
          <p:cNvSpPr/>
          <p:nvPr/>
        </p:nvSpPr>
        <p:spPr>
          <a:xfrm>
            <a:off x="777240" y="1717766"/>
            <a:ext cx="0" cy="52251"/>
          </a:xfrm>
          <a:prstGeom prst="line">
            <a:avLst/>
          </a:prstGeom>
          <a:noFill/>
          <a:ln w="25400">
            <a:solidFill>
              <a:srgbClr val="3D5A73"/>
            </a:solidFill>
            <a:prstDash val="solid"/>
          </a:ln>
        </p:spPr>
      </p:sp>
      <p:sp>
        <p:nvSpPr>
          <p:cNvPr id="4" name="Shape 2"/>
          <p:cNvSpPr/>
          <p:nvPr/>
        </p:nvSpPr>
        <p:spPr>
          <a:xfrm>
            <a:off x="411480" y="986246"/>
            <a:ext cx="731520" cy="731520"/>
          </a:xfrm>
          <a:prstGeom prst="ellipse">
            <a:avLst/>
          </a:prstGeom>
          <a:solidFill>
            <a:srgbClr val="1C7F82"/>
          </a:solidFill>
          <a:ln/>
        </p:spPr>
      </p:sp>
      <p:pic>
        <p:nvPicPr>
          <p:cNvPr id="5" name="Image 0" descr="preencoded.png">    </p:cNvPr>
          <p:cNvPicPr>
            <a:picLocks noChangeAspect="1"/>
          </p:cNvPicPr>
          <p:nvPr/>
        </p:nvPicPr>
        <p:blipFill>
          <a:blip r:embed="rId1"/>
          <a:stretch>
            <a:fillRect/>
          </a:stretch>
        </p:blipFill>
        <p:spPr>
          <a:xfrm>
            <a:off x="585216" y="1159982"/>
            <a:ext cx="384048" cy="384048"/>
          </a:xfrm>
          <a:prstGeom prst="rect">
            <a:avLst/>
          </a:prstGeom>
        </p:spPr>
      </p:pic>
      <p:sp>
        <p:nvSpPr>
          <p:cNvPr id="6" name="Text 3"/>
          <p:cNvSpPr/>
          <p:nvPr/>
        </p:nvSpPr>
        <p:spPr>
          <a:xfrm>
            <a:off x="27432" y="1205702"/>
            <a:ext cx="292608" cy="292608"/>
          </a:xfrm>
          <a:prstGeom prst="rect">
            <a:avLst/>
          </a:prstGeom>
          <a:noFill/>
          <a:ln/>
        </p:spPr>
        <p:txBody>
          <a:bodyPr wrap="square" rtlCol="0" anchor="ctr"/>
          <a:lstStyle/>
          <a:p>
            <a:pPr algn="r" indent="0" marL="0">
              <a:buNone/>
            </a:pPr>
            <a:r>
              <a:rPr lang="en-US" sz="1200" b="1" dirty="0">
                <a:solidFill>
                  <a:srgbClr val="8FAAC0"/>
                </a:solidFill>
                <a:latin typeface="Calibri" pitchFamily="34" charset="0"/>
                <a:ea typeface="Calibri" pitchFamily="34" charset="-122"/>
                <a:cs typeface="Calibri" pitchFamily="34" charset="-120"/>
              </a:rPr>
              <a:t>1</a:t>
            </a:r>
            <a:endParaRPr lang="en-US" sz="1200" dirty="0"/>
          </a:p>
        </p:txBody>
      </p:sp>
      <p:sp>
        <p:nvSpPr>
          <p:cNvPr id="7" name="Text 4"/>
          <p:cNvSpPr/>
          <p:nvPr/>
        </p:nvSpPr>
        <p:spPr>
          <a:xfrm>
            <a:off x="1371600" y="1041110"/>
            <a:ext cx="2834640" cy="640080"/>
          </a:xfrm>
          <a:prstGeom prst="rect">
            <a:avLst/>
          </a:prstGeom>
          <a:noFill/>
          <a:ln/>
        </p:spPr>
        <p:txBody>
          <a:bodyPr wrap="square" rtlCol="0" anchor="ctr"/>
          <a:lstStyle/>
          <a:p>
            <a:pPr indent="0" marL="0">
              <a:lnSpc>
                <a:spcPct val="100000"/>
              </a:lnSpc>
              <a:buNone/>
            </a:pPr>
            <a:r>
              <a:rPr lang="en-US" sz="1350" b="1" dirty="0">
                <a:solidFill>
                  <a:srgbClr val="FFFFFF"/>
                </a:solidFill>
                <a:latin typeface="Calibri" pitchFamily="34" charset="0"/>
                <a:ea typeface="Calibri" pitchFamily="34" charset="-122"/>
                <a:cs typeface="Calibri" pitchFamily="34" charset="-120"/>
              </a:rPr>
              <a:t>Target Students</a:t>
            </a:r>
            <a:endParaRPr lang="en-US" sz="1350" dirty="0"/>
          </a:p>
        </p:txBody>
      </p:sp>
      <p:sp>
        <p:nvSpPr>
          <p:cNvPr id="8" name="Text 5"/>
          <p:cNvSpPr/>
          <p:nvPr/>
        </p:nvSpPr>
        <p:spPr>
          <a:xfrm>
            <a:off x="4297680" y="1041110"/>
            <a:ext cx="7498080" cy="640080"/>
          </a:xfrm>
          <a:prstGeom prst="rect">
            <a:avLst/>
          </a:prstGeom>
          <a:noFill/>
          <a:ln/>
        </p:spPr>
        <p:txBody>
          <a:bodyPr wrap="square" rtlCol="0" anchor="ctr"/>
          <a:lstStyle/>
          <a:p>
            <a:pPr indent="0" marL="0">
              <a:lnSpc>
                <a:spcPct val="105000"/>
              </a:lnSpc>
              <a:buNone/>
            </a:pPr>
            <a:r>
              <a:rPr lang="en-US" sz="1080" dirty="0">
                <a:solidFill>
                  <a:srgbClr val="B9C9D6"/>
                </a:solidFill>
                <a:latin typeface="Calibri" pitchFamily="34" charset="0"/>
                <a:ea typeface="Calibri" pitchFamily="34" charset="-122"/>
                <a:cs typeface="Calibri" pitchFamily="34" charset="-120"/>
              </a:rPr>
              <a:t>K-8 · Grades 9-12 · UG · PG/Professional · underserved-community focus</a:t>
            </a:r>
            <a:endParaRPr lang="en-US" sz="1080" dirty="0"/>
          </a:p>
        </p:txBody>
      </p:sp>
      <p:sp>
        <p:nvSpPr>
          <p:cNvPr id="9" name="Shape 6"/>
          <p:cNvSpPr/>
          <p:nvPr/>
        </p:nvSpPr>
        <p:spPr>
          <a:xfrm>
            <a:off x="777240" y="2501537"/>
            <a:ext cx="0" cy="52251"/>
          </a:xfrm>
          <a:prstGeom prst="line">
            <a:avLst/>
          </a:prstGeom>
          <a:noFill/>
          <a:ln w="25400">
            <a:solidFill>
              <a:srgbClr val="3D5A73"/>
            </a:solidFill>
            <a:prstDash val="solid"/>
          </a:ln>
        </p:spPr>
      </p:sp>
      <p:sp>
        <p:nvSpPr>
          <p:cNvPr id="10" name="Shape 7"/>
          <p:cNvSpPr/>
          <p:nvPr/>
        </p:nvSpPr>
        <p:spPr>
          <a:xfrm>
            <a:off x="411480" y="1770017"/>
            <a:ext cx="731520" cy="731520"/>
          </a:xfrm>
          <a:prstGeom prst="ellipse">
            <a:avLst/>
          </a:prstGeom>
          <a:solidFill>
            <a:srgbClr val="1C7F82"/>
          </a:solidFill>
          <a:ln/>
        </p:spPr>
      </p:sp>
      <p:pic>
        <p:nvPicPr>
          <p:cNvPr id="11" name="Image 1" descr="preencoded.png">    </p:cNvPr>
          <p:cNvPicPr>
            <a:picLocks noChangeAspect="1"/>
          </p:cNvPicPr>
          <p:nvPr/>
        </p:nvPicPr>
        <p:blipFill>
          <a:blip r:embed="rId2"/>
          <a:stretch>
            <a:fillRect/>
          </a:stretch>
        </p:blipFill>
        <p:spPr>
          <a:xfrm>
            <a:off x="585216" y="1943753"/>
            <a:ext cx="384048" cy="384048"/>
          </a:xfrm>
          <a:prstGeom prst="rect">
            <a:avLst/>
          </a:prstGeom>
        </p:spPr>
      </p:pic>
      <p:sp>
        <p:nvSpPr>
          <p:cNvPr id="12" name="Text 8"/>
          <p:cNvSpPr/>
          <p:nvPr/>
        </p:nvSpPr>
        <p:spPr>
          <a:xfrm>
            <a:off x="27432" y="1989473"/>
            <a:ext cx="292608" cy="292608"/>
          </a:xfrm>
          <a:prstGeom prst="rect">
            <a:avLst/>
          </a:prstGeom>
          <a:noFill/>
          <a:ln/>
        </p:spPr>
        <p:txBody>
          <a:bodyPr wrap="square" rtlCol="0" anchor="ctr"/>
          <a:lstStyle/>
          <a:p>
            <a:pPr algn="r" indent="0" marL="0">
              <a:buNone/>
            </a:pPr>
            <a:r>
              <a:rPr lang="en-US" sz="1200" b="1" dirty="0">
                <a:solidFill>
                  <a:srgbClr val="8FAAC0"/>
                </a:solidFill>
                <a:latin typeface="Calibri" pitchFamily="34" charset="0"/>
                <a:ea typeface="Calibri" pitchFamily="34" charset="-122"/>
                <a:cs typeface="Calibri" pitchFamily="34" charset="-120"/>
              </a:rPr>
              <a:t>2</a:t>
            </a:r>
            <a:endParaRPr lang="en-US" sz="1200" dirty="0"/>
          </a:p>
        </p:txBody>
      </p:sp>
      <p:sp>
        <p:nvSpPr>
          <p:cNvPr id="13" name="Text 9"/>
          <p:cNvSpPr/>
          <p:nvPr/>
        </p:nvSpPr>
        <p:spPr>
          <a:xfrm>
            <a:off x="1371600" y="1824881"/>
            <a:ext cx="2834640" cy="640080"/>
          </a:xfrm>
          <a:prstGeom prst="rect">
            <a:avLst/>
          </a:prstGeom>
          <a:noFill/>
          <a:ln/>
        </p:spPr>
        <p:txBody>
          <a:bodyPr wrap="square" rtlCol="0" anchor="ctr"/>
          <a:lstStyle/>
          <a:p>
            <a:pPr indent="0" marL="0">
              <a:lnSpc>
                <a:spcPct val="100000"/>
              </a:lnSpc>
              <a:buNone/>
            </a:pPr>
            <a:r>
              <a:rPr lang="en-US" sz="1350" b="1" dirty="0">
                <a:solidFill>
                  <a:srgbClr val="FFFFFF"/>
                </a:solidFill>
                <a:latin typeface="Calibri" pitchFamily="34" charset="0"/>
                <a:ea typeface="Calibri" pitchFamily="34" charset="-122"/>
                <a:cs typeface="Calibri" pitchFamily="34" charset="-120"/>
              </a:rPr>
              <a:t>Data Collection</a:t>
            </a:r>
            <a:endParaRPr lang="en-US" sz="1350" dirty="0"/>
          </a:p>
        </p:txBody>
      </p:sp>
      <p:sp>
        <p:nvSpPr>
          <p:cNvPr id="14" name="Text 10"/>
          <p:cNvSpPr/>
          <p:nvPr/>
        </p:nvSpPr>
        <p:spPr>
          <a:xfrm>
            <a:off x="4297680" y="1824881"/>
            <a:ext cx="7498080" cy="640080"/>
          </a:xfrm>
          <a:prstGeom prst="rect">
            <a:avLst/>
          </a:prstGeom>
          <a:noFill/>
          <a:ln/>
        </p:spPr>
        <p:txBody>
          <a:bodyPr wrap="square" rtlCol="0" anchor="ctr"/>
          <a:lstStyle/>
          <a:p>
            <a:pPr indent="0" marL="0">
              <a:lnSpc>
                <a:spcPct val="105000"/>
              </a:lnSpc>
              <a:buNone/>
            </a:pPr>
            <a:r>
              <a:rPr lang="en-US" sz="1080" dirty="0">
                <a:solidFill>
                  <a:srgbClr val="B9C9D6"/>
                </a:solidFill>
                <a:latin typeface="Calibri" pitchFamily="34" charset="0"/>
                <a:ea typeface="Calibri" pitchFamily="34" charset="-122"/>
                <a:cs typeface="Calibri" pitchFamily="34" charset="-120"/>
              </a:rPr>
              <a:t>Questionnaires · Interviews · FGDs · Observation · Online/secondary data</a:t>
            </a:r>
            <a:endParaRPr lang="en-US" sz="1080" dirty="0"/>
          </a:p>
        </p:txBody>
      </p:sp>
      <p:sp>
        <p:nvSpPr>
          <p:cNvPr id="15" name="Shape 11"/>
          <p:cNvSpPr/>
          <p:nvPr/>
        </p:nvSpPr>
        <p:spPr>
          <a:xfrm>
            <a:off x="777240" y="3285309"/>
            <a:ext cx="0" cy="52251"/>
          </a:xfrm>
          <a:prstGeom prst="line">
            <a:avLst/>
          </a:prstGeom>
          <a:noFill/>
          <a:ln w="25400">
            <a:solidFill>
              <a:srgbClr val="3D5A73"/>
            </a:solidFill>
            <a:prstDash val="solid"/>
          </a:ln>
        </p:spPr>
      </p:sp>
      <p:sp>
        <p:nvSpPr>
          <p:cNvPr id="16" name="Shape 12"/>
          <p:cNvSpPr/>
          <p:nvPr/>
        </p:nvSpPr>
        <p:spPr>
          <a:xfrm>
            <a:off x="411480" y="2553789"/>
            <a:ext cx="731520" cy="731520"/>
          </a:xfrm>
          <a:prstGeom prst="ellipse">
            <a:avLst/>
          </a:prstGeom>
          <a:solidFill>
            <a:srgbClr val="1C7F82"/>
          </a:solidFill>
          <a:ln/>
        </p:spPr>
      </p:sp>
      <p:pic>
        <p:nvPicPr>
          <p:cNvPr id="17" name="Image 2" descr="preencoded.png">    </p:cNvPr>
          <p:cNvPicPr>
            <a:picLocks noChangeAspect="1"/>
          </p:cNvPicPr>
          <p:nvPr/>
        </p:nvPicPr>
        <p:blipFill>
          <a:blip r:embed="rId3"/>
          <a:stretch>
            <a:fillRect/>
          </a:stretch>
        </p:blipFill>
        <p:spPr>
          <a:xfrm>
            <a:off x="585216" y="2727525"/>
            <a:ext cx="384048" cy="384048"/>
          </a:xfrm>
          <a:prstGeom prst="rect">
            <a:avLst/>
          </a:prstGeom>
        </p:spPr>
      </p:pic>
      <p:sp>
        <p:nvSpPr>
          <p:cNvPr id="18" name="Text 13"/>
          <p:cNvSpPr/>
          <p:nvPr/>
        </p:nvSpPr>
        <p:spPr>
          <a:xfrm>
            <a:off x="27432" y="2773245"/>
            <a:ext cx="292608" cy="292608"/>
          </a:xfrm>
          <a:prstGeom prst="rect">
            <a:avLst/>
          </a:prstGeom>
          <a:noFill/>
          <a:ln/>
        </p:spPr>
        <p:txBody>
          <a:bodyPr wrap="square" rtlCol="0" anchor="ctr"/>
          <a:lstStyle/>
          <a:p>
            <a:pPr algn="r" indent="0" marL="0">
              <a:buNone/>
            </a:pPr>
            <a:r>
              <a:rPr lang="en-US" sz="1200" b="1" dirty="0">
                <a:solidFill>
                  <a:srgbClr val="8FAAC0"/>
                </a:solidFill>
                <a:latin typeface="Calibri" pitchFamily="34" charset="0"/>
                <a:ea typeface="Calibri" pitchFamily="34" charset="-122"/>
                <a:cs typeface="Calibri" pitchFamily="34" charset="-120"/>
              </a:rPr>
              <a:t>3</a:t>
            </a:r>
            <a:endParaRPr lang="en-US" sz="1200" dirty="0"/>
          </a:p>
        </p:txBody>
      </p:sp>
      <p:sp>
        <p:nvSpPr>
          <p:cNvPr id="19" name="Text 14"/>
          <p:cNvSpPr/>
          <p:nvPr/>
        </p:nvSpPr>
        <p:spPr>
          <a:xfrm>
            <a:off x="1371600" y="2608653"/>
            <a:ext cx="2834640" cy="640080"/>
          </a:xfrm>
          <a:prstGeom prst="rect">
            <a:avLst/>
          </a:prstGeom>
          <a:noFill/>
          <a:ln/>
        </p:spPr>
        <p:txBody>
          <a:bodyPr wrap="square" rtlCol="0" anchor="ctr"/>
          <a:lstStyle/>
          <a:p>
            <a:pPr indent="0" marL="0">
              <a:lnSpc>
                <a:spcPct val="100000"/>
              </a:lnSpc>
              <a:buNone/>
            </a:pPr>
            <a:r>
              <a:rPr lang="en-US" sz="1350" b="1" dirty="0">
                <a:solidFill>
                  <a:srgbClr val="FFFFFF"/>
                </a:solidFill>
                <a:latin typeface="Calibri" pitchFamily="34" charset="0"/>
                <a:ea typeface="Calibri" pitchFamily="34" charset="-122"/>
                <a:cs typeface="Calibri" pitchFamily="34" charset="-120"/>
              </a:rPr>
              <a:t>Data Processing &amp; Storage</a:t>
            </a:r>
            <a:endParaRPr lang="en-US" sz="1350" dirty="0"/>
          </a:p>
        </p:txBody>
      </p:sp>
      <p:sp>
        <p:nvSpPr>
          <p:cNvPr id="20" name="Text 15"/>
          <p:cNvSpPr/>
          <p:nvPr/>
        </p:nvSpPr>
        <p:spPr>
          <a:xfrm>
            <a:off x="4297680" y="2608653"/>
            <a:ext cx="7498080" cy="640080"/>
          </a:xfrm>
          <a:prstGeom prst="rect">
            <a:avLst/>
          </a:prstGeom>
          <a:noFill/>
          <a:ln/>
        </p:spPr>
        <p:txBody>
          <a:bodyPr wrap="square" rtlCol="0" anchor="ctr"/>
          <a:lstStyle/>
          <a:p>
            <a:pPr indent="0" marL="0">
              <a:lnSpc>
                <a:spcPct val="105000"/>
              </a:lnSpc>
              <a:buNone/>
            </a:pPr>
            <a:r>
              <a:rPr lang="en-US" sz="1080" dirty="0">
                <a:solidFill>
                  <a:srgbClr val="B9C9D6"/>
                </a:solidFill>
                <a:latin typeface="Calibri" pitchFamily="34" charset="0"/>
                <a:ea typeface="Calibri" pitchFamily="34" charset="-122"/>
                <a:cs typeface="Calibri" pitchFamily="34" charset="-120"/>
              </a:rPr>
              <a:t>Excel master sheet · cleaning · accuracy checks · secure, anonymised storage</a:t>
            </a:r>
            <a:endParaRPr lang="en-US" sz="1080" dirty="0"/>
          </a:p>
        </p:txBody>
      </p:sp>
      <p:sp>
        <p:nvSpPr>
          <p:cNvPr id="21" name="Shape 16"/>
          <p:cNvSpPr/>
          <p:nvPr/>
        </p:nvSpPr>
        <p:spPr>
          <a:xfrm>
            <a:off x="777240" y="4069080"/>
            <a:ext cx="0" cy="52251"/>
          </a:xfrm>
          <a:prstGeom prst="line">
            <a:avLst/>
          </a:prstGeom>
          <a:noFill/>
          <a:ln w="25400">
            <a:solidFill>
              <a:srgbClr val="3D5A73"/>
            </a:solidFill>
            <a:prstDash val="solid"/>
          </a:ln>
        </p:spPr>
      </p:sp>
      <p:sp>
        <p:nvSpPr>
          <p:cNvPr id="22" name="Shape 17"/>
          <p:cNvSpPr/>
          <p:nvPr/>
        </p:nvSpPr>
        <p:spPr>
          <a:xfrm>
            <a:off x="411480" y="3337560"/>
            <a:ext cx="731520" cy="731520"/>
          </a:xfrm>
          <a:prstGeom prst="ellipse">
            <a:avLst/>
          </a:prstGeom>
          <a:solidFill>
            <a:srgbClr val="1C7F82"/>
          </a:solidFill>
          <a:ln/>
        </p:spPr>
      </p:sp>
      <p:pic>
        <p:nvPicPr>
          <p:cNvPr id="23" name="Image 3" descr="preencoded.png">    </p:cNvPr>
          <p:cNvPicPr>
            <a:picLocks noChangeAspect="1"/>
          </p:cNvPicPr>
          <p:nvPr/>
        </p:nvPicPr>
        <p:blipFill>
          <a:blip r:embed="rId4"/>
          <a:stretch>
            <a:fillRect/>
          </a:stretch>
        </p:blipFill>
        <p:spPr>
          <a:xfrm>
            <a:off x="585216" y="3511296"/>
            <a:ext cx="384048" cy="384048"/>
          </a:xfrm>
          <a:prstGeom prst="rect">
            <a:avLst/>
          </a:prstGeom>
        </p:spPr>
      </p:pic>
      <p:sp>
        <p:nvSpPr>
          <p:cNvPr id="24" name="Text 18"/>
          <p:cNvSpPr/>
          <p:nvPr/>
        </p:nvSpPr>
        <p:spPr>
          <a:xfrm>
            <a:off x="27432" y="3557016"/>
            <a:ext cx="292608" cy="292608"/>
          </a:xfrm>
          <a:prstGeom prst="rect">
            <a:avLst/>
          </a:prstGeom>
          <a:noFill/>
          <a:ln/>
        </p:spPr>
        <p:txBody>
          <a:bodyPr wrap="square" rtlCol="0" anchor="ctr"/>
          <a:lstStyle/>
          <a:p>
            <a:pPr algn="r" indent="0" marL="0">
              <a:buNone/>
            </a:pPr>
            <a:r>
              <a:rPr lang="en-US" sz="1200" b="1" dirty="0">
                <a:solidFill>
                  <a:srgbClr val="8FAAC0"/>
                </a:solidFill>
                <a:latin typeface="Calibri" pitchFamily="34" charset="0"/>
                <a:ea typeface="Calibri" pitchFamily="34" charset="-122"/>
                <a:cs typeface="Calibri" pitchFamily="34" charset="-120"/>
              </a:rPr>
              <a:t>4</a:t>
            </a:r>
            <a:endParaRPr lang="en-US" sz="1200" dirty="0"/>
          </a:p>
        </p:txBody>
      </p:sp>
      <p:sp>
        <p:nvSpPr>
          <p:cNvPr id="25" name="Text 19"/>
          <p:cNvSpPr/>
          <p:nvPr/>
        </p:nvSpPr>
        <p:spPr>
          <a:xfrm>
            <a:off x="1371600" y="3392424"/>
            <a:ext cx="2834640" cy="640080"/>
          </a:xfrm>
          <a:prstGeom prst="rect">
            <a:avLst/>
          </a:prstGeom>
          <a:noFill/>
          <a:ln/>
        </p:spPr>
        <p:txBody>
          <a:bodyPr wrap="square" rtlCol="0" anchor="ctr"/>
          <a:lstStyle/>
          <a:p>
            <a:pPr indent="0" marL="0">
              <a:lnSpc>
                <a:spcPct val="100000"/>
              </a:lnSpc>
              <a:buNone/>
            </a:pPr>
            <a:r>
              <a:rPr lang="en-US" sz="1350" b="1" dirty="0">
                <a:solidFill>
                  <a:srgbClr val="FFFFFF"/>
                </a:solidFill>
                <a:latin typeface="Calibri" pitchFamily="34" charset="0"/>
                <a:ea typeface="Calibri" pitchFamily="34" charset="-122"/>
                <a:cs typeface="Calibri" pitchFamily="34" charset="-120"/>
              </a:rPr>
              <a:t>Data Analysis</a:t>
            </a:r>
            <a:endParaRPr lang="en-US" sz="1350" dirty="0"/>
          </a:p>
        </p:txBody>
      </p:sp>
      <p:sp>
        <p:nvSpPr>
          <p:cNvPr id="26" name="Text 20"/>
          <p:cNvSpPr/>
          <p:nvPr/>
        </p:nvSpPr>
        <p:spPr>
          <a:xfrm>
            <a:off x="4297680" y="3392424"/>
            <a:ext cx="7498080" cy="640080"/>
          </a:xfrm>
          <a:prstGeom prst="rect">
            <a:avLst/>
          </a:prstGeom>
          <a:noFill/>
          <a:ln/>
        </p:spPr>
        <p:txBody>
          <a:bodyPr wrap="square" rtlCol="0" anchor="ctr"/>
          <a:lstStyle/>
          <a:p>
            <a:pPr indent="0" marL="0">
              <a:lnSpc>
                <a:spcPct val="105000"/>
              </a:lnSpc>
              <a:buNone/>
            </a:pPr>
            <a:r>
              <a:rPr lang="en-US" sz="1080" dirty="0">
                <a:solidFill>
                  <a:srgbClr val="B9C9D6"/>
                </a:solidFill>
                <a:latin typeface="Calibri" pitchFamily="34" charset="0"/>
                <a:ea typeface="Calibri" pitchFamily="34" charset="-122"/>
                <a:cs typeface="Calibri" pitchFamily="34" charset="-120"/>
              </a:rPr>
              <a:t>Power BI · frequency &amp; severity analysis · cohort comparison · thematic analysis</a:t>
            </a:r>
            <a:endParaRPr lang="en-US" sz="1080" dirty="0"/>
          </a:p>
        </p:txBody>
      </p:sp>
      <p:sp>
        <p:nvSpPr>
          <p:cNvPr id="27" name="Shape 21"/>
          <p:cNvSpPr/>
          <p:nvPr/>
        </p:nvSpPr>
        <p:spPr>
          <a:xfrm>
            <a:off x="777240" y="4852851"/>
            <a:ext cx="0" cy="52251"/>
          </a:xfrm>
          <a:prstGeom prst="line">
            <a:avLst/>
          </a:prstGeom>
          <a:noFill/>
          <a:ln w="25400">
            <a:solidFill>
              <a:srgbClr val="3D5A73"/>
            </a:solidFill>
            <a:prstDash val="solid"/>
          </a:ln>
        </p:spPr>
      </p:sp>
      <p:sp>
        <p:nvSpPr>
          <p:cNvPr id="28" name="Shape 22"/>
          <p:cNvSpPr/>
          <p:nvPr/>
        </p:nvSpPr>
        <p:spPr>
          <a:xfrm>
            <a:off x="411480" y="4121331"/>
            <a:ext cx="731520" cy="731520"/>
          </a:xfrm>
          <a:prstGeom prst="ellipse">
            <a:avLst/>
          </a:prstGeom>
          <a:solidFill>
            <a:srgbClr val="1C7F82"/>
          </a:solidFill>
          <a:ln/>
        </p:spPr>
      </p:sp>
      <p:pic>
        <p:nvPicPr>
          <p:cNvPr id="29" name="Image 4" descr="preencoded.png">    </p:cNvPr>
          <p:cNvPicPr>
            <a:picLocks noChangeAspect="1"/>
          </p:cNvPicPr>
          <p:nvPr/>
        </p:nvPicPr>
        <p:blipFill>
          <a:blip r:embed="rId5"/>
          <a:stretch>
            <a:fillRect/>
          </a:stretch>
        </p:blipFill>
        <p:spPr>
          <a:xfrm>
            <a:off x="585216" y="4295067"/>
            <a:ext cx="384048" cy="384048"/>
          </a:xfrm>
          <a:prstGeom prst="rect">
            <a:avLst/>
          </a:prstGeom>
        </p:spPr>
      </p:pic>
      <p:sp>
        <p:nvSpPr>
          <p:cNvPr id="30" name="Text 23"/>
          <p:cNvSpPr/>
          <p:nvPr/>
        </p:nvSpPr>
        <p:spPr>
          <a:xfrm>
            <a:off x="27432" y="4340787"/>
            <a:ext cx="292608" cy="292608"/>
          </a:xfrm>
          <a:prstGeom prst="rect">
            <a:avLst/>
          </a:prstGeom>
          <a:noFill/>
          <a:ln/>
        </p:spPr>
        <p:txBody>
          <a:bodyPr wrap="square" rtlCol="0" anchor="ctr"/>
          <a:lstStyle/>
          <a:p>
            <a:pPr algn="r" indent="0" marL="0">
              <a:buNone/>
            </a:pPr>
            <a:r>
              <a:rPr lang="en-US" sz="1200" b="1" dirty="0">
                <a:solidFill>
                  <a:srgbClr val="8FAAC0"/>
                </a:solidFill>
                <a:latin typeface="Calibri" pitchFamily="34" charset="0"/>
                <a:ea typeface="Calibri" pitchFamily="34" charset="-122"/>
                <a:cs typeface="Calibri" pitchFamily="34" charset="-120"/>
              </a:rPr>
              <a:t>5</a:t>
            </a:r>
            <a:endParaRPr lang="en-US" sz="1200" dirty="0"/>
          </a:p>
        </p:txBody>
      </p:sp>
      <p:sp>
        <p:nvSpPr>
          <p:cNvPr id="31" name="Text 24"/>
          <p:cNvSpPr/>
          <p:nvPr/>
        </p:nvSpPr>
        <p:spPr>
          <a:xfrm>
            <a:off x="1371600" y="4176195"/>
            <a:ext cx="2834640" cy="640080"/>
          </a:xfrm>
          <a:prstGeom prst="rect">
            <a:avLst/>
          </a:prstGeom>
          <a:noFill/>
          <a:ln/>
        </p:spPr>
        <p:txBody>
          <a:bodyPr wrap="square" rtlCol="0" anchor="ctr"/>
          <a:lstStyle/>
          <a:p>
            <a:pPr indent="0" marL="0">
              <a:lnSpc>
                <a:spcPct val="100000"/>
              </a:lnSpc>
              <a:buNone/>
            </a:pPr>
            <a:r>
              <a:rPr lang="en-US" sz="1350" b="1" dirty="0">
                <a:solidFill>
                  <a:srgbClr val="FFFFFF"/>
                </a:solidFill>
                <a:latin typeface="Calibri" pitchFamily="34" charset="0"/>
                <a:ea typeface="Calibri" pitchFamily="34" charset="-122"/>
                <a:cs typeface="Calibri" pitchFamily="34" charset="-120"/>
              </a:rPr>
              <a:t>Data Triangulation</a:t>
            </a:r>
            <a:endParaRPr lang="en-US" sz="1350" dirty="0"/>
          </a:p>
        </p:txBody>
      </p:sp>
      <p:sp>
        <p:nvSpPr>
          <p:cNvPr id="32" name="Text 25"/>
          <p:cNvSpPr/>
          <p:nvPr/>
        </p:nvSpPr>
        <p:spPr>
          <a:xfrm>
            <a:off x="4297680" y="4176195"/>
            <a:ext cx="7498080" cy="640080"/>
          </a:xfrm>
          <a:prstGeom prst="rect">
            <a:avLst/>
          </a:prstGeom>
          <a:noFill/>
          <a:ln/>
        </p:spPr>
        <p:txBody>
          <a:bodyPr wrap="square" rtlCol="0" anchor="ctr"/>
          <a:lstStyle/>
          <a:p>
            <a:pPr indent="0" marL="0">
              <a:lnSpc>
                <a:spcPct val="105000"/>
              </a:lnSpc>
              <a:buNone/>
            </a:pPr>
            <a:r>
              <a:rPr lang="en-US" sz="1080" dirty="0">
                <a:solidFill>
                  <a:srgbClr val="B9C9D6"/>
                </a:solidFill>
                <a:latin typeface="Calibri" pitchFamily="34" charset="0"/>
                <a:ea typeface="Calibri" pitchFamily="34" charset="-122"/>
                <a:cs typeface="Calibri" pitchFamily="34" charset="-120"/>
              </a:rPr>
              <a:t>Cross-checking quantitative, qualitative &amp; secondary sources for agreement</a:t>
            </a:r>
            <a:endParaRPr lang="en-US" sz="1080" dirty="0"/>
          </a:p>
        </p:txBody>
      </p:sp>
      <p:sp>
        <p:nvSpPr>
          <p:cNvPr id="33" name="Shape 26"/>
          <p:cNvSpPr/>
          <p:nvPr/>
        </p:nvSpPr>
        <p:spPr>
          <a:xfrm>
            <a:off x="777240" y="5636623"/>
            <a:ext cx="0" cy="52251"/>
          </a:xfrm>
          <a:prstGeom prst="line">
            <a:avLst/>
          </a:prstGeom>
          <a:noFill/>
          <a:ln w="25400">
            <a:solidFill>
              <a:srgbClr val="3D5A73"/>
            </a:solidFill>
            <a:prstDash val="solid"/>
          </a:ln>
        </p:spPr>
      </p:sp>
      <p:sp>
        <p:nvSpPr>
          <p:cNvPr id="34" name="Shape 27"/>
          <p:cNvSpPr/>
          <p:nvPr/>
        </p:nvSpPr>
        <p:spPr>
          <a:xfrm>
            <a:off x="411480" y="4905103"/>
            <a:ext cx="731520" cy="731520"/>
          </a:xfrm>
          <a:prstGeom prst="ellipse">
            <a:avLst/>
          </a:prstGeom>
          <a:solidFill>
            <a:srgbClr val="1C7F82"/>
          </a:solidFill>
          <a:ln/>
        </p:spPr>
      </p:sp>
      <p:pic>
        <p:nvPicPr>
          <p:cNvPr id="35" name="Image 5" descr="preencoded.png">    </p:cNvPr>
          <p:cNvPicPr>
            <a:picLocks noChangeAspect="1"/>
          </p:cNvPicPr>
          <p:nvPr/>
        </p:nvPicPr>
        <p:blipFill>
          <a:blip r:embed="rId6"/>
          <a:stretch>
            <a:fillRect/>
          </a:stretch>
        </p:blipFill>
        <p:spPr>
          <a:xfrm>
            <a:off x="585216" y="5078839"/>
            <a:ext cx="384048" cy="384048"/>
          </a:xfrm>
          <a:prstGeom prst="rect">
            <a:avLst/>
          </a:prstGeom>
        </p:spPr>
      </p:pic>
      <p:sp>
        <p:nvSpPr>
          <p:cNvPr id="36" name="Text 28"/>
          <p:cNvSpPr/>
          <p:nvPr/>
        </p:nvSpPr>
        <p:spPr>
          <a:xfrm>
            <a:off x="27432" y="5124559"/>
            <a:ext cx="292608" cy="292608"/>
          </a:xfrm>
          <a:prstGeom prst="rect">
            <a:avLst/>
          </a:prstGeom>
          <a:noFill/>
          <a:ln/>
        </p:spPr>
        <p:txBody>
          <a:bodyPr wrap="square" rtlCol="0" anchor="ctr"/>
          <a:lstStyle/>
          <a:p>
            <a:pPr algn="r" indent="0" marL="0">
              <a:buNone/>
            </a:pPr>
            <a:r>
              <a:rPr lang="en-US" sz="1200" b="1" dirty="0">
                <a:solidFill>
                  <a:srgbClr val="8FAAC0"/>
                </a:solidFill>
                <a:latin typeface="Calibri" pitchFamily="34" charset="0"/>
                <a:ea typeface="Calibri" pitchFamily="34" charset="-122"/>
                <a:cs typeface="Calibri" pitchFamily="34" charset="-120"/>
              </a:rPr>
              <a:t>6</a:t>
            </a:r>
            <a:endParaRPr lang="en-US" sz="1200" dirty="0"/>
          </a:p>
        </p:txBody>
      </p:sp>
      <p:sp>
        <p:nvSpPr>
          <p:cNvPr id="37" name="Text 29"/>
          <p:cNvSpPr/>
          <p:nvPr/>
        </p:nvSpPr>
        <p:spPr>
          <a:xfrm>
            <a:off x="1371600" y="4959967"/>
            <a:ext cx="2834640" cy="640080"/>
          </a:xfrm>
          <a:prstGeom prst="rect">
            <a:avLst/>
          </a:prstGeom>
          <a:noFill/>
          <a:ln/>
        </p:spPr>
        <p:txBody>
          <a:bodyPr wrap="square" rtlCol="0" anchor="ctr"/>
          <a:lstStyle/>
          <a:p>
            <a:pPr indent="0" marL="0">
              <a:lnSpc>
                <a:spcPct val="100000"/>
              </a:lnSpc>
              <a:buNone/>
            </a:pPr>
            <a:r>
              <a:rPr lang="en-US" sz="1350" b="1" dirty="0">
                <a:solidFill>
                  <a:srgbClr val="FFFFFF"/>
                </a:solidFill>
                <a:latin typeface="Calibri" pitchFamily="34" charset="0"/>
                <a:ea typeface="Calibri" pitchFamily="34" charset="-122"/>
                <a:cs typeface="Calibri" pitchFamily="34" charset="-120"/>
              </a:rPr>
              <a:t>Findings &amp; Visualization</a:t>
            </a:r>
            <a:endParaRPr lang="en-US" sz="1350" dirty="0"/>
          </a:p>
        </p:txBody>
      </p:sp>
      <p:sp>
        <p:nvSpPr>
          <p:cNvPr id="38" name="Text 30"/>
          <p:cNvSpPr/>
          <p:nvPr/>
        </p:nvSpPr>
        <p:spPr>
          <a:xfrm>
            <a:off x="4297680" y="4959967"/>
            <a:ext cx="7498080" cy="640080"/>
          </a:xfrm>
          <a:prstGeom prst="rect">
            <a:avLst/>
          </a:prstGeom>
          <a:noFill/>
          <a:ln/>
        </p:spPr>
        <p:txBody>
          <a:bodyPr wrap="square" rtlCol="0" anchor="ctr"/>
          <a:lstStyle/>
          <a:p>
            <a:pPr indent="0" marL="0">
              <a:lnSpc>
                <a:spcPct val="105000"/>
              </a:lnSpc>
              <a:buNone/>
            </a:pPr>
            <a:r>
              <a:rPr lang="en-US" sz="1080" dirty="0">
                <a:solidFill>
                  <a:srgbClr val="B9C9D6"/>
                </a:solidFill>
                <a:latin typeface="Calibri" pitchFamily="34" charset="0"/>
                <a:ea typeface="Calibri" pitchFamily="34" charset="-122"/>
                <a:cs typeface="Calibri" pitchFamily="34" charset="-120"/>
              </a:rPr>
              <a:t>Consolidated Power BI dashboards and a preliminary findings document</a:t>
            </a:r>
            <a:endParaRPr lang="en-US" sz="1080" dirty="0"/>
          </a:p>
        </p:txBody>
      </p:sp>
      <p:sp>
        <p:nvSpPr>
          <p:cNvPr id="39" name="Shape 31"/>
          <p:cNvSpPr/>
          <p:nvPr/>
        </p:nvSpPr>
        <p:spPr>
          <a:xfrm>
            <a:off x="411480" y="5688874"/>
            <a:ext cx="731520" cy="731520"/>
          </a:xfrm>
          <a:prstGeom prst="ellipse">
            <a:avLst/>
          </a:prstGeom>
          <a:solidFill>
            <a:srgbClr val="D98E2B"/>
          </a:solidFill>
          <a:ln/>
        </p:spPr>
      </p:sp>
      <p:pic>
        <p:nvPicPr>
          <p:cNvPr id="40" name="Image 6" descr="preencoded.png">    </p:cNvPr>
          <p:cNvPicPr>
            <a:picLocks noChangeAspect="1"/>
          </p:cNvPicPr>
          <p:nvPr/>
        </p:nvPicPr>
        <p:blipFill>
          <a:blip r:embed="rId7"/>
          <a:stretch>
            <a:fillRect/>
          </a:stretch>
        </p:blipFill>
        <p:spPr>
          <a:xfrm>
            <a:off x="585216" y="5862610"/>
            <a:ext cx="384048" cy="384048"/>
          </a:xfrm>
          <a:prstGeom prst="rect">
            <a:avLst/>
          </a:prstGeom>
        </p:spPr>
      </p:pic>
      <p:sp>
        <p:nvSpPr>
          <p:cNvPr id="41" name="Text 32"/>
          <p:cNvSpPr/>
          <p:nvPr/>
        </p:nvSpPr>
        <p:spPr>
          <a:xfrm>
            <a:off x="27432" y="5908330"/>
            <a:ext cx="292608" cy="292608"/>
          </a:xfrm>
          <a:prstGeom prst="rect">
            <a:avLst/>
          </a:prstGeom>
          <a:noFill/>
          <a:ln/>
        </p:spPr>
        <p:txBody>
          <a:bodyPr wrap="square" rtlCol="0" anchor="ctr"/>
          <a:lstStyle/>
          <a:p>
            <a:pPr algn="r" indent="0" marL="0">
              <a:buNone/>
            </a:pPr>
            <a:r>
              <a:rPr lang="en-US" sz="1200" b="1" dirty="0">
                <a:solidFill>
                  <a:srgbClr val="8FAAC0"/>
                </a:solidFill>
                <a:latin typeface="Calibri" pitchFamily="34" charset="0"/>
                <a:ea typeface="Calibri" pitchFamily="34" charset="-122"/>
                <a:cs typeface="Calibri" pitchFamily="34" charset="-120"/>
              </a:rPr>
              <a:t>7</a:t>
            </a:r>
            <a:endParaRPr lang="en-US" sz="1200" dirty="0"/>
          </a:p>
        </p:txBody>
      </p:sp>
      <p:sp>
        <p:nvSpPr>
          <p:cNvPr id="42" name="Text 33"/>
          <p:cNvSpPr/>
          <p:nvPr/>
        </p:nvSpPr>
        <p:spPr>
          <a:xfrm>
            <a:off x="1371600" y="5743738"/>
            <a:ext cx="2834640" cy="640080"/>
          </a:xfrm>
          <a:prstGeom prst="rect">
            <a:avLst/>
          </a:prstGeom>
          <a:noFill/>
          <a:ln/>
        </p:spPr>
        <p:txBody>
          <a:bodyPr wrap="square" rtlCol="0" anchor="ctr"/>
          <a:lstStyle/>
          <a:p>
            <a:pPr indent="0" marL="0">
              <a:lnSpc>
                <a:spcPct val="100000"/>
              </a:lnSpc>
              <a:buNone/>
            </a:pPr>
            <a:r>
              <a:rPr lang="en-US" sz="1350" b="1" dirty="0">
                <a:solidFill>
                  <a:srgbClr val="FFFFFF"/>
                </a:solidFill>
                <a:latin typeface="Calibri" pitchFamily="34" charset="0"/>
                <a:ea typeface="Calibri" pitchFamily="34" charset="-122"/>
                <a:cs typeface="Calibri" pitchFamily="34" charset="-120"/>
              </a:rPr>
              <a:t>Recommendations</a:t>
            </a:r>
            <a:endParaRPr lang="en-US" sz="1350" dirty="0"/>
          </a:p>
        </p:txBody>
      </p:sp>
      <p:sp>
        <p:nvSpPr>
          <p:cNvPr id="43" name="Text 34"/>
          <p:cNvSpPr/>
          <p:nvPr/>
        </p:nvSpPr>
        <p:spPr>
          <a:xfrm>
            <a:off x="4297680" y="5743738"/>
            <a:ext cx="7498080" cy="640080"/>
          </a:xfrm>
          <a:prstGeom prst="rect">
            <a:avLst/>
          </a:prstGeom>
          <a:noFill/>
          <a:ln/>
        </p:spPr>
        <p:txBody>
          <a:bodyPr wrap="square" rtlCol="0" anchor="ctr"/>
          <a:lstStyle/>
          <a:p>
            <a:pPr indent="0" marL="0">
              <a:lnSpc>
                <a:spcPct val="105000"/>
              </a:lnSpc>
              <a:buNone/>
            </a:pPr>
            <a:r>
              <a:rPr lang="en-US" sz="1080" dirty="0">
                <a:solidFill>
                  <a:srgbClr val="B9C9D6"/>
                </a:solidFill>
                <a:latin typeface="Calibri" pitchFamily="34" charset="0"/>
                <a:ea typeface="Calibri" pitchFamily="34" charset="-122"/>
                <a:cs typeface="Calibri" pitchFamily="34" charset="-120"/>
              </a:rPr>
              <a:t>Evidence-based recommendations for students, educators, parents &amp; policymakers</a:t>
            </a:r>
            <a:endParaRPr lang="en-US" sz="1080" dirty="0"/>
          </a:p>
        </p:txBody>
      </p:sp>
      <p:sp>
        <p:nvSpPr>
          <p:cNvPr id="44" name="Text 35"/>
          <p:cNvSpPr/>
          <p:nvPr/>
        </p:nvSpPr>
        <p:spPr>
          <a:xfrm>
            <a:off x="457200" y="6519672"/>
            <a:ext cx="7315200" cy="274320"/>
          </a:xfrm>
          <a:prstGeom prst="rect">
            <a:avLst/>
          </a:prstGeom>
          <a:noFill/>
          <a:ln/>
        </p:spPr>
        <p:txBody>
          <a:bodyPr wrap="square" rtlCol="0" anchor="ctr"/>
          <a:lstStyle/>
          <a:p>
            <a:pPr indent="0" marL="0">
              <a:buNone/>
            </a:pPr>
            <a:r>
              <a:rPr lang="en-US" sz="900" dirty="0">
                <a:solidFill>
                  <a:srgbClr val="8FAAC0"/>
                </a:solidFill>
                <a:latin typeface="Calibri" pitchFamily="34" charset="0"/>
                <a:ea typeface="Calibri" pitchFamily="34" charset="-122"/>
                <a:cs typeface="Calibri" pitchFamily="34" charset="-120"/>
              </a:rPr>
              <a:t>Understanding Examination Preparation Challenges</a:t>
            </a:r>
            <a:endParaRPr lang="en-US" sz="900" dirty="0"/>
          </a:p>
        </p:txBody>
      </p:sp>
      <p:sp>
        <p:nvSpPr>
          <p:cNvPr id="45" name="Text 36"/>
          <p:cNvSpPr/>
          <p:nvPr/>
        </p:nvSpPr>
        <p:spPr>
          <a:xfrm>
            <a:off x="11277295" y="6519672"/>
            <a:ext cx="457200" cy="274320"/>
          </a:xfrm>
          <a:prstGeom prst="rect">
            <a:avLst/>
          </a:prstGeom>
          <a:noFill/>
          <a:ln/>
        </p:spPr>
        <p:txBody>
          <a:bodyPr wrap="square" rtlCol="0" anchor="ctr"/>
          <a:lstStyle/>
          <a:p>
            <a:pPr algn="r" indent="0" marL="0">
              <a:buNone/>
            </a:pPr>
            <a:r>
              <a:rPr lang="en-US" sz="900" dirty="0">
                <a:solidFill>
                  <a:srgbClr val="8FAAC0"/>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0" y="0"/>
            <a:ext cx="12191695" cy="960120"/>
          </a:xfrm>
          <a:prstGeom prst="rect">
            <a:avLst/>
          </a:prstGeom>
          <a:solidFill>
            <a:srgbClr val="F1F4F6"/>
          </a:solidFill>
          <a:ln/>
        </p:spPr>
      </p:sp>
      <p:sp>
        <p:nvSpPr>
          <p:cNvPr id="3" name="Text 1"/>
          <p:cNvSpPr/>
          <p:nvPr/>
        </p:nvSpPr>
        <p:spPr>
          <a:xfrm>
            <a:off x="640080" y="256032"/>
            <a:ext cx="7315200" cy="502920"/>
          </a:xfrm>
          <a:prstGeom prst="rect">
            <a:avLst/>
          </a:prstGeom>
          <a:noFill/>
          <a:ln/>
        </p:spPr>
        <p:txBody>
          <a:bodyPr wrap="square" rtlCol="0" anchor="ctr"/>
          <a:lstStyle/>
          <a:p>
            <a:pPr indent="0" marL="0">
              <a:buNone/>
            </a:pPr>
            <a:r>
              <a:rPr lang="en-US" sz="2800" b="1" dirty="0">
                <a:solidFill>
                  <a:srgbClr val="1B3A5C"/>
                </a:solidFill>
                <a:latin typeface="Cambria" pitchFamily="34" charset="0"/>
                <a:ea typeface="Cambria" pitchFamily="34" charset="-122"/>
                <a:cs typeface="Cambria" pitchFamily="34" charset="-120"/>
              </a:rPr>
              <a:t>Research Methodology</a:t>
            </a:r>
            <a:endParaRPr lang="en-US" sz="2800" dirty="0"/>
          </a:p>
        </p:txBody>
      </p:sp>
      <p:sp>
        <p:nvSpPr>
          <p:cNvPr id="4" name="Text 2"/>
          <p:cNvSpPr/>
          <p:nvPr/>
        </p:nvSpPr>
        <p:spPr>
          <a:xfrm>
            <a:off x="640080" y="658368"/>
            <a:ext cx="10058400" cy="274320"/>
          </a:xfrm>
          <a:prstGeom prst="rect">
            <a:avLst/>
          </a:prstGeom>
          <a:noFill/>
          <a:ln/>
        </p:spPr>
        <p:txBody>
          <a:bodyPr wrap="square" rtlCol="0" anchor="ctr"/>
          <a:lstStyle/>
          <a:p>
            <a:pPr indent="0" marL="0">
              <a:buNone/>
            </a:pPr>
            <a:r>
              <a:rPr lang="en-US" sz="1150" i="1" dirty="0">
                <a:solidFill>
                  <a:srgbClr val="5B6B78"/>
                </a:solidFill>
                <a:latin typeface="Calibri" pitchFamily="34" charset="0"/>
                <a:ea typeface="Calibri" pitchFamily="34" charset="-122"/>
                <a:cs typeface="Calibri" pitchFamily="34" charset="-120"/>
              </a:rPr>
              <a:t>Mixed-Methods Research Design — integrating quantitative and qualitative data for depth and validity</a:t>
            </a:r>
            <a:endParaRPr lang="en-US" sz="1150" dirty="0"/>
          </a:p>
        </p:txBody>
      </p:sp>
      <p:sp>
        <p:nvSpPr>
          <p:cNvPr id="5" name="Shape 3"/>
          <p:cNvSpPr/>
          <p:nvPr/>
        </p:nvSpPr>
        <p:spPr>
          <a:xfrm>
            <a:off x="640080" y="1234440"/>
            <a:ext cx="2615184" cy="2331720"/>
          </a:xfrm>
          <a:prstGeom prst="roundRect">
            <a:avLst>
              <a:gd name="adj" fmla="val 2745"/>
            </a:avLst>
          </a:prstGeom>
          <a:solidFill>
            <a:srgbClr val="1B3A5C"/>
          </a:solidFill>
          <a:ln/>
        </p:spPr>
      </p:sp>
      <p:sp>
        <p:nvSpPr>
          <p:cNvPr id="6" name="Shape 4"/>
          <p:cNvSpPr/>
          <p:nvPr/>
        </p:nvSpPr>
        <p:spPr>
          <a:xfrm>
            <a:off x="1673352" y="1435608"/>
            <a:ext cx="548640" cy="548640"/>
          </a:xfrm>
          <a:prstGeom prst="ellipse">
            <a:avLst/>
          </a:prstGeom>
          <a:solidFill>
            <a:srgbClr val="1C7F82"/>
          </a:solidFill>
          <a:ln/>
        </p:spPr>
      </p:sp>
      <p:pic>
        <p:nvPicPr>
          <p:cNvPr id="7" name="Image 0" descr="preencoded.png">    </p:cNvPr>
          <p:cNvPicPr>
            <a:picLocks noChangeAspect="1"/>
          </p:cNvPicPr>
          <p:nvPr/>
        </p:nvPicPr>
        <p:blipFill>
          <a:blip r:embed="rId1"/>
          <a:stretch>
            <a:fillRect/>
          </a:stretch>
        </p:blipFill>
        <p:spPr>
          <a:xfrm>
            <a:off x="1792224" y="1554480"/>
            <a:ext cx="310896" cy="310896"/>
          </a:xfrm>
          <a:prstGeom prst="rect">
            <a:avLst/>
          </a:prstGeom>
        </p:spPr>
      </p:pic>
      <p:sp>
        <p:nvSpPr>
          <p:cNvPr id="8" name="Text 5"/>
          <p:cNvSpPr/>
          <p:nvPr/>
        </p:nvSpPr>
        <p:spPr>
          <a:xfrm>
            <a:off x="640080" y="2057400"/>
            <a:ext cx="2615184" cy="320040"/>
          </a:xfrm>
          <a:prstGeom prst="rect">
            <a:avLst/>
          </a:prstGeom>
          <a:noFill/>
          <a:ln/>
        </p:spPr>
        <p:txBody>
          <a:bodyPr wrap="square" rtlCol="0" anchor="ctr"/>
          <a:lstStyle/>
          <a:p>
            <a:pPr algn="ctr" indent="0" marL="0">
              <a:buNone/>
            </a:pPr>
            <a:r>
              <a:rPr lang="en-US" sz="1350" b="1" dirty="0">
                <a:solidFill>
                  <a:srgbClr val="FFFFFF"/>
                </a:solidFill>
                <a:latin typeface="Calibri" pitchFamily="34" charset="0"/>
                <a:ea typeface="Calibri" pitchFamily="34" charset="-122"/>
                <a:cs typeface="Calibri" pitchFamily="34" charset="-120"/>
              </a:rPr>
              <a:t>Quantitative</a:t>
            </a:r>
            <a:endParaRPr lang="en-US" sz="1350" dirty="0"/>
          </a:p>
        </p:txBody>
      </p:sp>
      <p:sp>
        <p:nvSpPr>
          <p:cNvPr id="9" name="Text 6"/>
          <p:cNvSpPr/>
          <p:nvPr/>
        </p:nvSpPr>
        <p:spPr>
          <a:xfrm>
            <a:off x="896112" y="2441448"/>
            <a:ext cx="2103120" cy="1005840"/>
          </a:xfrm>
          <a:prstGeom prst="rect">
            <a:avLst/>
          </a:prstGeom>
          <a:noFill/>
          <a:ln/>
        </p:spPr>
        <p:txBody>
          <a:bodyPr wrap="square" rtlCol="0" anchor="t"/>
          <a:lstStyle/>
          <a:p>
            <a:pPr marL="342900" indent="-342900">
              <a:lnSpc>
                <a:spcPct val="115000"/>
              </a:lnSpc>
              <a:buSzPct val="100000"/>
              <a:buChar char="•"/>
            </a:pPr>
            <a:r>
              <a:rPr lang="en-US" sz="970" dirty="0">
                <a:solidFill>
                  <a:srgbClr val="E4ECF1"/>
                </a:solidFill>
                <a:latin typeface="Calibri" pitchFamily="34" charset="0"/>
                <a:ea typeface="Calibri" pitchFamily="34" charset="-122"/>
                <a:cs typeface="Calibri" pitchFamily="34" charset="-120"/>
              </a:rPr>
              <a:t>Structured questionnaires</a:t>
            </a:r>
            <a:endParaRPr lang="en-US" sz="970" dirty="0"/>
          </a:p>
          <a:p>
            <a:pPr marL="342900" indent="-342900">
              <a:lnSpc>
                <a:spcPct val="115000"/>
              </a:lnSpc>
              <a:buSzPct val="100000"/>
              <a:buChar char="•"/>
            </a:pPr>
            <a:r>
              <a:rPr lang="en-US" sz="970" dirty="0">
                <a:solidFill>
                  <a:srgbClr val="E4ECF1"/>
                </a:solidFill>
                <a:latin typeface="Calibri" pitchFamily="34" charset="0"/>
                <a:ea typeface="Calibri" pitchFamily="34" charset="-122"/>
                <a:cs typeface="Calibri" pitchFamily="34" charset="-120"/>
              </a:rPr>
              <a:t>Excel-based organization</a:t>
            </a:r>
            <a:endParaRPr lang="en-US" sz="970" dirty="0"/>
          </a:p>
          <a:p>
            <a:pPr marL="342900" indent="-342900">
              <a:lnSpc>
                <a:spcPct val="115000"/>
              </a:lnSpc>
              <a:buSzPct val="100000"/>
              <a:buChar char="•"/>
            </a:pPr>
            <a:r>
              <a:rPr lang="en-US" sz="970" dirty="0">
                <a:solidFill>
                  <a:srgbClr val="E4ECF1"/>
                </a:solidFill>
                <a:latin typeface="Calibri" pitchFamily="34" charset="0"/>
                <a:ea typeface="Calibri" pitchFamily="34" charset="-122"/>
                <a:cs typeface="Calibri" pitchFamily="34" charset="-120"/>
              </a:rPr>
              <a:t>Power BI analysis</a:t>
            </a:r>
            <a:endParaRPr lang="en-US" sz="970" dirty="0"/>
          </a:p>
        </p:txBody>
      </p:sp>
      <p:sp>
        <p:nvSpPr>
          <p:cNvPr id="10" name="Shape 7"/>
          <p:cNvSpPr/>
          <p:nvPr/>
        </p:nvSpPr>
        <p:spPr>
          <a:xfrm>
            <a:off x="3383280" y="1234440"/>
            <a:ext cx="2615184" cy="2331720"/>
          </a:xfrm>
          <a:prstGeom prst="roundRect">
            <a:avLst>
              <a:gd name="adj" fmla="val 2745"/>
            </a:avLst>
          </a:prstGeom>
          <a:solidFill>
            <a:srgbClr val="1C7F82"/>
          </a:solidFill>
          <a:ln/>
        </p:spPr>
      </p:sp>
      <p:sp>
        <p:nvSpPr>
          <p:cNvPr id="11" name="Shape 8"/>
          <p:cNvSpPr/>
          <p:nvPr/>
        </p:nvSpPr>
        <p:spPr>
          <a:xfrm>
            <a:off x="4416552" y="1435608"/>
            <a:ext cx="548640" cy="548640"/>
          </a:xfrm>
          <a:prstGeom prst="ellipse">
            <a:avLst/>
          </a:prstGeom>
          <a:solidFill>
            <a:srgbClr val="1B3A5C"/>
          </a:solidFill>
          <a:ln/>
        </p:spPr>
      </p:sp>
      <p:pic>
        <p:nvPicPr>
          <p:cNvPr id="12" name="Image 1" descr="preencoded.png">    </p:cNvPr>
          <p:cNvPicPr>
            <a:picLocks noChangeAspect="1"/>
          </p:cNvPicPr>
          <p:nvPr/>
        </p:nvPicPr>
        <p:blipFill>
          <a:blip r:embed="rId2"/>
          <a:stretch>
            <a:fillRect/>
          </a:stretch>
        </p:blipFill>
        <p:spPr>
          <a:xfrm>
            <a:off x="4535424" y="1554480"/>
            <a:ext cx="310896" cy="310896"/>
          </a:xfrm>
          <a:prstGeom prst="rect">
            <a:avLst/>
          </a:prstGeom>
        </p:spPr>
      </p:pic>
      <p:sp>
        <p:nvSpPr>
          <p:cNvPr id="13" name="Text 9"/>
          <p:cNvSpPr/>
          <p:nvPr/>
        </p:nvSpPr>
        <p:spPr>
          <a:xfrm>
            <a:off x="3383280" y="2057400"/>
            <a:ext cx="2615184" cy="320040"/>
          </a:xfrm>
          <a:prstGeom prst="rect">
            <a:avLst/>
          </a:prstGeom>
          <a:noFill/>
          <a:ln/>
        </p:spPr>
        <p:txBody>
          <a:bodyPr wrap="square" rtlCol="0" anchor="ctr"/>
          <a:lstStyle/>
          <a:p>
            <a:pPr algn="ctr" indent="0" marL="0">
              <a:buNone/>
            </a:pPr>
            <a:r>
              <a:rPr lang="en-US" sz="1350" b="1" dirty="0">
                <a:solidFill>
                  <a:srgbClr val="FFFFFF"/>
                </a:solidFill>
                <a:latin typeface="Calibri" pitchFamily="34" charset="0"/>
                <a:ea typeface="Calibri" pitchFamily="34" charset="-122"/>
                <a:cs typeface="Calibri" pitchFamily="34" charset="-120"/>
              </a:rPr>
              <a:t>Qualitative</a:t>
            </a:r>
            <a:endParaRPr lang="en-US" sz="1350" dirty="0"/>
          </a:p>
        </p:txBody>
      </p:sp>
      <p:sp>
        <p:nvSpPr>
          <p:cNvPr id="14" name="Text 10"/>
          <p:cNvSpPr/>
          <p:nvPr/>
        </p:nvSpPr>
        <p:spPr>
          <a:xfrm>
            <a:off x="3639312" y="2441448"/>
            <a:ext cx="2103120" cy="1005840"/>
          </a:xfrm>
          <a:prstGeom prst="rect">
            <a:avLst/>
          </a:prstGeom>
          <a:noFill/>
          <a:ln/>
        </p:spPr>
        <p:txBody>
          <a:bodyPr wrap="square" rtlCol="0" anchor="t"/>
          <a:lstStyle/>
          <a:p>
            <a:pPr marL="342900" indent="-342900">
              <a:lnSpc>
                <a:spcPct val="115000"/>
              </a:lnSpc>
              <a:buSzPct val="100000"/>
              <a:buChar char="•"/>
            </a:pPr>
            <a:r>
              <a:rPr lang="en-US" sz="970" dirty="0">
                <a:solidFill>
                  <a:srgbClr val="E4ECF1"/>
                </a:solidFill>
                <a:latin typeface="Calibri" pitchFamily="34" charset="0"/>
                <a:ea typeface="Calibri" pitchFamily="34" charset="-122"/>
                <a:cs typeface="Calibri" pitchFamily="34" charset="-120"/>
              </a:rPr>
              <a:t>One-to-one interviews</a:t>
            </a:r>
            <a:endParaRPr lang="en-US" sz="970" dirty="0"/>
          </a:p>
          <a:p>
            <a:pPr marL="342900" indent="-342900">
              <a:lnSpc>
                <a:spcPct val="115000"/>
              </a:lnSpc>
              <a:buSzPct val="100000"/>
              <a:buChar char="•"/>
            </a:pPr>
            <a:r>
              <a:rPr lang="en-US" sz="970" dirty="0">
                <a:solidFill>
                  <a:srgbClr val="E4ECF1"/>
                </a:solidFill>
                <a:latin typeface="Calibri" pitchFamily="34" charset="0"/>
                <a:ea typeface="Calibri" pitchFamily="34" charset="-122"/>
                <a:cs typeface="Calibri" pitchFamily="34" charset="-120"/>
              </a:rPr>
              <a:t>Focus Group Discussions</a:t>
            </a:r>
            <a:endParaRPr lang="en-US" sz="970" dirty="0"/>
          </a:p>
          <a:p>
            <a:pPr marL="342900" indent="-342900">
              <a:lnSpc>
                <a:spcPct val="115000"/>
              </a:lnSpc>
              <a:buSzPct val="100000"/>
              <a:buChar char="•"/>
            </a:pPr>
            <a:r>
              <a:rPr lang="en-US" sz="970" dirty="0">
                <a:solidFill>
                  <a:srgbClr val="E4ECF1"/>
                </a:solidFill>
                <a:latin typeface="Calibri" pitchFamily="34" charset="0"/>
                <a:ea typeface="Calibri" pitchFamily="34" charset="-122"/>
                <a:cs typeface="Calibri" pitchFamily="34" charset="-120"/>
              </a:rPr>
              <a:t>Field observations</a:t>
            </a:r>
            <a:endParaRPr lang="en-US" sz="970" dirty="0"/>
          </a:p>
          <a:p>
            <a:pPr marL="342900" indent="-342900">
              <a:lnSpc>
                <a:spcPct val="115000"/>
              </a:lnSpc>
              <a:buSzPct val="100000"/>
              <a:buChar char="•"/>
            </a:pPr>
            <a:r>
              <a:rPr lang="en-US" sz="970" dirty="0">
                <a:solidFill>
                  <a:srgbClr val="E4ECF1"/>
                </a:solidFill>
                <a:latin typeface="Calibri" pitchFamily="34" charset="0"/>
                <a:ea typeface="Calibri" pitchFamily="34" charset="-122"/>
                <a:cs typeface="Calibri" pitchFamily="34" charset="-120"/>
              </a:rPr>
              <a:t>Thematic analysis</a:t>
            </a:r>
            <a:endParaRPr lang="en-US" sz="970" dirty="0"/>
          </a:p>
        </p:txBody>
      </p:sp>
      <p:sp>
        <p:nvSpPr>
          <p:cNvPr id="15" name="Shape 11"/>
          <p:cNvSpPr/>
          <p:nvPr/>
        </p:nvSpPr>
        <p:spPr>
          <a:xfrm>
            <a:off x="6126480" y="1234440"/>
            <a:ext cx="2615184" cy="2331720"/>
          </a:xfrm>
          <a:prstGeom prst="roundRect">
            <a:avLst>
              <a:gd name="adj" fmla="val 2745"/>
            </a:avLst>
          </a:prstGeom>
          <a:solidFill>
            <a:srgbClr val="1B3A5C"/>
          </a:solidFill>
          <a:ln/>
        </p:spPr>
      </p:sp>
      <p:sp>
        <p:nvSpPr>
          <p:cNvPr id="16" name="Shape 12"/>
          <p:cNvSpPr/>
          <p:nvPr/>
        </p:nvSpPr>
        <p:spPr>
          <a:xfrm>
            <a:off x="7159752" y="1435608"/>
            <a:ext cx="548640" cy="548640"/>
          </a:xfrm>
          <a:prstGeom prst="ellipse">
            <a:avLst/>
          </a:prstGeom>
          <a:solidFill>
            <a:srgbClr val="1C7F82"/>
          </a:solidFill>
          <a:ln/>
        </p:spPr>
      </p:sp>
      <p:pic>
        <p:nvPicPr>
          <p:cNvPr id="17" name="Image 2" descr="preencoded.png">    </p:cNvPr>
          <p:cNvPicPr>
            <a:picLocks noChangeAspect="1"/>
          </p:cNvPicPr>
          <p:nvPr/>
        </p:nvPicPr>
        <p:blipFill>
          <a:blip r:embed="rId3"/>
          <a:stretch>
            <a:fillRect/>
          </a:stretch>
        </p:blipFill>
        <p:spPr>
          <a:xfrm>
            <a:off x="7278624" y="1554480"/>
            <a:ext cx="310896" cy="310896"/>
          </a:xfrm>
          <a:prstGeom prst="rect">
            <a:avLst/>
          </a:prstGeom>
        </p:spPr>
      </p:pic>
      <p:sp>
        <p:nvSpPr>
          <p:cNvPr id="18" name="Text 13"/>
          <p:cNvSpPr/>
          <p:nvPr/>
        </p:nvSpPr>
        <p:spPr>
          <a:xfrm>
            <a:off x="6126480" y="2057400"/>
            <a:ext cx="2615184" cy="320040"/>
          </a:xfrm>
          <a:prstGeom prst="rect">
            <a:avLst/>
          </a:prstGeom>
          <a:noFill/>
          <a:ln/>
        </p:spPr>
        <p:txBody>
          <a:bodyPr wrap="square" rtlCol="0" anchor="ctr"/>
          <a:lstStyle/>
          <a:p>
            <a:pPr algn="ctr" indent="0" marL="0">
              <a:buNone/>
            </a:pPr>
            <a:r>
              <a:rPr lang="en-US" sz="1350" b="1" dirty="0">
                <a:solidFill>
                  <a:srgbClr val="FFFFFF"/>
                </a:solidFill>
                <a:latin typeface="Calibri" pitchFamily="34" charset="0"/>
                <a:ea typeface="Calibri" pitchFamily="34" charset="-122"/>
                <a:cs typeface="Calibri" pitchFamily="34" charset="-120"/>
              </a:rPr>
              <a:t>Secondary Data</a:t>
            </a:r>
            <a:endParaRPr lang="en-US" sz="1350" dirty="0"/>
          </a:p>
        </p:txBody>
      </p:sp>
      <p:sp>
        <p:nvSpPr>
          <p:cNvPr id="19" name="Text 14"/>
          <p:cNvSpPr/>
          <p:nvPr/>
        </p:nvSpPr>
        <p:spPr>
          <a:xfrm>
            <a:off x="6382512" y="2441448"/>
            <a:ext cx="2103120" cy="1005840"/>
          </a:xfrm>
          <a:prstGeom prst="rect">
            <a:avLst/>
          </a:prstGeom>
          <a:noFill/>
          <a:ln/>
        </p:spPr>
        <p:txBody>
          <a:bodyPr wrap="square" rtlCol="0" anchor="t"/>
          <a:lstStyle/>
          <a:p>
            <a:pPr marL="342900" indent="-342900">
              <a:lnSpc>
                <a:spcPct val="115000"/>
              </a:lnSpc>
              <a:buSzPct val="100000"/>
              <a:buChar char="•"/>
            </a:pPr>
            <a:r>
              <a:rPr lang="en-US" sz="970" dirty="0">
                <a:solidFill>
                  <a:srgbClr val="E4ECF1"/>
                </a:solidFill>
                <a:latin typeface="Calibri" pitchFamily="34" charset="0"/>
                <a:ea typeface="Calibri" pitchFamily="34" charset="-122"/>
                <a:cs typeface="Calibri" pitchFamily="34" charset="-120"/>
              </a:rPr>
              <a:t>Student forums</a:t>
            </a:r>
            <a:endParaRPr lang="en-US" sz="970" dirty="0"/>
          </a:p>
          <a:p>
            <a:pPr marL="342900" indent="-342900">
              <a:lnSpc>
                <a:spcPct val="115000"/>
              </a:lnSpc>
              <a:buSzPct val="100000"/>
              <a:buChar char="•"/>
            </a:pPr>
            <a:r>
              <a:rPr lang="en-US" sz="970" dirty="0">
                <a:solidFill>
                  <a:srgbClr val="E4ECF1"/>
                </a:solidFill>
                <a:latin typeface="Calibri" pitchFamily="34" charset="0"/>
                <a:ea typeface="Calibri" pitchFamily="34" charset="-122"/>
                <a:cs typeface="Calibri" pitchFamily="34" charset="-120"/>
              </a:rPr>
              <a:t>Online communities</a:t>
            </a:r>
            <a:endParaRPr lang="en-US" sz="970" dirty="0"/>
          </a:p>
          <a:p>
            <a:pPr marL="342900" indent="-342900">
              <a:lnSpc>
                <a:spcPct val="115000"/>
              </a:lnSpc>
              <a:buSzPct val="100000"/>
              <a:buChar char="•"/>
            </a:pPr>
            <a:r>
              <a:rPr lang="en-US" sz="970" dirty="0">
                <a:solidFill>
                  <a:srgbClr val="E4ECF1"/>
                </a:solidFill>
                <a:latin typeface="Calibri" pitchFamily="34" charset="0"/>
                <a:ea typeface="Calibri" pitchFamily="34" charset="-122"/>
                <a:cs typeface="Calibri" pitchFamily="34" charset="-120"/>
              </a:rPr>
              <a:t>Social media listening</a:t>
            </a:r>
            <a:endParaRPr lang="en-US" sz="970" dirty="0"/>
          </a:p>
        </p:txBody>
      </p:sp>
      <p:sp>
        <p:nvSpPr>
          <p:cNvPr id="20" name="Shape 15"/>
          <p:cNvSpPr/>
          <p:nvPr/>
        </p:nvSpPr>
        <p:spPr>
          <a:xfrm>
            <a:off x="8869680" y="1234440"/>
            <a:ext cx="2615184" cy="2331720"/>
          </a:xfrm>
          <a:prstGeom prst="roundRect">
            <a:avLst>
              <a:gd name="adj" fmla="val 2745"/>
            </a:avLst>
          </a:prstGeom>
          <a:solidFill>
            <a:srgbClr val="1C7F82"/>
          </a:solidFill>
          <a:ln/>
        </p:spPr>
      </p:sp>
      <p:sp>
        <p:nvSpPr>
          <p:cNvPr id="21" name="Shape 16"/>
          <p:cNvSpPr/>
          <p:nvPr/>
        </p:nvSpPr>
        <p:spPr>
          <a:xfrm>
            <a:off x="9902952" y="1435608"/>
            <a:ext cx="548640" cy="548640"/>
          </a:xfrm>
          <a:prstGeom prst="ellipse">
            <a:avLst/>
          </a:prstGeom>
          <a:solidFill>
            <a:srgbClr val="1B3A5C"/>
          </a:solidFill>
          <a:ln/>
        </p:spPr>
      </p:sp>
      <p:pic>
        <p:nvPicPr>
          <p:cNvPr id="22" name="Image 3" descr="preencoded.png">    </p:cNvPr>
          <p:cNvPicPr>
            <a:picLocks noChangeAspect="1"/>
          </p:cNvPicPr>
          <p:nvPr/>
        </p:nvPicPr>
        <p:blipFill>
          <a:blip r:embed="rId4"/>
          <a:stretch>
            <a:fillRect/>
          </a:stretch>
        </p:blipFill>
        <p:spPr>
          <a:xfrm>
            <a:off x="10021824" y="1554480"/>
            <a:ext cx="310896" cy="310896"/>
          </a:xfrm>
          <a:prstGeom prst="rect">
            <a:avLst/>
          </a:prstGeom>
        </p:spPr>
      </p:pic>
      <p:sp>
        <p:nvSpPr>
          <p:cNvPr id="23" name="Text 17"/>
          <p:cNvSpPr/>
          <p:nvPr/>
        </p:nvSpPr>
        <p:spPr>
          <a:xfrm>
            <a:off x="8869680" y="2057400"/>
            <a:ext cx="2615184" cy="320040"/>
          </a:xfrm>
          <a:prstGeom prst="rect">
            <a:avLst/>
          </a:prstGeom>
          <a:noFill/>
          <a:ln/>
        </p:spPr>
        <p:txBody>
          <a:bodyPr wrap="square" rtlCol="0" anchor="ctr"/>
          <a:lstStyle/>
          <a:p>
            <a:pPr algn="ctr" indent="0" marL="0">
              <a:buNone/>
            </a:pPr>
            <a:r>
              <a:rPr lang="en-US" sz="1350" b="1" dirty="0">
                <a:solidFill>
                  <a:srgbClr val="FFFFFF"/>
                </a:solidFill>
                <a:latin typeface="Calibri" pitchFamily="34" charset="0"/>
                <a:ea typeface="Calibri" pitchFamily="34" charset="-122"/>
                <a:cs typeface="Calibri" pitchFamily="34" charset="-120"/>
              </a:rPr>
              <a:t>Sampling</a:t>
            </a:r>
            <a:endParaRPr lang="en-US" sz="1350" dirty="0"/>
          </a:p>
        </p:txBody>
      </p:sp>
      <p:sp>
        <p:nvSpPr>
          <p:cNvPr id="24" name="Text 18"/>
          <p:cNvSpPr/>
          <p:nvPr/>
        </p:nvSpPr>
        <p:spPr>
          <a:xfrm>
            <a:off x="9125712" y="2441448"/>
            <a:ext cx="2103120" cy="1005840"/>
          </a:xfrm>
          <a:prstGeom prst="rect">
            <a:avLst/>
          </a:prstGeom>
          <a:noFill/>
          <a:ln/>
        </p:spPr>
        <p:txBody>
          <a:bodyPr wrap="square" rtlCol="0" anchor="t"/>
          <a:lstStyle/>
          <a:p>
            <a:pPr marL="342900" indent="-342900">
              <a:lnSpc>
                <a:spcPct val="115000"/>
              </a:lnSpc>
              <a:buSzPct val="100000"/>
              <a:buChar char="•"/>
            </a:pPr>
            <a:r>
              <a:rPr lang="en-US" sz="970" dirty="0">
                <a:solidFill>
                  <a:srgbClr val="E4ECF1"/>
                </a:solidFill>
                <a:latin typeface="Calibri" pitchFamily="34" charset="0"/>
                <a:ea typeface="Calibri" pitchFamily="34" charset="-122"/>
                <a:cs typeface="Calibri" pitchFamily="34" charset="-120"/>
              </a:rPr>
              <a:t>Purposive sampling</a:t>
            </a:r>
            <a:endParaRPr lang="en-US" sz="970" dirty="0"/>
          </a:p>
          <a:p>
            <a:pPr marL="342900" indent="-342900">
              <a:lnSpc>
                <a:spcPct val="115000"/>
              </a:lnSpc>
              <a:buSzPct val="100000"/>
              <a:buChar char="•"/>
            </a:pPr>
            <a:r>
              <a:rPr lang="en-US" sz="970" dirty="0">
                <a:solidFill>
                  <a:srgbClr val="E4ECF1"/>
                </a:solidFill>
                <a:latin typeface="Calibri" pitchFamily="34" charset="0"/>
                <a:ea typeface="Calibri" pitchFamily="34" charset="-122"/>
                <a:cs typeface="Calibri" pitchFamily="34" charset="-120"/>
              </a:rPr>
              <a:t>180 target participants</a:t>
            </a:r>
            <a:endParaRPr lang="en-US" sz="970" dirty="0"/>
          </a:p>
          <a:p>
            <a:pPr marL="342900" indent="-342900">
              <a:lnSpc>
                <a:spcPct val="115000"/>
              </a:lnSpc>
              <a:buSzPct val="100000"/>
              <a:buChar char="•"/>
            </a:pPr>
            <a:r>
              <a:rPr lang="en-US" sz="970" dirty="0">
                <a:solidFill>
                  <a:srgbClr val="E4ECF1"/>
                </a:solidFill>
                <a:latin typeface="Calibri" pitchFamily="34" charset="0"/>
                <a:ea typeface="Calibri" pitchFamily="34" charset="-122"/>
                <a:cs typeface="Calibri" pitchFamily="34" charset="-120"/>
              </a:rPr>
              <a:t>Min. 60% underserved-community</a:t>
            </a:r>
            <a:endParaRPr lang="en-US" sz="970" dirty="0"/>
          </a:p>
        </p:txBody>
      </p:sp>
      <p:sp>
        <p:nvSpPr>
          <p:cNvPr id="25" name="Shape 19"/>
          <p:cNvSpPr/>
          <p:nvPr/>
        </p:nvSpPr>
        <p:spPr>
          <a:xfrm>
            <a:off x="640080" y="3840480"/>
            <a:ext cx="10911535" cy="1417320"/>
          </a:xfrm>
          <a:prstGeom prst="roundRect">
            <a:avLst>
              <a:gd name="adj" fmla="val 4516"/>
            </a:avLst>
          </a:prstGeom>
          <a:solidFill>
            <a:srgbClr val="E3E8EB"/>
          </a:solidFill>
          <a:ln/>
        </p:spPr>
      </p:sp>
      <p:sp>
        <p:nvSpPr>
          <p:cNvPr id="26" name="Shape 20"/>
          <p:cNvSpPr/>
          <p:nvPr/>
        </p:nvSpPr>
        <p:spPr>
          <a:xfrm>
            <a:off x="896112" y="4133088"/>
            <a:ext cx="822960" cy="822960"/>
          </a:xfrm>
          <a:prstGeom prst="ellipse">
            <a:avLst/>
          </a:prstGeom>
          <a:solidFill>
            <a:srgbClr val="D98E2B"/>
          </a:solidFill>
          <a:ln/>
        </p:spPr>
      </p:sp>
      <p:pic>
        <p:nvPicPr>
          <p:cNvPr id="27" name="Image 4" descr="preencoded.png">    </p:cNvPr>
          <p:cNvPicPr>
            <a:picLocks noChangeAspect="1"/>
          </p:cNvPicPr>
          <p:nvPr/>
        </p:nvPicPr>
        <p:blipFill>
          <a:blip r:embed="rId5"/>
          <a:stretch>
            <a:fillRect/>
          </a:stretch>
        </p:blipFill>
        <p:spPr>
          <a:xfrm>
            <a:off x="1078992" y="4315968"/>
            <a:ext cx="457200" cy="457200"/>
          </a:xfrm>
          <a:prstGeom prst="rect">
            <a:avLst/>
          </a:prstGeom>
        </p:spPr>
      </p:pic>
      <p:sp>
        <p:nvSpPr>
          <p:cNvPr id="28" name="Text 21"/>
          <p:cNvSpPr/>
          <p:nvPr/>
        </p:nvSpPr>
        <p:spPr>
          <a:xfrm>
            <a:off x="1920240" y="3977640"/>
            <a:ext cx="3657600" cy="320040"/>
          </a:xfrm>
          <a:prstGeom prst="rect">
            <a:avLst/>
          </a:prstGeom>
          <a:noFill/>
          <a:ln/>
        </p:spPr>
        <p:txBody>
          <a:bodyPr wrap="square" rtlCol="0" anchor="ctr"/>
          <a:lstStyle/>
          <a:p>
            <a:pPr indent="0" marL="0">
              <a:buNone/>
            </a:pPr>
            <a:r>
              <a:rPr lang="en-US" sz="1400" b="1" dirty="0">
                <a:solidFill>
                  <a:srgbClr val="1B3A5C"/>
                </a:solidFill>
                <a:latin typeface="Calibri" pitchFamily="34" charset="0"/>
                <a:ea typeface="Calibri" pitchFamily="34" charset="-122"/>
                <a:cs typeface="Calibri" pitchFamily="34" charset="-120"/>
              </a:rPr>
              <a:t>Ethical Considerations</a:t>
            </a:r>
            <a:endParaRPr lang="en-US" sz="1400" dirty="0"/>
          </a:p>
        </p:txBody>
      </p:sp>
      <p:sp>
        <p:nvSpPr>
          <p:cNvPr id="29" name="Text 22"/>
          <p:cNvSpPr/>
          <p:nvPr/>
        </p:nvSpPr>
        <p:spPr>
          <a:xfrm>
            <a:off x="1920240" y="4343400"/>
            <a:ext cx="4297680" cy="365760"/>
          </a:xfrm>
          <a:prstGeom prst="rect">
            <a:avLst/>
          </a:prstGeom>
          <a:noFill/>
          <a:ln/>
        </p:spPr>
        <p:txBody>
          <a:bodyPr wrap="square" rtlCol="0" anchor="ctr"/>
          <a:lstStyle/>
          <a:p>
            <a:pPr indent="0" marL="0">
              <a:buNone/>
            </a:pPr>
            <a:r>
              <a:rPr lang="en-US" sz="1100" dirty="0">
                <a:solidFill>
                  <a:srgbClr val="243746"/>
                </a:solidFill>
                <a:latin typeface="Calibri" pitchFamily="34" charset="0"/>
                <a:ea typeface="Calibri" pitchFamily="34" charset="-122"/>
                <a:cs typeface="Calibri" pitchFamily="34" charset="-120"/>
              </a:rPr>
              <a:t>✓  Informed consent obtained</a:t>
            </a:r>
            <a:endParaRPr lang="en-US" sz="1100" dirty="0"/>
          </a:p>
        </p:txBody>
      </p:sp>
      <p:sp>
        <p:nvSpPr>
          <p:cNvPr id="30" name="Text 23"/>
          <p:cNvSpPr/>
          <p:nvPr/>
        </p:nvSpPr>
        <p:spPr>
          <a:xfrm>
            <a:off x="6400800" y="4343400"/>
            <a:ext cx="4297680" cy="365760"/>
          </a:xfrm>
          <a:prstGeom prst="rect">
            <a:avLst/>
          </a:prstGeom>
          <a:noFill/>
          <a:ln/>
        </p:spPr>
        <p:txBody>
          <a:bodyPr wrap="square" rtlCol="0" anchor="ctr"/>
          <a:lstStyle/>
          <a:p>
            <a:pPr indent="0" marL="0">
              <a:buNone/>
            </a:pPr>
            <a:r>
              <a:rPr lang="en-US" sz="1100" dirty="0">
                <a:solidFill>
                  <a:srgbClr val="243746"/>
                </a:solidFill>
                <a:latin typeface="Calibri" pitchFamily="34" charset="0"/>
                <a:ea typeface="Calibri" pitchFamily="34" charset="-122"/>
                <a:cs typeface="Calibri" pitchFamily="34" charset="-120"/>
              </a:rPr>
              <a:t>✓  Voluntary participation</a:t>
            </a:r>
            <a:endParaRPr lang="en-US" sz="1100" dirty="0"/>
          </a:p>
        </p:txBody>
      </p:sp>
      <p:sp>
        <p:nvSpPr>
          <p:cNvPr id="31" name="Text 24"/>
          <p:cNvSpPr/>
          <p:nvPr/>
        </p:nvSpPr>
        <p:spPr>
          <a:xfrm>
            <a:off x="1920240" y="4754880"/>
            <a:ext cx="4297680" cy="365760"/>
          </a:xfrm>
          <a:prstGeom prst="rect">
            <a:avLst/>
          </a:prstGeom>
          <a:noFill/>
          <a:ln/>
        </p:spPr>
        <p:txBody>
          <a:bodyPr wrap="square" rtlCol="0" anchor="ctr"/>
          <a:lstStyle/>
          <a:p>
            <a:pPr indent="0" marL="0">
              <a:buNone/>
            </a:pPr>
            <a:r>
              <a:rPr lang="en-US" sz="1100" dirty="0">
                <a:solidFill>
                  <a:srgbClr val="243746"/>
                </a:solidFill>
                <a:latin typeface="Calibri" pitchFamily="34" charset="0"/>
                <a:ea typeface="Calibri" pitchFamily="34" charset="-122"/>
                <a:cs typeface="Calibri" pitchFamily="34" charset="-120"/>
              </a:rPr>
              <a:t>✓  Anonymised, securely stored data</a:t>
            </a:r>
            <a:endParaRPr lang="en-US" sz="1100" dirty="0"/>
          </a:p>
        </p:txBody>
      </p:sp>
      <p:sp>
        <p:nvSpPr>
          <p:cNvPr id="32" name="Text 25"/>
          <p:cNvSpPr/>
          <p:nvPr/>
        </p:nvSpPr>
        <p:spPr>
          <a:xfrm>
            <a:off x="6400800" y="4754880"/>
            <a:ext cx="4297680" cy="365760"/>
          </a:xfrm>
          <a:prstGeom prst="rect">
            <a:avLst/>
          </a:prstGeom>
          <a:noFill/>
          <a:ln/>
        </p:spPr>
        <p:txBody>
          <a:bodyPr wrap="square" rtlCol="0" anchor="ctr"/>
          <a:lstStyle/>
          <a:p>
            <a:pPr indent="0" marL="0">
              <a:buNone/>
            </a:pPr>
            <a:r>
              <a:rPr lang="en-US" sz="1100" dirty="0">
                <a:solidFill>
                  <a:srgbClr val="243746"/>
                </a:solidFill>
                <a:latin typeface="Calibri" pitchFamily="34" charset="0"/>
                <a:ea typeface="Calibri" pitchFamily="34" charset="-122"/>
                <a:cs typeface="Calibri" pitchFamily="34" charset="-120"/>
              </a:rPr>
              <a:t>✓  Parental/guardian consent for under-18 participants</a:t>
            </a:r>
            <a:endParaRPr lang="en-US" sz="1100" dirty="0"/>
          </a:p>
        </p:txBody>
      </p:sp>
      <p:sp>
        <p:nvSpPr>
          <p:cNvPr id="33" name="Text 26"/>
          <p:cNvSpPr/>
          <p:nvPr/>
        </p:nvSpPr>
        <p:spPr>
          <a:xfrm>
            <a:off x="457200" y="6519672"/>
            <a:ext cx="7315200" cy="274320"/>
          </a:xfrm>
          <a:prstGeom prst="rect">
            <a:avLst/>
          </a:prstGeom>
          <a:noFill/>
          <a:ln/>
        </p:spPr>
        <p:txBody>
          <a:bodyPr wrap="square" rtlCol="0" anchor="ctr"/>
          <a:lstStyle/>
          <a:p>
            <a:pPr algn="l" indent="0" marL="0">
              <a:buNone/>
            </a:pPr>
            <a:r>
              <a:rPr lang="en-US" sz="900" dirty="0">
                <a:solidFill>
                  <a:srgbClr val="5B6B78"/>
                </a:solidFill>
                <a:latin typeface="Calibri" pitchFamily="34" charset="0"/>
                <a:ea typeface="Calibri" pitchFamily="34" charset="-122"/>
                <a:cs typeface="Calibri" pitchFamily="34" charset="-120"/>
              </a:rPr>
              <a:t>Understanding Examination Preparation Challenges</a:t>
            </a:r>
            <a:endParaRPr lang="en-US" sz="900" dirty="0"/>
          </a:p>
        </p:txBody>
      </p:sp>
      <p:sp>
        <p:nvSpPr>
          <p:cNvPr id="34" name="Text 27"/>
          <p:cNvSpPr/>
          <p:nvPr/>
        </p:nvSpPr>
        <p:spPr>
          <a:xfrm>
            <a:off x="11277295" y="6519672"/>
            <a:ext cx="457200" cy="274320"/>
          </a:xfrm>
          <a:prstGeom prst="rect">
            <a:avLst/>
          </a:prstGeom>
          <a:noFill/>
          <a:ln/>
        </p:spPr>
        <p:txBody>
          <a:bodyPr wrap="square" rtlCol="0" anchor="ctr"/>
          <a:lstStyle/>
          <a:p>
            <a:pPr algn="r" indent="0" marL="0">
              <a:buNone/>
            </a:pPr>
            <a:r>
              <a:rPr lang="en-US" sz="900" dirty="0">
                <a:solidFill>
                  <a:srgbClr val="5B6B78"/>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0" y="0"/>
            <a:ext cx="12191695" cy="960120"/>
          </a:xfrm>
          <a:prstGeom prst="rect">
            <a:avLst/>
          </a:prstGeom>
          <a:solidFill>
            <a:srgbClr val="F1F4F6"/>
          </a:solidFill>
          <a:ln/>
        </p:spPr>
      </p:sp>
      <p:sp>
        <p:nvSpPr>
          <p:cNvPr id="3" name="Text 1"/>
          <p:cNvSpPr/>
          <p:nvPr/>
        </p:nvSpPr>
        <p:spPr>
          <a:xfrm>
            <a:off x="640080" y="256032"/>
            <a:ext cx="8229600" cy="502920"/>
          </a:xfrm>
          <a:prstGeom prst="rect">
            <a:avLst/>
          </a:prstGeom>
          <a:noFill/>
          <a:ln/>
        </p:spPr>
        <p:txBody>
          <a:bodyPr wrap="square" rtlCol="0" anchor="ctr"/>
          <a:lstStyle/>
          <a:p>
            <a:pPr indent="0" marL="0">
              <a:buNone/>
            </a:pPr>
            <a:r>
              <a:rPr lang="en-US" sz="2800" b="1" dirty="0">
                <a:solidFill>
                  <a:srgbClr val="1B3A5C"/>
                </a:solidFill>
                <a:latin typeface="Cambria" pitchFamily="34" charset="0"/>
                <a:ea typeface="Cambria" pitchFamily="34" charset="-122"/>
                <a:cs typeface="Cambria" pitchFamily="34" charset="-120"/>
              </a:rPr>
              <a:t>Expected Outcomes &amp; Impact</a:t>
            </a:r>
            <a:endParaRPr lang="en-US" sz="2800" dirty="0"/>
          </a:p>
        </p:txBody>
      </p:sp>
      <p:sp>
        <p:nvSpPr>
          <p:cNvPr id="4" name="Text 2"/>
          <p:cNvSpPr/>
          <p:nvPr/>
        </p:nvSpPr>
        <p:spPr>
          <a:xfrm>
            <a:off x="640080" y="658368"/>
            <a:ext cx="9601200" cy="274320"/>
          </a:xfrm>
          <a:prstGeom prst="rect">
            <a:avLst/>
          </a:prstGeom>
          <a:noFill/>
          <a:ln/>
        </p:spPr>
        <p:txBody>
          <a:bodyPr wrap="square" rtlCol="0" anchor="ctr"/>
          <a:lstStyle/>
          <a:p>
            <a:pPr indent="0" marL="0">
              <a:buNone/>
            </a:pPr>
            <a:r>
              <a:rPr lang="en-US" sz="1150" i="1" dirty="0">
                <a:solidFill>
                  <a:srgbClr val="5B6B78"/>
                </a:solidFill>
                <a:latin typeface="Calibri" pitchFamily="34" charset="0"/>
                <a:ea typeface="Calibri" pitchFamily="34" charset="-122"/>
                <a:cs typeface="Calibri" pitchFamily="34" charset="-120"/>
              </a:rPr>
              <a:t>Anticipated outcomes based on the overall research design — not yet-completed results</a:t>
            </a:r>
            <a:endParaRPr lang="en-US" sz="1150" dirty="0"/>
          </a:p>
        </p:txBody>
      </p:sp>
      <p:sp>
        <p:nvSpPr>
          <p:cNvPr id="5" name="Shape 3"/>
          <p:cNvSpPr/>
          <p:nvPr/>
        </p:nvSpPr>
        <p:spPr>
          <a:xfrm>
            <a:off x="457200" y="1234440"/>
            <a:ext cx="1965960" cy="1051560"/>
          </a:xfrm>
          <a:prstGeom prst="roundRect">
            <a:avLst>
              <a:gd name="adj" fmla="val 6087"/>
            </a:avLst>
          </a:prstGeom>
          <a:solidFill>
            <a:srgbClr val="1B3A5C"/>
          </a:solidFill>
          <a:ln/>
        </p:spPr>
      </p:sp>
      <p:pic>
        <p:nvPicPr>
          <p:cNvPr id="6" name="Image 0" descr="preencoded.png">    </p:cNvPr>
          <p:cNvPicPr>
            <a:picLocks noChangeAspect="1"/>
          </p:cNvPicPr>
          <p:nvPr/>
        </p:nvPicPr>
        <p:blipFill>
          <a:blip r:embed="rId1"/>
          <a:stretch>
            <a:fillRect/>
          </a:stretch>
        </p:blipFill>
        <p:spPr>
          <a:xfrm>
            <a:off x="1239012" y="1371600"/>
            <a:ext cx="402336" cy="402336"/>
          </a:xfrm>
          <a:prstGeom prst="rect">
            <a:avLst/>
          </a:prstGeom>
        </p:spPr>
      </p:pic>
      <p:sp>
        <p:nvSpPr>
          <p:cNvPr id="7" name="Text 4"/>
          <p:cNvSpPr/>
          <p:nvPr/>
        </p:nvSpPr>
        <p:spPr>
          <a:xfrm>
            <a:off x="502920" y="1801368"/>
            <a:ext cx="1874520" cy="411480"/>
          </a:xfrm>
          <a:prstGeom prst="rect">
            <a:avLst/>
          </a:prstGeom>
          <a:noFill/>
          <a:ln/>
        </p:spPr>
        <p:txBody>
          <a:bodyPr wrap="square"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Research</a:t>
            </a:r>
            <a:endParaRPr lang="en-US" sz="1150" dirty="0"/>
          </a:p>
        </p:txBody>
      </p:sp>
      <p:pic>
        <p:nvPicPr>
          <p:cNvPr id="8" name="Image 1" descr="preencoded.png">    </p:cNvPr>
          <p:cNvPicPr>
            <a:picLocks noChangeAspect="1"/>
          </p:cNvPicPr>
          <p:nvPr/>
        </p:nvPicPr>
        <p:blipFill>
          <a:blip r:embed="rId2"/>
          <a:stretch>
            <a:fillRect/>
          </a:stretch>
        </p:blipFill>
        <p:spPr>
          <a:xfrm>
            <a:off x="2466937" y="1600200"/>
            <a:ext cx="274320" cy="274320"/>
          </a:xfrm>
          <a:prstGeom prst="rect">
            <a:avLst/>
          </a:prstGeom>
        </p:spPr>
      </p:pic>
      <p:sp>
        <p:nvSpPr>
          <p:cNvPr id="9" name="Shape 5"/>
          <p:cNvSpPr/>
          <p:nvPr/>
        </p:nvSpPr>
        <p:spPr>
          <a:xfrm>
            <a:off x="2785034" y="1234440"/>
            <a:ext cx="1965960" cy="1051560"/>
          </a:xfrm>
          <a:prstGeom prst="roundRect">
            <a:avLst>
              <a:gd name="adj" fmla="val 6087"/>
            </a:avLst>
          </a:prstGeom>
          <a:solidFill>
            <a:srgbClr val="1C7F82"/>
          </a:solidFill>
          <a:ln/>
        </p:spPr>
      </p:sp>
      <p:pic>
        <p:nvPicPr>
          <p:cNvPr id="10" name="Image 2" descr="preencoded.png">    </p:cNvPr>
          <p:cNvPicPr>
            <a:picLocks noChangeAspect="1"/>
          </p:cNvPicPr>
          <p:nvPr/>
        </p:nvPicPr>
        <p:blipFill>
          <a:blip r:embed="rId3"/>
          <a:stretch>
            <a:fillRect/>
          </a:stretch>
        </p:blipFill>
        <p:spPr>
          <a:xfrm>
            <a:off x="3566846" y="1371600"/>
            <a:ext cx="402336" cy="402336"/>
          </a:xfrm>
          <a:prstGeom prst="rect">
            <a:avLst/>
          </a:prstGeom>
        </p:spPr>
      </p:pic>
      <p:sp>
        <p:nvSpPr>
          <p:cNvPr id="11" name="Text 6"/>
          <p:cNvSpPr/>
          <p:nvPr/>
        </p:nvSpPr>
        <p:spPr>
          <a:xfrm>
            <a:off x="2830754" y="1801368"/>
            <a:ext cx="1874520" cy="411480"/>
          </a:xfrm>
          <a:prstGeom prst="rect">
            <a:avLst/>
          </a:prstGeom>
          <a:noFill/>
          <a:ln/>
        </p:spPr>
        <p:txBody>
          <a:bodyPr wrap="square"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Insights</a:t>
            </a:r>
            <a:endParaRPr lang="en-US" sz="1150" dirty="0"/>
          </a:p>
        </p:txBody>
      </p:sp>
      <p:pic>
        <p:nvPicPr>
          <p:cNvPr id="12" name="Image 3" descr="preencoded.png">    </p:cNvPr>
          <p:cNvPicPr>
            <a:picLocks noChangeAspect="1"/>
          </p:cNvPicPr>
          <p:nvPr/>
        </p:nvPicPr>
        <p:blipFill>
          <a:blip r:embed="rId4"/>
          <a:stretch>
            <a:fillRect/>
          </a:stretch>
        </p:blipFill>
        <p:spPr>
          <a:xfrm>
            <a:off x="4794771" y="1600200"/>
            <a:ext cx="274320" cy="274320"/>
          </a:xfrm>
          <a:prstGeom prst="rect">
            <a:avLst/>
          </a:prstGeom>
        </p:spPr>
      </p:pic>
      <p:sp>
        <p:nvSpPr>
          <p:cNvPr id="13" name="Shape 7"/>
          <p:cNvSpPr/>
          <p:nvPr/>
        </p:nvSpPr>
        <p:spPr>
          <a:xfrm>
            <a:off x="5112868" y="1234440"/>
            <a:ext cx="1965960" cy="1051560"/>
          </a:xfrm>
          <a:prstGeom prst="roundRect">
            <a:avLst>
              <a:gd name="adj" fmla="val 6087"/>
            </a:avLst>
          </a:prstGeom>
          <a:solidFill>
            <a:srgbClr val="1B3A5C"/>
          </a:solidFill>
          <a:ln/>
        </p:spPr>
      </p:sp>
      <p:pic>
        <p:nvPicPr>
          <p:cNvPr id="14" name="Image 4" descr="preencoded.png">    </p:cNvPr>
          <p:cNvPicPr>
            <a:picLocks noChangeAspect="1"/>
          </p:cNvPicPr>
          <p:nvPr/>
        </p:nvPicPr>
        <p:blipFill>
          <a:blip r:embed="rId5"/>
          <a:stretch>
            <a:fillRect/>
          </a:stretch>
        </p:blipFill>
        <p:spPr>
          <a:xfrm>
            <a:off x="5894680" y="1371600"/>
            <a:ext cx="402336" cy="402336"/>
          </a:xfrm>
          <a:prstGeom prst="rect">
            <a:avLst/>
          </a:prstGeom>
        </p:spPr>
      </p:pic>
      <p:sp>
        <p:nvSpPr>
          <p:cNvPr id="15" name="Text 8"/>
          <p:cNvSpPr/>
          <p:nvPr/>
        </p:nvSpPr>
        <p:spPr>
          <a:xfrm>
            <a:off x="5158588" y="1801368"/>
            <a:ext cx="1874520" cy="411480"/>
          </a:xfrm>
          <a:prstGeom prst="rect">
            <a:avLst/>
          </a:prstGeom>
          <a:noFill/>
          <a:ln/>
        </p:spPr>
        <p:txBody>
          <a:bodyPr wrap="square"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Recommendations</a:t>
            </a:r>
            <a:endParaRPr lang="en-US" sz="1150" dirty="0"/>
          </a:p>
        </p:txBody>
      </p:sp>
      <p:pic>
        <p:nvPicPr>
          <p:cNvPr id="16" name="Image 5" descr="preencoded.png">    </p:cNvPr>
          <p:cNvPicPr>
            <a:picLocks noChangeAspect="1"/>
          </p:cNvPicPr>
          <p:nvPr/>
        </p:nvPicPr>
        <p:blipFill>
          <a:blip r:embed="rId6"/>
          <a:stretch>
            <a:fillRect/>
          </a:stretch>
        </p:blipFill>
        <p:spPr>
          <a:xfrm>
            <a:off x="7122605" y="1600200"/>
            <a:ext cx="274320" cy="274320"/>
          </a:xfrm>
          <a:prstGeom prst="rect">
            <a:avLst/>
          </a:prstGeom>
        </p:spPr>
      </p:pic>
      <p:sp>
        <p:nvSpPr>
          <p:cNvPr id="17" name="Shape 9"/>
          <p:cNvSpPr/>
          <p:nvPr/>
        </p:nvSpPr>
        <p:spPr>
          <a:xfrm>
            <a:off x="7440701" y="1234440"/>
            <a:ext cx="1965960" cy="1051560"/>
          </a:xfrm>
          <a:prstGeom prst="roundRect">
            <a:avLst>
              <a:gd name="adj" fmla="val 6087"/>
            </a:avLst>
          </a:prstGeom>
          <a:solidFill>
            <a:srgbClr val="1C7F82"/>
          </a:solidFill>
          <a:ln/>
        </p:spPr>
      </p:sp>
      <p:pic>
        <p:nvPicPr>
          <p:cNvPr id="18" name="Image 6" descr="preencoded.png">    </p:cNvPr>
          <p:cNvPicPr>
            <a:picLocks noChangeAspect="1"/>
          </p:cNvPicPr>
          <p:nvPr/>
        </p:nvPicPr>
        <p:blipFill>
          <a:blip r:embed="rId7"/>
          <a:stretch>
            <a:fillRect/>
          </a:stretch>
        </p:blipFill>
        <p:spPr>
          <a:xfrm>
            <a:off x="8222513" y="1371600"/>
            <a:ext cx="402336" cy="402336"/>
          </a:xfrm>
          <a:prstGeom prst="rect">
            <a:avLst/>
          </a:prstGeom>
        </p:spPr>
      </p:pic>
      <p:sp>
        <p:nvSpPr>
          <p:cNvPr id="19" name="Text 10"/>
          <p:cNvSpPr/>
          <p:nvPr/>
        </p:nvSpPr>
        <p:spPr>
          <a:xfrm>
            <a:off x="7486421" y="1801368"/>
            <a:ext cx="1874520" cy="411480"/>
          </a:xfrm>
          <a:prstGeom prst="rect">
            <a:avLst/>
          </a:prstGeom>
          <a:noFill/>
          <a:ln/>
        </p:spPr>
        <p:txBody>
          <a:bodyPr wrap="square"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Student Support</a:t>
            </a:r>
            <a:endParaRPr lang="en-US" sz="1150" dirty="0"/>
          </a:p>
        </p:txBody>
      </p:sp>
      <p:pic>
        <p:nvPicPr>
          <p:cNvPr id="20" name="Image 7" descr="preencoded.png">    </p:cNvPr>
          <p:cNvPicPr>
            <a:picLocks noChangeAspect="1"/>
          </p:cNvPicPr>
          <p:nvPr/>
        </p:nvPicPr>
        <p:blipFill>
          <a:blip r:embed="rId8"/>
          <a:stretch>
            <a:fillRect/>
          </a:stretch>
        </p:blipFill>
        <p:spPr>
          <a:xfrm>
            <a:off x="9450438" y="1600200"/>
            <a:ext cx="274320" cy="274320"/>
          </a:xfrm>
          <a:prstGeom prst="rect">
            <a:avLst/>
          </a:prstGeom>
        </p:spPr>
      </p:pic>
      <p:sp>
        <p:nvSpPr>
          <p:cNvPr id="21" name="Shape 11"/>
          <p:cNvSpPr/>
          <p:nvPr/>
        </p:nvSpPr>
        <p:spPr>
          <a:xfrm>
            <a:off x="9768535" y="1234440"/>
            <a:ext cx="1965960" cy="1051560"/>
          </a:xfrm>
          <a:prstGeom prst="roundRect">
            <a:avLst>
              <a:gd name="adj" fmla="val 6087"/>
            </a:avLst>
          </a:prstGeom>
          <a:solidFill>
            <a:srgbClr val="1B3A5C"/>
          </a:solidFill>
          <a:ln/>
        </p:spPr>
      </p:sp>
      <p:pic>
        <p:nvPicPr>
          <p:cNvPr id="22" name="Image 8" descr="preencoded.png">    </p:cNvPr>
          <p:cNvPicPr>
            <a:picLocks noChangeAspect="1"/>
          </p:cNvPicPr>
          <p:nvPr/>
        </p:nvPicPr>
        <p:blipFill>
          <a:blip r:embed="rId9"/>
          <a:stretch>
            <a:fillRect/>
          </a:stretch>
        </p:blipFill>
        <p:spPr>
          <a:xfrm>
            <a:off x="10550347" y="1371600"/>
            <a:ext cx="402336" cy="402336"/>
          </a:xfrm>
          <a:prstGeom prst="rect">
            <a:avLst/>
          </a:prstGeom>
        </p:spPr>
      </p:pic>
      <p:sp>
        <p:nvSpPr>
          <p:cNvPr id="23" name="Text 12"/>
          <p:cNvSpPr/>
          <p:nvPr/>
        </p:nvSpPr>
        <p:spPr>
          <a:xfrm>
            <a:off x="9814255" y="1801368"/>
            <a:ext cx="1874520" cy="411480"/>
          </a:xfrm>
          <a:prstGeom prst="rect">
            <a:avLst/>
          </a:prstGeom>
          <a:noFill/>
          <a:ln/>
        </p:spPr>
        <p:txBody>
          <a:bodyPr wrap="square"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Better Outcomes</a:t>
            </a:r>
            <a:endParaRPr lang="en-US" sz="1150" dirty="0"/>
          </a:p>
        </p:txBody>
      </p:sp>
      <p:sp>
        <p:nvSpPr>
          <p:cNvPr id="24" name="Shape 13"/>
          <p:cNvSpPr/>
          <p:nvPr/>
        </p:nvSpPr>
        <p:spPr>
          <a:xfrm>
            <a:off x="640080" y="2606040"/>
            <a:ext cx="3511296" cy="868680"/>
          </a:xfrm>
          <a:prstGeom prst="roundRect">
            <a:avLst>
              <a:gd name="adj" fmla="val 6316"/>
            </a:avLst>
          </a:prstGeom>
          <a:solidFill>
            <a:srgbClr val="FFFFFF"/>
          </a:solidFill>
          <a:ln w="12700">
            <a:solidFill>
              <a:srgbClr val="E3E8EB"/>
            </a:solidFill>
            <a:prstDash val="solid"/>
          </a:ln>
        </p:spPr>
      </p:sp>
      <p:sp>
        <p:nvSpPr>
          <p:cNvPr id="25" name="Shape 14"/>
          <p:cNvSpPr/>
          <p:nvPr/>
        </p:nvSpPr>
        <p:spPr>
          <a:xfrm>
            <a:off x="777240" y="2884932"/>
            <a:ext cx="310896" cy="310896"/>
          </a:xfrm>
          <a:prstGeom prst="ellipse">
            <a:avLst/>
          </a:prstGeom>
          <a:solidFill>
            <a:srgbClr val="D98E2B"/>
          </a:solidFill>
          <a:ln/>
        </p:spPr>
      </p:sp>
      <p:sp>
        <p:nvSpPr>
          <p:cNvPr id="26" name="Text 15"/>
          <p:cNvSpPr/>
          <p:nvPr/>
        </p:nvSpPr>
        <p:spPr>
          <a:xfrm>
            <a:off x="777240" y="2884932"/>
            <a:ext cx="310896" cy="310896"/>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27" name="Text 16"/>
          <p:cNvSpPr/>
          <p:nvPr/>
        </p:nvSpPr>
        <p:spPr>
          <a:xfrm>
            <a:off x="1207008" y="2679192"/>
            <a:ext cx="2798064" cy="722376"/>
          </a:xfrm>
          <a:prstGeom prst="rect">
            <a:avLst/>
          </a:prstGeom>
          <a:noFill/>
          <a:ln/>
        </p:spPr>
        <p:txBody>
          <a:bodyPr wrap="square" rtlCol="0" anchor="ctr"/>
          <a:lstStyle/>
          <a:p>
            <a:pPr indent="0" marL="0">
              <a:lnSpc>
                <a:spcPct val="108000"/>
              </a:lnSpc>
              <a:buNone/>
            </a:pPr>
            <a:r>
              <a:rPr lang="en-US" sz="1030" dirty="0">
                <a:solidFill>
                  <a:srgbClr val="243746"/>
                </a:solidFill>
                <a:latin typeface="Calibri" pitchFamily="34" charset="0"/>
                <a:ea typeface="Calibri" pitchFamily="34" charset="-122"/>
                <a:cs typeface="Calibri" pitchFamily="34" charset="-120"/>
              </a:rPr>
              <a:t>Comprehensive identification of student needs</a:t>
            </a:r>
            <a:endParaRPr lang="en-US" sz="1030" dirty="0"/>
          </a:p>
        </p:txBody>
      </p:sp>
      <p:sp>
        <p:nvSpPr>
          <p:cNvPr id="28" name="Shape 17"/>
          <p:cNvSpPr/>
          <p:nvPr/>
        </p:nvSpPr>
        <p:spPr>
          <a:xfrm>
            <a:off x="4297680" y="2606040"/>
            <a:ext cx="3511296" cy="868680"/>
          </a:xfrm>
          <a:prstGeom prst="roundRect">
            <a:avLst>
              <a:gd name="adj" fmla="val 6316"/>
            </a:avLst>
          </a:prstGeom>
          <a:solidFill>
            <a:srgbClr val="FFFFFF"/>
          </a:solidFill>
          <a:ln w="12700">
            <a:solidFill>
              <a:srgbClr val="E3E8EB"/>
            </a:solidFill>
            <a:prstDash val="solid"/>
          </a:ln>
        </p:spPr>
      </p:sp>
      <p:sp>
        <p:nvSpPr>
          <p:cNvPr id="29" name="Shape 18"/>
          <p:cNvSpPr/>
          <p:nvPr/>
        </p:nvSpPr>
        <p:spPr>
          <a:xfrm>
            <a:off x="4434840" y="2884932"/>
            <a:ext cx="310896" cy="310896"/>
          </a:xfrm>
          <a:prstGeom prst="ellipse">
            <a:avLst/>
          </a:prstGeom>
          <a:solidFill>
            <a:srgbClr val="D98E2B"/>
          </a:solidFill>
          <a:ln/>
        </p:spPr>
      </p:sp>
      <p:sp>
        <p:nvSpPr>
          <p:cNvPr id="30" name="Text 19"/>
          <p:cNvSpPr/>
          <p:nvPr/>
        </p:nvSpPr>
        <p:spPr>
          <a:xfrm>
            <a:off x="4434840" y="2884932"/>
            <a:ext cx="310896" cy="310896"/>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31" name="Text 20"/>
          <p:cNvSpPr/>
          <p:nvPr/>
        </p:nvSpPr>
        <p:spPr>
          <a:xfrm>
            <a:off x="4864608" y="2679192"/>
            <a:ext cx="2798064" cy="722376"/>
          </a:xfrm>
          <a:prstGeom prst="rect">
            <a:avLst/>
          </a:prstGeom>
          <a:noFill/>
          <a:ln/>
        </p:spPr>
        <p:txBody>
          <a:bodyPr wrap="square" rtlCol="0" anchor="ctr"/>
          <a:lstStyle/>
          <a:p>
            <a:pPr indent="0" marL="0">
              <a:lnSpc>
                <a:spcPct val="108000"/>
              </a:lnSpc>
              <a:buNone/>
            </a:pPr>
            <a:r>
              <a:rPr lang="en-US" sz="1030" dirty="0">
                <a:solidFill>
                  <a:srgbClr val="243746"/>
                </a:solidFill>
                <a:latin typeface="Calibri" pitchFamily="34" charset="0"/>
                <a:ea typeface="Calibri" pitchFamily="34" charset="-122"/>
                <a:cs typeface="Calibri" pitchFamily="34" charset="-120"/>
              </a:rPr>
              <a:t>Improved academic support &amp; learning resources</a:t>
            </a:r>
            <a:endParaRPr lang="en-US" sz="1030" dirty="0"/>
          </a:p>
        </p:txBody>
      </p:sp>
      <p:sp>
        <p:nvSpPr>
          <p:cNvPr id="32" name="Shape 21"/>
          <p:cNvSpPr/>
          <p:nvPr/>
        </p:nvSpPr>
        <p:spPr>
          <a:xfrm>
            <a:off x="7955280" y="2606040"/>
            <a:ext cx="3511296" cy="868680"/>
          </a:xfrm>
          <a:prstGeom prst="roundRect">
            <a:avLst>
              <a:gd name="adj" fmla="val 6316"/>
            </a:avLst>
          </a:prstGeom>
          <a:solidFill>
            <a:srgbClr val="FFFFFF"/>
          </a:solidFill>
          <a:ln w="12700">
            <a:solidFill>
              <a:srgbClr val="E3E8EB"/>
            </a:solidFill>
            <a:prstDash val="solid"/>
          </a:ln>
        </p:spPr>
      </p:sp>
      <p:sp>
        <p:nvSpPr>
          <p:cNvPr id="33" name="Shape 22"/>
          <p:cNvSpPr/>
          <p:nvPr/>
        </p:nvSpPr>
        <p:spPr>
          <a:xfrm>
            <a:off x="8092440" y="2884932"/>
            <a:ext cx="310896" cy="310896"/>
          </a:xfrm>
          <a:prstGeom prst="ellipse">
            <a:avLst/>
          </a:prstGeom>
          <a:solidFill>
            <a:srgbClr val="D98E2B"/>
          </a:solidFill>
          <a:ln/>
        </p:spPr>
      </p:sp>
      <p:sp>
        <p:nvSpPr>
          <p:cNvPr id="34" name="Text 23"/>
          <p:cNvSpPr/>
          <p:nvPr/>
        </p:nvSpPr>
        <p:spPr>
          <a:xfrm>
            <a:off x="8092440" y="2884932"/>
            <a:ext cx="310896" cy="310896"/>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35" name="Text 24"/>
          <p:cNvSpPr/>
          <p:nvPr/>
        </p:nvSpPr>
        <p:spPr>
          <a:xfrm>
            <a:off x="8522208" y="2679192"/>
            <a:ext cx="2798064" cy="722376"/>
          </a:xfrm>
          <a:prstGeom prst="rect">
            <a:avLst/>
          </a:prstGeom>
          <a:noFill/>
          <a:ln/>
        </p:spPr>
        <p:txBody>
          <a:bodyPr wrap="square" rtlCol="0" anchor="ctr"/>
          <a:lstStyle/>
          <a:p>
            <a:pPr indent="0" marL="0">
              <a:lnSpc>
                <a:spcPct val="108000"/>
              </a:lnSpc>
              <a:buNone/>
            </a:pPr>
            <a:r>
              <a:rPr lang="en-US" sz="1030" dirty="0">
                <a:solidFill>
                  <a:srgbClr val="243746"/>
                </a:solidFill>
                <a:latin typeface="Calibri" pitchFamily="34" charset="0"/>
                <a:ea typeface="Calibri" pitchFamily="34" charset="-122"/>
                <a:cs typeface="Calibri" pitchFamily="34" charset="-120"/>
              </a:rPr>
              <a:t>Strengthened mentorship &amp; guidance structures</a:t>
            </a:r>
            <a:endParaRPr lang="en-US" sz="1030" dirty="0"/>
          </a:p>
        </p:txBody>
      </p:sp>
      <p:sp>
        <p:nvSpPr>
          <p:cNvPr id="36" name="Shape 25"/>
          <p:cNvSpPr/>
          <p:nvPr/>
        </p:nvSpPr>
        <p:spPr>
          <a:xfrm>
            <a:off x="640080" y="3611880"/>
            <a:ext cx="3511296" cy="868680"/>
          </a:xfrm>
          <a:prstGeom prst="roundRect">
            <a:avLst>
              <a:gd name="adj" fmla="val 6316"/>
            </a:avLst>
          </a:prstGeom>
          <a:solidFill>
            <a:srgbClr val="FFFFFF"/>
          </a:solidFill>
          <a:ln w="12700">
            <a:solidFill>
              <a:srgbClr val="E3E8EB"/>
            </a:solidFill>
            <a:prstDash val="solid"/>
          </a:ln>
        </p:spPr>
      </p:sp>
      <p:sp>
        <p:nvSpPr>
          <p:cNvPr id="37" name="Shape 26"/>
          <p:cNvSpPr/>
          <p:nvPr/>
        </p:nvSpPr>
        <p:spPr>
          <a:xfrm>
            <a:off x="777240" y="3890772"/>
            <a:ext cx="310896" cy="310896"/>
          </a:xfrm>
          <a:prstGeom prst="ellipse">
            <a:avLst/>
          </a:prstGeom>
          <a:solidFill>
            <a:srgbClr val="D98E2B"/>
          </a:solidFill>
          <a:ln/>
        </p:spPr>
      </p:sp>
      <p:sp>
        <p:nvSpPr>
          <p:cNvPr id="38" name="Text 27"/>
          <p:cNvSpPr/>
          <p:nvPr/>
        </p:nvSpPr>
        <p:spPr>
          <a:xfrm>
            <a:off x="777240" y="3890772"/>
            <a:ext cx="310896" cy="310896"/>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39" name="Text 28"/>
          <p:cNvSpPr/>
          <p:nvPr/>
        </p:nvSpPr>
        <p:spPr>
          <a:xfrm>
            <a:off x="1207008" y="3685032"/>
            <a:ext cx="2798064" cy="722376"/>
          </a:xfrm>
          <a:prstGeom prst="rect">
            <a:avLst/>
          </a:prstGeom>
          <a:noFill/>
          <a:ln/>
        </p:spPr>
        <p:txBody>
          <a:bodyPr wrap="square" rtlCol="0" anchor="ctr"/>
          <a:lstStyle/>
          <a:p>
            <a:pPr indent="0" marL="0">
              <a:lnSpc>
                <a:spcPct val="108000"/>
              </a:lnSpc>
              <a:buNone/>
            </a:pPr>
            <a:r>
              <a:rPr lang="en-US" sz="1030" dirty="0">
                <a:solidFill>
                  <a:srgbClr val="243746"/>
                </a:solidFill>
                <a:latin typeface="Calibri" pitchFamily="34" charset="0"/>
                <a:ea typeface="Calibri" pitchFamily="34" charset="-122"/>
                <a:cs typeface="Calibri" pitchFamily="34" charset="-120"/>
              </a:rPr>
              <a:t>Enhanced career readiness &amp; planning</a:t>
            </a:r>
            <a:endParaRPr lang="en-US" sz="1030" dirty="0"/>
          </a:p>
        </p:txBody>
      </p:sp>
      <p:sp>
        <p:nvSpPr>
          <p:cNvPr id="40" name="Shape 29"/>
          <p:cNvSpPr/>
          <p:nvPr/>
        </p:nvSpPr>
        <p:spPr>
          <a:xfrm>
            <a:off x="4297680" y="3611880"/>
            <a:ext cx="3511296" cy="868680"/>
          </a:xfrm>
          <a:prstGeom prst="roundRect">
            <a:avLst>
              <a:gd name="adj" fmla="val 6316"/>
            </a:avLst>
          </a:prstGeom>
          <a:solidFill>
            <a:srgbClr val="FFFFFF"/>
          </a:solidFill>
          <a:ln w="12700">
            <a:solidFill>
              <a:srgbClr val="E3E8EB"/>
            </a:solidFill>
            <a:prstDash val="solid"/>
          </a:ln>
        </p:spPr>
      </p:sp>
      <p:sp>
        <p:nvSpPr>
          <p:cNvPr id="41" name="Shape 30"/>
          <p:cNvSpPr/>
          <p:nvPr/>
        </p:nvSpPr>
        <p:spPr>
          <a:xfrm>
            <a:off x="4434840" y="3890772"/>
            <a:ext cx="310896" cy="310896"/>
          </a:xfrm>
          <a:prstGeom prst="ellipse">
            <a:avLst/>
          </a:prstGeom>
          <a:solidFill>
            <a:srgbClr val="D98E2B"/>
          </a:solidFill>
          <a:ln/>
        </p:spPr>
      </p:sp>
      <p:sp>
        <p:nvSpPr>
          <p:cNvPr id="42" name="Text 31"/>
          <p:cNvSpPr/>
          <p:nvPr/>
        </p:nvSpPr>
        <p:spPr>
          <a:xfrm>
            <a:off x="4434840" y="3890772"/>
            <a:ext cx="310896" cy="310896"/>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5</a:t>
            </a:r>
            <a:endParaRPr lang="en-US" sz="1200" dirty="0"/>
          </a:p>
        </p:txBody>
      </p:sp>
      <p:sp>
        <p:nvSpPr>
          <p:cNvPr id="43" name="Text 32"/>
          <p:cNvSpPr/>
          <p:nvPr/>
        </p:nvSpPr>
        <p:spPr>
          <a:xfrm>
            <a:off x="4864608" y="3685032"/>
            <a:ext cx="2798064" cy="722376"/>
          </a:xfrm>
          <a:prstGeom prst="rect">
            <a:avLst/>
          </a:prstGeom>
          <a:noFill/>
          <a:ln/>
        </p:spPr>
        <p:txBody>
          <a:bodyPr wrap="square" rtlCol="0" anchor="ctr"/>
          <a:lstStyle/>
          <a:p>
            <a:pPr indent="0" marL="0">
              <a:lnSpc>
                <a:spcPct val="108000"/>
              </a:lnSpc>
              <a:buNone/>
            </a:pPr>
            <a:r>
              <a:rPr lang="en-US" sz="1030" dirty="0">
                <a:solidFill>
                  <a:srgbClr val="243746"/>
                </a:solidFill>
                <a:latin typeface="Calibri" pitchFamily="34" charset="0"/>
                <a:ea typeface="Calibri" pitchFamily="34" charset="-122"/>
                <a:cs typeface="Calibri" pitchFamily="34" charset="-120"/>
              </a:rPr>
              <a:t>Better digital wellbeing awareness</a:t>
            </a:r>
            <a:endParaRPr lang="en-US" sz="1030" dirty="0"/>
          </a:p>
        </p:txBody>
      </p:sp>
      <p:sp>
        <p:nvSpPr>
          <p:cNvPr id="44" name="Shape 33"/>
          <p:cNvSpPr/>
          <p:nvPr/>
        </p:nvSpPr>
        <p:spPr>
          <a:xfrm>
            <a:off x="7955280" y="3611880"/>
            <a:ext cx="3511296" cy="868680"/>
          </a:xfrm>
          <a:prstGeom prst="roundRect">
            <a:avLst>
              <a:gd name="adj" fmla="val 6316"/>
            </a:avLst>
          </a:prstGeom>
          <a:solidFill>
            <a:srgbClr val="FFFFFF"/>
          </a:solidFill>
          <a:ln w="12700">
            <a:solidFill>
              <a:srgbClr val="E3E8EB"/>
            </a:solidFill>
            <a:prstDash val="solid"/>
          </a:ln>
        </p:spPr>
      </p:sp>
      <p:sp>
        <p:nvSpPr>
          <p:cNvPr id="45" name="Shape 34"/>
          <p:cNvSpPr/>
          <p:nvPr/>
        </p:nvSpPr>
        <p:spPr>
          <a:xfrm>
            <a:off x="8092440" y="3890772"/>
            <a:ext cx="310896" cy="310896"/>
          </a:xfrm>
          <a:prstGeom prst="ellipse">
            <a:avLst/>
          </a:prstGeom>
          <a:solidFill>
            <a:srgbClr val="D98E2B"/>
          </a:solidFill>
          <a:ln/>
        </p:spPr>
      </p:sp>
      <p:sp>
        <p:nvSpPr>
          <p:cNvPr id="46" name="Text 35"/>
          <p:cNvSpPr/>
          <p:nvPr/>
        </p:nvSpPr>
        <p:spPr>
          <a:xfrm>
            <a:off x="8092440" y="3890772"/>
            <a:ext cx="310896" cy="310896"/>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6</a:t>
            </a:r>
            <a:endParaRPr lang="en-US" sz="1200" dirty="0"/>
          </a:p>
        </p:txBody>
      </p:sp>
      <p:sp>
        <p:nvSpPr>
          <p:cNvPr id="47" name="Text 36"/>
          <p:cNvSpPr/>
          <p:nvPr/>
        </p:nvSpPr>
        <p:spPr>
          <a:xfrm>
            <a:off x="8522208" y="3685032"/>
            <a:ext cx="2798064" cy="722376"/>
          </a:xfrm>
          <a:prstGeom prst="rect">
            <a:avLst/>
          </a:prstGeom>
          <a:noFill/>
          <a:ln/>
        </p:spPr>
        <p:txBody>
          <a:bodyPr wrap="square" rtlCol="0" anchor="ctr"/>
          <a:lstStyle/>
          <a:p>
            <a:pPr indent="0" marL="0">
              <a:lnSpc>
                <a:spcPct val="108000"/>
              </a:lnSpc>
              <a:buNone/>
            </a:pPr>
            <a:r>
              <a:rPr lang="en-US" sz="1030" dirty="0">
                <a:solidFill>
                  <a:srgbClr val="243746"/>
                </a:solidFill>
                <a:latin typeface="Calibri" pitchFamily="34" charset="0"/>
                <a:ea typeface="Calibri" pitchFamily="34" charset="-122"/>
                <a:cs typeface="Calibri" pitchFamily="34" charset="-120"/>
              </a:rPr>
              <a:t>Improved student wellbeing support</a:t>
            </a:r>
            <a:endParaRPr lang="en-US" sz="1030" dirty="0"/>
          </a:p>
        </p:txBody>
      </p:sp>
      <p:sp>
        <p:nvSpPr>
          <p:cNvPr id="48" name="Shape 37"/>
          <p:cNvSpPr/>
          <p:nvPr/>
        </p:nvSpPr>
        <p:spPr>
          <a:xfrm>
            <a:off x="640080" y="4617720"/>
            <a:ext cx="3511296" cy="868680"/>
          </a:xfrm>
          <a:prstGeom prst="roundRect">
            <a:avLst>
              <a:gd name="adj" fmla="val 6316"/>
            </a:avLst>
          </a:prstGeom>
          <a:solidFill>
            <a:srgbClr val="FFFFFF"/>
          </a:solidFill>
          <a:ln w="12700">
            <a:solidFill>
              <a:srgbClr val="E3E8EB"/>
            </a:solidFill>
            <a:prstDash val="solid"/>
          </a:ln>
        </p:spPr>
      </p:sp>
      <p:sp>
        <p:nvSpPr>
          <p:cNvPr id="49" name="Shape 38"/>
          <p:cNvSpPr/>
          <p:nvPr/>
        </p:nvSpPr>
        <p:spPr>
          <a:xfrm>
            <a:off x="777240" y="4896612"/>
            <a:ext cx="310896" cy="310896"/>
          </a:xfrm>
          <a:prstGeom prst="ellipse">
            <a:avLst/>
          </a:prstGeom>
          <a:solidFill>
            <a:srgbClr val="D98E2B"/>
          </a:solidFill>
          <a:ln/>
        </p:spPr>
      </p:sp>
      <p:sp>
        <p:nvSpPr>
          <p:cNvPr id="50" name="Text 39"/>
          <p:cNvSpPr/>
          <p:nvPr/>
        </p:nvSpPr>
        <p:spPr>
          <a:xfrm>
            <a:off x="777240" y="4896612"/>
            <a:ext cx="310896" cy="310896"/>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7</a:t>
            </a:r>
            <a:endParaRPr lang="en-US" sz="1200" dirty="0"/>
          </a:p>
        </p:txBody>
      </p:sp>
      <p:sp>
        <p:nvSpPr>
          <p:cNvPr id="51" name="Text 40"/>
          <p:cNvSpPr/>
          <p:nvPr/>
        </p:nvSpPr>
        <p:spPr>
          <a:xfrm>
            <a:off x="1207008" y="4690872"/>
            <a:ext cx="2798064" cy="722376"/>
          </a:xfrm>
          <a:prstGeom prst="rect">
            <a:avLst/>
          </a:prstGeom>
          <a:noFill/>
          <a:ln/>
        </p:spPr>
        <p:txBody>
          <a:bodyPr wrap="square" rtlCol="0" anchor="ctr"/>
          <a:lstStyle/>
          <a:p>
            <a:pPr indent="0" marL="0">
              <a:lnSpc>
                <a:spcPct val="108000"/>
              </a:lnSpc>
              <a:buNone/>
            </a:pPr>
            <a:r>
              <a:rPr lang="en-US" sz="1030" dirty="0">
                <a:solidFill>
                  <a:srgbClr val="243746"/>
                </a:solidFill>
                <a:latin typeface="Calibri" pitchFamily="34" charset="0"/>
                <a:ea typeface="Calibri" pitchFamily="34" charset="-122"/>
                <a:cs typeface="Calibri" pitchFamily="34" charset="-120"/>
              </a:rPr>
              <a:t>Inclusive learning support across backgrounds</a:t>
            </a:r>
            <a:endParaRPr lang="en-US" sz="1030" dirty="0"/>
          </a:p>
        </p:txBody>
      </p:sp>
      <p:sp>
        <p:nvSpPr>
          <p:cNvPr id="52" name="Shape 41"/>
          <p:cNvSpPr/>
          <p:nvPr/>
        </p:nvSpPr>
        <p:spPr>
          <a:xfrm>
            <a:off x="4297680" y="4617720"/>
            <a:ext cx="3511296" cy="868680"/>
          </a:xfrm>
          <a:prstGeom prst="roundRect">
            <a:avLst>
              <a:gd name="adj" fmla="val 6316"/>
            </a:avLst>
          </a:prstGeom>
          <a:solidFill>
            <a:srgbClr val="FFFFFF"/>
          </a:solidFill>
          <a:ln w="12700">
            <a:solidFill>
              <a:srgbClr val="E3E8EB"/>
            </a:solidFill>
            <a:prstDash val="solid"/>
          </a:ln>
        </p:spPr>
      </p:sp>
      <p:sp>
        <p:nvSpPr>
          <p:cNvPr id="53" name="Shape 42"/>
          <p:cNvSpPr/>
          <p:nvPr/>
        </p:nvSpPr>
        <p:spPr>
          <a:xfrm>
            <a:off x="4434840" y="4896612"/>
            <a:ext cx="310896" cy="310896"/>
          </a:xfrm>
          <a:prstGeom prst="ellipse">
            <a:avLst/>
          </a:prstGeom>
          <a:solidFill>
            <a:srgbClr val="D98E2B"/>
          </a:solidFill>
          <a:ln/>
        </p:spPr>
      </p:sp>
      <p:sp>
        <p:nvSpPr>
          <p:cNvPr id="54" name="Text 43"/>
          <p:cNvSpPr/>
          <p:nvPr/>
        </p:nvSpPr>
        <p:spPr>
          <a:xfrm>
            <a:off x="4434840" y="4896612"/>
            <a:ext cx="310896" cy="310896"/>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8</a:t>
            </a:r>
            <a:endParaRPr lang="en-US" sz="1200" dirty="0"/>
          </a:p>
        </p:txBody>
      </p:sp>
      <p:sp>
        <p:nvSpPr>
          <p:cNvPr id="55" name="Text 44"/>
          <p:cNvSpPr/>
          <p:nvPr/>
        </p:nvSpPr>
        <p:spPr>
          <a:xfrm>
            <a:off x="4864608" y="4690872"/>
            <a:ext cx="2798064" cy="722376"/>
          </a:xfrm>
          <a:prstGeom prst="rect">
            <a:avLst/>
          </a:prstGeom>
          <a:noFill/>
          <a:ln/>
        </p:spPr>
        <p:txBody>
          <a:bodyPr wrap="square" rtlCol="0" anchor="ctr"/>
          <a:lstStyle/>
          <a:p>
            <a:pPr indent="0" marL="0">
              <a:lnSpc>
                <a:spcPct val="108000"/>
              </a:lnSpc>
              <a:buNone/>
            </a:pPr>
            <a:r>
              <a:rPr lang="en-US" sz="1030" dirty="0">
                <a:solidFill>
                  <a:srgbClr val="243746"/>
                </a:solidFill>
                <a:latin typeface="Calibri" pitchFamily="34" charset="0"/>
                <a:ea typeface="Calibri" pitchFamily="34" charset="-122"/>
                <a:cs typeface="Calibri" pitchFamily="34" charset="-120"/>
              </a:rPr>
              <a:t>Evidence-based recommendations for institutions</a:t>
            </a:r>
            <a:endParaRPr lang="en-US" sz="1030" dirty="0"/>
          </a:p>
        </p:txBody>
      </p:sp>
      <p:sp>
        <p:nvSpPr>
          <p:cNvPr id="56" name="Shape 45"/>
          <p:cNvSpPr/>
          <p:nvPr/>
        </p:nvSpPr>
        <p:spPr>
          <a:xfrm>
            <a:off x="7955280" y="4617720"/>
            <a:ext cx="3511296" cy="868680"/>
          </a:xfrm>
          <a:prstGeom prst="roundRect">
            <a:avLst>
              <a:gd name="adj" fmla="val 6316"/>
            </a:avLst>
          </a:prstGeom>
          <a:solidFill>
            <a:srgbClr val="FFFFFF"/>
          </a:solidFill>
          <a:ln w="12700">
            <a:solidFill>
              <a:srgbClr val="E3E8EB"/>
            </a:solidFill>
            <a:prstDash val="solid"/>
          </a:ln>
        </p:spPr>
      </p:sp>
      <p:sp>
        <p:nvSpPr>
          <p:cNvPr id="57" name="Shape 46"/>
          <p:cNvSpPr/>
          <p:nvPr/>
        </p:nvSpPr>
        <p:spPr>
          <a:xfrm>
            <a:off x="8092440" y="4896612"/>
            <a:ext cx="310896" cy="310896"/>
          </a:xfrm>
          <a:prstGeom prst="ellipse">
            <a:avLst/>
          </a:prstGeom>
          <a:solidFill>
            <a:srgbClr val="D98E2B"/>
          </a:solidFill>
          <a:ln/>
        </p:spPr>
      </p:sp>
      <p:sp>
        <p:nvSpPr>
          <p:cNvPr id="58" name="Text 47"/>
          <p:cNvSpPr/>
          <p:nvPr/>
        </p:nvSpPr>
        <p:spPr>
          <a:xfrm>
            <a:off x="8092440" y="4896612"/>
            <a:ext cx="310896" cy="310896"/>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9</a:t>
            </a:r>
            <a:endParaRPr lang="en-US" sz="1200" dirty="0"/>
          </a:p>
        </p:txBody>
      </p:sp>
      <p:sp>
        <p:nvSpPr>
          <p:cNvPr id="59" name="Text 48"/>
          <p:cNvSpPr/>
          <p:nvPr/>
        </p:nvSpPr>
        <p:spPr>
          <a:xfrm>
            <a:off x="8522208" y="4690872"/>
            <a:ext cx="2798064" cy="722376"/>
          </a:xfrm>
          <a:prstGeom prst="rect">
            <a:avLst/>
          </a:prstGeom>
          <a:noFill/>
          <a:ln/>
        </p:spPr>
        <p:txBody>
          <a:bodyPr wrap="square" rtlCol="0" anchor="ctr"/>
          <a:lstStyle/>
          <a:p>
            <a:pPr indent="0" marL="0">
              <a:lnSpc>
                <a:spcPct val="108000"/>
              </a:lnSpc>
              <a:buNone/>
            </a:pPr>
            <a:r>
              <a:rPr lang="en-US" sz="1030" dirty="0">
                <a:solidFill>
                  <a:srgbClr val="243746"/>
                </a:solidFill>
                <a:latin typeface="Calibri" pitchFamily="34" charset="0"/>
                <a:ea typeface="Calibri" pitchFamily="34" charset="-122"/>
                <a:cs typeface="Calibri" pitchFamily="34" charset="-120"/>
              </a:rPr>
              <a:t>Stronger, continuous student support systems</a:t>
            </a:r>
            <a:endParaRPr lang="en-US" sz="1030" dirty="0"/>
          </a:p>
        </p:txBody>
      </p:sp>
      <p:sp>
        <p:nvSpPr>
          <p:cNvPr id="60" name="Text 49"/>
          <p:cNvSpPr/>
          <p:nvPr/>
        </p:nvSpPr>
        <p:spPr>
          <a:xfrm>
            <a:off x="457200" y="6519672"/>
            <a:ext cx="7315200" cy="274320"/>
          </a:xfrm>
          <a:prstGeom prst="rect">
            <a:avLst/>
          </a:prstGeom>
          <a:noFill/>
          <a:ln/>
        </p:spPr>
        <p:txBody>
          <a:bodyPr wrap="square" rtlCol="0" anchor="ctr"/>
          <a:lstStyle/>
          <a:p>
            <a:pPr algn="l" indent="0" marL="0">
              <a:buNone/>
            </a:pPr>
            <a:r>
              <a:rPr lang="en-US" sz="900" dirty="0">
                <a:solidFill>
                  <a:srgbClr val="5B6B78"/>
                </a:solidFill>
                <a:latin typeface="Calibri" pitchFamily="34" charset="0"/>
                <a:ea typeface="Calibri" pitchFamily="34" charset="-122"/>
                <a:cs typeface="Calibri" pitchFamily="34" charset="-120"/>
              </a:rPr>
              <a:t>Understanding Examination Preparation Challenges</a:t>
            </a:r>
            <a:endParaRPr lang="en-US" sz="900" dirty="0"/>
          </a:p>
        </p:txBody>
      </p:sp>
      <p:sp>
        <p:nvSpPr>
          <p:cNvPr id="61" name="Text 50"/>
          <p:cNvSpPr/>
          <p:nvPr/>
        </p:nvSpPr>
        <p:spPr>
          <a:xfrm>
            <a:off x="11277295" y="6519672"/>
            <a:ext cx="457200" cy="274320"/>
          </a:xfrm>
          <a:prstGeom prst="rect">
            <a:avLst/>
          </a:prstGeom>
          <a:noFill/>
          <a:ln/>
        </p:spPr>
        <p:txBody>
          <a:bodyPr wrap="square" rtlCol="0" anchor="ctr"/>
          <a:lstStyle/>
          <a:p>
            <a:pPr algn="r" indent="0" marL="0">
              <a:buNone/>
            </a:pPr>
            <a:r>
              <a:rPr lang="en-US" sz="900" dirty="0">
                <a:solidFill>
                  <a:srgbClr val="5B6B78"/>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B3A5C"/>
        </a:solidFill>
      </p:bgPr>
    </p:bg>
    <p:spTree>
      <p:nvGrpSpPr>
        <p:cNvPr id="1" name=""/>
        <p:cNvGrpSpPr/>
        <p:nvPr/>
      </p:nvGrpSpPr>
      <p:grpSpPr>
        <a:xfrm>
          <a:off x="0" y="0"/>
          <a:ext cx="0" cy="0"/>
          <a:chOff x="0" y="0"/>
          <a:chExt cx="0" cy="0"/>
        </a:xfrm>
      </p:grpSpPr>
      <p:sp>
        <p:nvSpPr>
          <p:cNvPr id="2" name="Shape 0"/>
          <p:cNvSpPr/>
          <p:nvPr/>
        </p:nvSpPr>
        <p:spPr>
          <a:xfrm>
            <a:off x="9326880" y="-2286000"/>
            <a:ext cx="5486400" cy="5486400"/>
          </a:xfrm>
          <a:prstGeom prst="ellipse">
            <a:avLst/>
          </a:prstGeom>
          <a:solidFill>
            <a:srgbClr val="122A44"/>
          </a:solidFill>
          <a:ln/>
        </p:spPr>
      </p:sp>
      <p:sp>
        <p:nvSpPr>
          <p:cNvPr id="3" name="Text 1"/>
          <p:cNvSpPr/>
          <p:nvPr/>
        </p:nvSpPr>
        <p:spPr>
          <a:xfrm>
            <a:off x="640080" y="502920"/>
            <a:ext cx="9144000" cy="548640"/>
          </a:xfrm>
          <a:prstGeom prst="rect">
            <a:avLst/>
          </a:prstGeom>
          <a:noFill/>
          <a:ln/>
        </p:spPr>
        <p:txBody>
          <a:bodyPr wrap="square" rtlCol="0" anchor="ctr"/>
          <a:lstStyle/>
          <a:p>
            <a:pPr indent="0" marL="0">
              <a:buNone/>
            </a:pPr>
            <a:r>
              <a:rPr lang="en-US" sz="2800" b="1" dirty="0">
                <a:solidFill>
                  <a:srgbClr val="FFFFFF"/>
                </a:solidFill>
                <a:latin typeface="Cambria" pitchFamily="34" charset="0"/>
                <a:ea typeface="Cambria" pitchFamily="34" charset="-122"/>
                <a:cs typeface="Cambria" pitchFamily="34" charset="-120"/>
              </a:rPr>
              <a:t>Learning, Contribution &amp; Conclusion</a:t>
            </a:r>
            <a:endParaRPr lang="en-US" sz="2800" dirty="0"/>
          </a:p>
        </p:txBody>
      </p:sp>
      <p:sp>
        <p:nvSpPr>
          <p:cNvPr id="4" name="Text 2"/>
          <p:cNvSpPr/>
          <p:nvPr/>
        </p:nvSpPr>
        <p:spPr>
          <a:xfrm>
            <a:off x="640080" y="1234440"/>
            <a:ext cx="5486400" cy="320040"/>
          </a:xfrm>
          <a:prstGeom prst="rect">
            <a:avLst/>
          </a:prstGeom>
          <a:noFill/>
          <a:ln/>
        </p:spPr>
        <p:txBody>
          <a:bodyPr wrap="square" rtlCol="0" anchor="ctr"/>
          <a:lstStyle/>
          <a:p>
            <a:pPr indent="0" marL="0">
              <a:buNone/>
            </a:pPr>
            <a:r>
              <a:rPr lang="en-US" sz="1300" b="1" spc="100" kern="0" dirty="0">
                <a:solidFill>
                  <a:srgbClr val="D98E2B"/>
                </a:solidFill>
                <a:latin typeface="Calibri" pitchFamily="34" charset="0"/>
                <a:ea typeface="Calibri" pitchFamily="34" charset="-122"/>
                <a:cs typeface="Calibri" pitchFamily="34" charset="-120"/>
              </a:rPr>
              <a:t>Professional &amp; Research Contribution</a:t>
            </a:r>
            <a:endParaRPr lang="en-US" sz="1300" dirty="0"/>
          </a:p>
        </p:txBody>
      </p:sp>
      <p:pic>
        <p:nvPicPr>
          <p:cNvPr id="5" name="Image 0" descr="preencoded.png">    </p:cNvPr>
          <p:cNvPicPr>
            <a:picLocks noChangeAspect="1"/>
          </p:cNvPicPr>
          <p:nvPr/>
        </p:nvPicPr>
        <p:blipFill>
          <a:blip r:embed="rId1"/>
          <a:stretch>
            <a:fillRect/>
          </a:stretch>
        </p:blipFill>
        <p:spPr>
          <a:xfrm>
            <a:off x="640080" y="1709928"/>
            <a:ext cx="237744" cy="237744"/>
          </a:xfrm>
          <a:prstGeom prst="rect">
            <a:avLst/>
          </a:prstGeom>
        </p:spPr>
      </p:pic>
      <p:sp>
        <p:nvSpPr>
          <p:cNvPr id="6" name="Text 3"/>
          <p:cNvSpPr/>
          <p:nvPr/>
        </p:nvSpPr>
        <p:spPr>
          <a:xfrm>
            <a:off x="987552" y="1655064"/>
            <a:ext cx="5486400" cy="384048"/>
          </a:xfrm>
          <a:prstGeom prst="rect">
            <a:avLst/>
          </a:prstGeom>
          <a:noFill/>
          <a:ln/>
        </p:spPr>
        <p:txBody>
          <a:bodyPr wrap="square" rtlCol="0" anchor="t"/>
          <a:lstStyle/>
          <a:p>
            <a:pPr indent="0" marL="0">
              <a:buNone/>
            </a:pPr>
            <a:r>
              <a:rPr lang="en-US" sz="1130" dirty="0">
                <a:solidFill>
                  <a:srgbClr val="E4ECF1"/>
                </a:solidFill>
                <a:latin typeface="Calibri" pitchFamily="34" charset="0"/>
                <a:ea typeface="Calibri" pitchFamily="34" charset="-122"/>
                <a:cs typeface="Calibri" pitchFamily="34" charset="-120"/>
              </a:rPr>
              <a:t>Real-world exposure to mixed-methods research methodology</a:t>
            </a:r>
            <a:endParaRPr lang="en-US" sz="1130" dirty="0"/>
          </a:p>
        </p:txBody>
      </p:sp>
      <p:pic>
        <p:nvPicPr>
          <p:cNvPr id="7" name="Image 1" descr="preencoded.png">    </p:cNvPr>
          <p:cNvPicPr>
            <a:picLocks noChangeAspect="1"/>
          </p:cNvPicPr>
          <p:nvPr/>
        </p:nvPicPr>
        <p:blipFill>
          <a:blip r:embed="rId2"/>
          <a:stretch>
            <a:fillRect/>
          </a:stretch>
        </p:blipFill>
        <p:spPr>
          <a:xfrm>
            <a:off x="640080" y="2167128"/>
            <a:ext cx="237744" cy="237744"/>
          </a:xfrm>
          <a:prstGeom prst="rect">
            <a:avLst/>
          </a:prstGeom>
        </p:spPr>
      </p:pic>
      <p:sp>
        <p:nvSpPr>
          <p:cNvPr id="8" name="Text 4"/>
          <p:cNvSpPr/>
          <p:nvPr/>
        </p:nvSpPr>
        <p:spPr>
          <a:xfrm>
            <a:off x="987552" y="2112264"/>
            <a:ext cx="5486400" cy="384048"/>
          </a:xfrm>
          <a:prstGeom prst="rect">
            <a:avLst/>
          </a:prstGeom>
          <a:noFill/>
          <a:ln/>
        </p:spPr>
        <p:txBody>
          <a:bodyPr wrap="square" rtlCol="0" anchor="t"/>
          <a:lstStyle/>
          <a:p>
            <a:pPr indent="0" marL="0">
              <a:buNone/>
            </a:pPr>
            <a:r>
              <a:rPr lang="en-US" sz="1130" dirty="0">
                <a:solidFill>
                  <a:srgbClr val="E4ECF1"/>
                </a:solidFill>
                <a:latin typeface="Calibri" pitchFamily="34" charset="0"/>
                <a:ea typeface="Calibri" pitchFamily="34" charset="-122"/>
                <a:cs typeface="Calibri" pitchFamily="34" charset="-120"/>
              </a:rPr>
              <a:t>Working with structured (quantitative) and qualitative data</a:t>
            </a:r>
            <a:endParaRPr lang="en-US" sz="1130" dirty="0"/>
          </a:p>
        </p:txBody>
      </p:sp>
      <p:pic>
        <p:nvPicPr>
          <p:cNvPr id="9" name="Image 2" descr="preencoded.png">    </p:cNvPr>
          <p:cNvPicPr>
            <a:picLocks noChangeAspect="1"/>
          </p:cNvPicPr>
          <p:nvPr/>
        </p:nvPicPr>
        <p:blipFill>
          <a:blip r:embed="rId3"/>
          <a:stretch>
            <a:fillRect/>
          </a:stretch>
        </p:blipFill>
        <p:spPr>
          <a:xfrm>
            <a:off x="640080" y="2624328"/>
            <a:ext cx="237744" cy="237744"/>
          </a:xfrm>
          <a:prstGeom prst="rect">
            <a:avLst/>
          </a:prstGeom>
        </p:spPr>
      </p:pic>
      <p:sp>
        <p:nvSpPr>
          <p:cNvPr id="10" name="Text 5"/>
          <p:cNvSpPr/>
          <p:nvPr/>
        </p:nvSpPr>
        <p:spPr>
          <a:xfrm>
            <a:off x="987552" y="2569464"/>
            <a:ext cx="5486400" cy="384048"/>
          </a:xfrm>
          <a:prstGeom prst="rect">
            <a:avLst/>
          </a:prstGeom>
          <a:noFill/>
          <a:ln/>
        </p:spPr>
        <p:txBody>
          <a:bodyPr wrap="square" rtlCol="0" anchor="t"/>
          <a:lstStyle/>
          <a:p>
            <a:pPr indent="0" marL="0">
              <a:buNone/>
            </a:pPr>
            <a:r>
              <a:rPr lang="en-US" sz="1130" dirty="0">
                <a:solidFill>
                  <a:srgbClr val="E4ECF1"/>
                </a:solidFill>
                <a:latin typeface="Calibri" pitchFamily="34" charset="0"/>
                <a:ea typeface="Calibri" pitchFamily="34" charset="-122"/>
                <a:cs typeface="Calibri" pitchFamily="34" charset="-120"/>
              </a:rPr>
              <a:t>Questionnaire design and field data collection</a:t>
            </a:r>
            <a:endParaRPr lang="en-US" sz="1130" dirty="0"/>
          </a:p>
        </p:txBody>
      </p:sp>
      <p:pic>
        <p:nvPicPr>
          <p:cNvPr id="11" name="Image 3" descr="preencoded.png">    </p:cNvPr>
          <p:cNvPicPr>
            <a:picLocks noChangeAspect="1"/>
          </p:cNvPicPr>
          <p:nvPr/>
        </p:nvPicPr>
        <p:blipFill>
          <a:blip r:embed="rId4"/>
          <a:stretch>
            <a:fillRect/>
          </a:stretch>
        </p:blipFill>
        <p:spPr>
          <a:xfrm>
            <a:off x="640080" y="3081528"/>
            <a:ext cx="237744" cy="237744"/>
          </a:xfrm>
          <a:prstGeom prst="rect">
            <a:avLst/>
          </a:prstGeom>
        </p:spPr>
      </p:pic>
      <p:sp>
        <p:nvSpPr>
          <p:cNvPr id="12" name="Text 6"/>
          <p:cNvSpPr/>
          <p:nvPr/>
        </p:nvSpPr>
        <p:spPr>
          <a:xfrm>
            <a:off x="987552" y="3026664"/>
            <a:ext cx="5486400" cy="384048"/>
          </a:xfrm>
          <a:prstGeom prst="rect">
            <a:avLst/>
          </a:prstGeom>
          <a:noFill/>
          <a:ln/>
        </p:spPr>
        <p:txBody>
          <a:bodyPr wrap="square" rtlCol="0" anchor="t"/>
          <a:lstStyle/>
          <a:p>
            <a:pPr indent="0" marL="0">
              <a:buNone/>
            </a:pPr>
            <a:r>
              <a:rPr lang="en-US" sz="1130" dirty="0">
                <a:solidFill>
                  <a:srgbClr val="E4ECF1"/>
                </a:solidFill>
                <a:latin typeface="Calibri" pitchFamily="34" charset="0"/>
                <a:ea typeface="Calibri" pitchFamily="34" charset="-122"/>
                <a:cs typeface="Calibri" pitchFamily="34" charset="-120"/>
              </a:rPr>
              <a:t>Data organization, cleaning and Power BI visualization</a:t>
            </a:r>
            <a:endParaRPr lang="en-US" sz="1130" dirty="0"/>
          </a:p>
        </p:txBody>
      </p:sp>
      <p:pic>
        <p:nvPicPr>
          <p:cNvPr id="13" name="Image 4" descr="preencoded.png">    </p:cNvPr>
          <p:cNvPicPr>
            <a:picLocks noChangeAspect="1"/>
          </p:cNvPicPr>
          <p:nvPr/>
        </p:nvPicPr>
        <p:blipFill>
          <a:blip r:embed="rId5"/>
          <a:stretch>
            <a:fillRect/>
          </a:stretch>
        </p:blipFill>
        <p:spPr>
          <a:xfrm>
            <a:off x="640080" y="3538728"/>
            <a:ext cx="237744" cy="237744"/>
          </a:xfrm>
          <a:prstGeom prst="rect">
            <a:avLst/>
          </a:prstGeom>
        </p:spPr>
      </p:pic>
      <p:sp>
        <p:nvSpPr>
          <p:cNvPr id="14" name="Text 7"/>
          <p:cNvSpPr/>
          <p:nvPr/>
        </p:nvSpPr>
        <p:spPr>
          <a:xfrm>
            <a:off x="987552" y="3483864"/>
            <a:ext cx="5486400" cy="384048"/>
          </a:xfrm>
          <a:prstGeom prst="rect">
            <a:avLst/>
          </a:prstGeom>
          <a:noFill/>
          <a:ln/>
        </p:spPr>
        <p:txBody>
          <a:bodyPr wrap="square" rtlCol="0" anchor="t"/>
          <a:lstStyle/>
          <a:p>
            <a:pPr indent="0" marL="0">
              <a:buNone/>
            </a:pPr>
            <a:r>
              <a:rPr lang="en-US" sz="1130" dirty="0">
                <a:solidFill>
                  <a:srgbClr val="E4ECF1"/>
                </a:solidFill>
                <a:latin typeface="Calibri" pitchFamily="34" charset="0"/>
                <a:ea typeface="Calibri" pitchFamily="34" charset="-122"/>
                <a:cs typeface="Calibri" pitchFamily="34" charset="-120"/>
              </a:rPr>
              <a:t>Deeper understanding of student examination challenges</a:t>
            </a:r>
            <a:endParaRPr lang="en-US" sz="1130" dirty="0"/>
          </a:p>
        </p:txBody>
      </p:sp>
      <p:pic>
        <p:nvPicPr>
          <p:cNvPr id="15" name="Image 5" descr="preencoded.png">    </p:cNvPr>
          <p:cNvPicPr>
            <a:picLocks noChangeAspect="1"/>
          </p:cNvPicPr>
          <p:nvPr/>
        </p:nvPicPr>
        <p:blipFill>
          <a:blip r:embed="rId6"/>
          <a:stretch>
            <a:fillRect/>
          </a:stretch>
        </p:blipFill>
        <p:spPr>
          <a:xfrm>
            <a:off x="640080" y="3995928"/>
            <a:ext cx="237744" cy="237744"/>
          </a:xfrm>
          <a:prstGeom prst="rect">
            <a:avLst/>
          </a:prstGeom>
        </p:spPr>
      </p:pic>
      <p:sp>
        <p:nvSpPr>
          <p:cNvPr id="16" name="Text 8"/>
          <p:cNvSpPr/>
          <p:nvPr/>
        </p:nvSpPr>
        <p:spPr>
          <a:xfrm>
            <a:off x="987552" y="3941064"/>
            <a:ext cx="5486400" cy="384048"/>
          </a:xfrm>
          <a:prstGeom prst="rect">
            <a:avLst/>
          </a:prstGeom>
          <a:noFill/>
          <a:ln/>
        </p:spPr>
        <p:txBody>
          <a:bodyPr wrap="square" rtlCol="0" anchor="t"/>
          <a:lstStyle/>
          <a:p>
            <a:pPr indent="0" marL="0">
              <a:buNone/>
            </a:pPr>
            <a:r>
              <a:rPr lang="en-US" sz="1130" dirty="0">
                <a:solidFill>
                  <a:srgbClr val="E4ECF1"/>
                </a:solidFill>
                <a:latin typeface="Calibri" pitchFamily="34" charset="0"/>
                <a:ea typeface="Calibri" pitchFamily="34" charset="-122"/>
                <a:cs typeface="Calibri" pitchFamily="34" charset="-120"/>
              </a:rPr>
              <a:t>Practice in ethical, consent-based data handling</a:t>
            </a:r>
            <a:endParaRPr lang="en-US" sz="1130" dirty="0"/>
          </a:p>
        </p:txBody>
      </p:sp>
      <p:pic>
        <p:nvPicPr>
          <p:cNvPr id="17" name="Image 6" descr="preencoded.png">    </p:cNvPr>
          <p:cNvPicPr>
            <a:picLocks noChangeAspect="1"/>
          </p:cNvPicPr>
          <p:nvPr/>
        </p:nvPicPr>
        <p:blipFill>
          <a:blip r:embed="rId7"/>
          <a:stretch>
            <a:fillRect/>
          </a:stretch>
        </p:blipFill>
        <p:spPr>
          <a:xfrm>
            <a:off x="640080" y="4453128"/>
            <a:ext cx="237744" cy="237744"/>
          </a:xfrm>
          <a:prstGeom prst="rect">
            <a:avLst/>
          </a:prstGeom>
        </p:spPr>
      </p:pic>
      <p:sp>
        <p:nvSpPr>
          <p:cNvPr id="18" name="Text 9"/>
          <p:cNvSpPr/>
          <p:nvPr/>
        </p:nvSpPr>
        <p:spPr>
          <a:xfrm>
            <a:off x="987552" y="4398264"/>
            <a:ext cx="5486400" cy="384048"/>
          </a:xfrm>
          <a:prstGeom prst="rect">
            <a:avLst/>
          </a:prstGeom>
          <a:noFill/>
          <a:ln/>
        </p:spPr>
        <p:txBody>
          <a:bodyPr wrap="square" rtlCol="0" anchor="t"/>
          <a:lstStyle/>
          <a:p>
            <a:pPr indent="0" marL="0">
              <a:buNone/>
            </a:pPr>
            <a:r>
              <a:rPr lang="en-US" sz="1130" dirty="0">
                <a:solidFill>
                  <a:srgbClr val="E4ECF1"/>
                </a:solidFill>
                <a:latin typeface="Calibri" pitchFamily="34" charset="0"/>
                <a:ea typeface="Calibri" pitchFamily="34" charset="-122"/>
                <a:cs typeface="Calibri" pitchFamily="34" charset="-120"/>
              </a:rPr>
              <a:t>Translating research findings into practical recommendations</a:t>
            </a:r>
            <a:endParaRPr lang="en-US" sz="1130" dirty="0"/>
          </a:p>
        </p:txBody>
      </p:sp>
      <p:sp>
        <p:nvSpPr>
          <p:cNvPr id="19" name="Shape 10"/>
          <p:cNvSpPr/>
          <p:nvPr/>
        </p:nvSpPr>
        <p:spPr>
          <a:xfrm>
            <a:off x="6720840" y="1234440"/>
            <a:ext cx="4800600" cy="3520440"/>
          </a:xfrm>
          <a:prstGeom prst="roundRect">
            <a:avLst>
              <a:gd name="adj" fmla="val 2078"/>
            </a:avLst>
          </a:prstGeom>
          <a:solidFill>
            <a:srgbClr val="1C7F82"/>
          </a:solidFill>
          <a:ln/>
        </p:spPr>
      </p:sp>
      <p:sp>
        <p:nvSpPr>
          <p:cNvPr id="20" name="Text 11"/>
          <p:cNvSpPr/>
          <p:nvPr/>
        </p:nvSpPr>
        <p:spPr>
          <a:xfrm>
            <a:off x="7040880" y="1508760"/>
            <a:ext cx="4160520" cy="320040"/>
          </a:xfrm>
          <a:prstGeom prst="rect">
            <a:avLst/>
          </a:prstGeom>
          <a:noFill/>
          <a:ln/>
        </p:spPr>
        <p:txBody>
          <a:bodyPr wrap="square" rtlCol="0" anchor="ctr"/>
          <a:lstStyle/>
          <a:p>
            <a:pPr indent="0" marL="0">
              <a:buNone/>
            </a:pPr>
            <a:r>
              <a:rPr lang="en-US" sz="1250" b="1" spc="200" kern="0" dirty="0">
                <a:solidFill>
                  <a:srgbClr val="FFFFFF"/>
                </a:solidFill>
                <a:latin typeface="Calibri" pitchFamily="34" charset="0"/>
                <a:ea typeface="Calibri" pitchFamily="34" charset="-122"/>
                <a:cs typeface="Calibri" pitchFamily="34" charset="-120"/>
              </a:rPr>
              <a:t>CONCLUSION</a:t>
            </a:r>
            <a:endParaRPr lang="en-US" sz="1250" dirty="0"/>
          </a:p>
        </p:txBody>
      </p:sp>
      <p:sp>
        <p:nvSpPr>
          <p:cNvPr id="21" name="Text 12"/>
          <p:cNvSpPr/>
          <p:nvPr/>
        </p:nvSpPr>
        <p:spPr>
          <a:xfrm>
            <a:off x="7040880" y="1920240"/>
            <a:ext cx="4160520" cy="1280160"/>
          </a:xfrm>
          <a:prstGeom prst="rect">
            <a:avLst/>
          </a:prstGeom>
          <a:noFill/>
          <a:ln/>
        </p:spPr>
        <p:txBody>
          <a:bodyPr wrap="square" rtlCol="0" anchor="ctr"/>
          <a:lstStyle/>
          <a:p>
            <a:pPr indent="0" marL="0">
              <a:lnSpc>
                <a:spcPct val="120000"/>
              </a:lnSpc>
              <a:buNone/>
            </a:pPr>
            <a:r>
              <a:rPr lang="en-US" sz="1250" dirty="0">
                <a:solidFill>
                  <a:srgbClr val="FFFFFF"/>
                </a:solidFill>
                <a:latin typeface="Calibri" pitchFamily="34" charset="0"/>
                <a:ea typeface="Calibri" pitchFamily="34" charset="-122"/>
                <a:cs typeface="Calibri" pitchFamily="34" charset="-120"/>
              </a:rPr>
              <a:t>This project aims to support the Under The Tree initiative by generating a systematic, evidence-based understanding of the examination-preparation challenges faced by students — particularly those from underserved communities.</a:t>
            </a:r>
            <a:endParaRPr lang="en-US" sz="1250" dirty="0"/>
          </a:p>
        </p:txBody>
      </p:sp>
      <p:sp>
        <p:nvSpPr>
          <p:cNvPr id="22" name="Text 13"/>
          <p:cNvSpPr/>
          <p:nvPr/>
        </p:nvSpPr>
        <p:spPr>
          <a:xfrm>
            <a:off x="7040880" y="3337560"/>
            <a:ext cx="4160520" cy="1280160"/>
          </a:xfrm>
          <a:prstGeom prst="rect">
            <a:avLst/>
          </a:prstGeom>
          <a:noFill/>
          <a:ln/>
        </p:spPr>
        <p:txBody>
          <a:bodyPr wrap="square" rtlCol="0" anchor="ctr"/>
          <a:lstStyle/>
          <a:p>
            <a:pPr indent="0" marL="0">
              <a:lnSpc>
                <a:spcPct val="120000"/>
              </a:lnSpc>
              <a:buNone/>
            </a:pPr>
            <a:r>
              <a:rPr lang="en-US" sz="1150" i="1" dirty="0">
                <a:solidFill>
                  <a:srgbClr val="DDF2F0"/>
                </a:solidFill>
                <a:latin typeface="Calibri" pitchFamily="34" charset="0"/>
                <a:ea typeface="Calibri" pitchFamily="34" charset="-122"/>
                <a:cs typeface="Calibri" pitchFamily="34" charset="-120"/>
              </a:rPr>
              <a:t>The findings are intended to translate directly into targeted, community-rooted recommendations for students, educators, parents and policymakers — in line with the Foundation’s tree-shade philosophy of accessible, grounded support.</a:t>
            </a:r>
            <a:endParaRPr lang="en-US" sz="1150" dirty="0"/>
          </a:p>
        </p:txBody>
      </p:sp>
      <p:sp>
        <p:nvSpPr>
          <p:cNvPr id="23" name="Shape 14"/>
          <p:cNvSpPr/>
          <p:nvPr/>
        </p:nvSpPr>
        <p:spPr>
          <a:xfrm>
            <a:off x="0" y="5806440"/>
            <a:ext cx="12191695" cy="1051560"/>
          </a:xfrm>
          <a:prstGeom prst="rect">
            <a:avLst/>
          </a:prstGeom>
          <a:solidFill>
            <a:srgbClr val="122A44"/>
          </a:solidFill>
          <a:ln/>
        </p:spPr>
      </p:sp>
      <p:sp>
        <p:nvSpPr>
          <p:cNvPr id="24" name="Text 15"/>
          <p:cNvSpPr/>
          <p:nvPr/>
        </p:nvSpPr>
        <p:spPr>
          <a:xfrm>
            <a:off x="640080" y="5870448"/>
            <a:ext cx="5486400" cy="502920"/>
          </a:xfrm>
          <a:prstGeom prst="rect">
            <a:avLst/>
          </a:prstGeom>
          <a:noFill/>
          <a:ln/>
        </p:spPr>
        <p:txBody>
          <a:bodyPr wrap="square" rtlCol="0" anchor="ctr"/>
          <a:lstStyle/>
          <a:p>
            <a:pPr indent="0" marL="0">
              <a:buNone/>
            </a:pPr>
            <a:r>
              <a:rPr lang="en-US" sz="2600" b="1" dirty="0">
                <a:solidFill>
                  <a:srgbClr val="FFFFFF"/>
                </a:solidFill>
                <a:latin typeface="Cambria" pitchFamily="34" charset="0"/>
                <a:ea typeface="Cambria" pitchFamily="34" charset="-122"/>
                <a:cs typeface="Cambria" pitchFamily="34" charset="-120"/>
              </a:rPr>
              <a:t>Thank You</a:t>
            </a:r>
            <a:endParaRPr lang="en-US" sz="2600" dirty="0"/>
          </a:p>
        </p:txBody>
      </p:sp>
      <p:sp>
        <p:nvSpPr>
          <p:cNvPr id="25" name="Text 16"/>
          <p:cNvSpPr/>
          <p:nvPr/>
        </p:nvSpPr>
        <p:spPr>
          <a:xfrm>
            <a:off x="640080" y="6327648"/>
            <a:ext cx="5486400" cy="365760"/>
          </a:xfrm>
          <a:prstGeom prst="rect">
            <a:avLst/>
          </a:prstGeom>
          <a:noFill/>
          <a:ln/>
        </p:spPr>
        <p:txBody>
          <a:bodyPr wrap="square" rtlCol="0" anchor="ctr"/>
          <a:lstStyle/>
          <a:p>
            <a:pPr indent="0" marL="0">
              <a:buNone/>
            </a:pPr>
            <a:r>
              <a:rPr lang="en-US" sz="1300" i="1" dirty="0">
                <a:solidFill>
                  <a:srgbClr val="B9C9D6"/>
                </a:solidFill>
                <a:latin typeface="Calibri" pitchFamily="34" charset="0"/>
                <a:ea typeface="Calibri" pitchFamily="34" charset="-122"/>
                <a:cs typeface="Calibri" pitchFamily="34" charset="-120"/>
              </a:rPr>
              <a:t>Questions &amp; Discussion</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2026-08-25T01:52:43Z</dcterms:created>
  <dcterms:modified xsi:type="dcterms:W3CDTF">2026-08-25T01:52:43Z</dcterms:modified>
</cp:coreProperties>
</file>